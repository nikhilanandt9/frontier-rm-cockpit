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3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A72FA-AD66-4492-A460-A8199EC43810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DC375-950F-46D7-9383-39A13B4A7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98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Open with the question on screen. Pause after 'one intelligent system.' Explain that this is a day-in-the-life story, not a technology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669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Describe the swivel-chair problem. Avoid naming specific legacy systems. Transition: 'What if the context arrived already understood?'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198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this as the architecture promise in business language. Stress that AI does not replace the RM or remove mandatory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51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Preview the live demo route. Tell the audience you will use Daniel Lim as the primary client and return to Operations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01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Switch from the deck to the live cockpit after this slide. Use the narration script for the detailed click path. Return to the deck for the architecture placeholders if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810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this slide if the audience asks what AI actually produces. Explain that later stages are deliberately locked until prior artifacts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527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Screenshot options: Fabric workspace item list, Lakehouse tables, or medallion notebook. State that the web cockpit serves a validated checked-in snapshot rather than querying Fabric on every page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749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Explain that direct DAX is authoritative for monetary values and hidden identifiers. Avoid claiming that all cockpit metrics are live report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475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Be explicit: the ontology definition is deployed and validated, but detailed graph routing is currently disabled because the generated graph model is not query-ready.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630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Say 'authored fictional Outlook-style correspondence' and 'SharePoint-style document.' Do not imply Graph, mailbox or tenant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995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Explain OBO/delegated access for the Fabric Data Agent. Customer Intelligence is the only Foundry agent with the Fabric tool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37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the revision-requested run to show that withheld consent evidence changes the verifier outcome. Distinguish service health, synthetic telemetry and captured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855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Walk left to right. Explain that authored M365-style sources are demonstration context, Fabric is governed data, and the cockpit does not expose private chain-of-thought.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225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this slide to answer risk and compliance questions. The demo uses fictional clients and products, but the controls represent real design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474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Bring the discussion back to the RM and client outcome. Avoid claiming measured productivity benefits unless separately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580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Close by restating the answer in business terms. Invite discussion on which RM journeys and evidence sources should be prioritized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DC375-950F-46D7-9383-39A13B4A732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60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CB827-DEDD-DDD7-A061-EDE6BD934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53976-D5A2-11B4-9310-2403F4586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CBE0F-E919-E4A9-1EDC-E69C1BA13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1F04D-F6ED-5A8F-BCE8-ADAF1A24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C027C-8CE9-1E1D-5E15-E935100D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8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A15E1-7D59-D42D-DECF-E3FADE186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648C4-34DB-94C2-9721-08E63B81C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6A4D9-FCC6-C746-DA6B-B014B3B2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E1B29-B90E-2A66-980D-ED33C24D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C7239-6495-11BB-7A51-DDF45ECC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2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D56C6-A2B2-966C-B534-B62B53C5F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BE636-9E2E-B334-1027-CCAEC0B7C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27112-1C04-D05D-F4EF-BDA2CA2F2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AE4F2-41D9-8F27-9978-8D0FA679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95040-50A3-3E98-3474-60B987A6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18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DC3-6C0C-5B2A-0436-484355B4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8F5C8-AC0B-A01F-2C8B-E00932D74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FB930-DE38-8FDB-7CD7-38CBEED72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72525-B910-74D3-58D0-067AB5DD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ACAC6-8FE2-1E97-BCF6-2E889566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26028-DAEA-7464-8414-8074C087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42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36FB2-F6F4-D6F6-D18F-173B76CD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EBC83-A6FC-9FE7-9E1D-A16904E8C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1BB69-D974-7DA1-E1CE-6F972AB3B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07157-05CF-DC3B-879F-6AA7B5491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FD803-DA2F-CAF4-EEF5-5F4788372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4A7E5-1660-67BA-E795-CD604144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81C79B-BEAD-B72D-3335-18F56BD2C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8DABF4-EC4C-E516-E9DF-DE9C93729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10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9FFC-53F6-ACE7-507F-2D80EB429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8B17D-1CA3-6BC9-07C0-EA39156D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731D7-049F-7C7E-5C08-545109F1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E2C0C-6659-A3D0-499A-40E90C458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86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933070-6EA6-9AE5-57B9-F87AA070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4A139-5D8D-264D-EE8F-9FD46086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605DA-F574-A83C-943F-12EDC683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334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D718-7E5B-7EA7-5810-362EE5A5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8F61E-E68F-6C09-524D-98152E1D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CC4A5-FAD6-FAA5-8D04-86F87CDE6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FBBAA-C72C-3EDC-A2CD-CA9805452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6B686-B953-3B90-732B-554F39EA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E855C-08FE-4D24-FBE6-D9489756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343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A5FB-D623-0C13-418E-A748CB3EF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24019-311F-0D1A-AE82-A2E43B202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BEA63-35A1-7048-8229-D613A5787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80C2D-AFA6-2E13-4770-756561E2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E1028-98A9-0A22-6152-869861BA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DC630-8F77-206F-AF3B-59A3C32D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37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96B79-ED1A-96C8-2902-878B0881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E78C0-900B-D9CF-4A58-563AA315C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CD44C-C17A-2943-5F40-5A3F27F1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C2506-114C-E4BC-3EC9-0A443AB5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0CA53-7210-0BA2-4024-BCDE83FF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79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5EFB22-72BA-9E4E-AE82-471A600C1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37F73F-1351-CD52-BAFA-07FA6FC74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D53EB-FCFD-01B4-97A4-6701B96D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63FA4-3098-FE25-7E95-87ED18D0F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DBCF-593B-FBA4-9DB5-35B606A2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2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4F4C5-27B0-EBC6-8E2F-70F300F5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02CE7-132A-72B2-E813-B4C09C734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184DD-2C52-C31D-943B-3A72E5D16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71FBE-5878-49F4-9236-D1CBFD8670E7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D8990-3DB9-56EC-1A49-07EDE3001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6335E-6682-34CB-3C24-CDA690CBD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888D1-4B60-46B6-AC20-5C45AB898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88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89A3D6-9F76-8215-FD24-26D1E04E1C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0805A1-981C-54B8-86BD-E92C1DE68C17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A08076-F7C8-482C-1711-AE0D695110A5}"/>
              </a:ext>
            </a:extLst>
          </p:cNvPr>
          <p:cNvCxnSpPr/>
          <p:nvPr/>
        </p:nvCxnSpPr>
        <p:spPr>
          <a:xfrm>
            <a:off x="609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7220B0-3D62-EF11-B34F-7425220BCBA6}"/>
              </a:ext>
            </a:extLst>
          </p:cNvPr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E41AA3-F665-A3DF-F2BE-558E09B14209}"/>
              </a:ext>
            </a:extLst>
          </p:cNvPr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EBA6B5-2E60-A43D-DDEF-479B0331BE8B}"/>
              </a:ext>
            </a:extLst>
          </p:cNvPr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FFF5-08E2-AB45-A4C8-C87CED857332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DB2920-E62A-2297-674F-8A5279BF91DE}"/>
              </a:ext>
            </a:extLst>
          </p:cNvPr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291A79-3127-FB6D-60F7-FE5555FEA3D9}"/>
              </a:ext>
            </a:extLst>
          </p:cNvPr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E1AD98-EBA2-76AF-47C5-CD01D7F816E2}"/>
              </a:ext>
            </a:extLst>
          </p:cNvPr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8F90E1-FA17-AFFF-3842-E3F1B1C814A1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43E168-A2EB-B4FB-743E-4E82CE5B41BD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5FA8F1-FBC2-A176-07CD-65F50398071A}"/>
              </a:ext>
            </a:extLst>
          </p:cNvPr>
          <p:cNvCxnSpPr/>
          <p:nvPr/>
        </p:nvCxnSpPr>
        <p:spPr>
          <a:xfrm>
            <a:off x="6705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3A60FB-C61F-178D-3D4B-B207EC9512C4}"/>
              </a:ext>
            </a:extLst>
          </p:cNvPr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A07FCE-EC44-D645-5788-5DE2633154E9}"/>
              </a:ext>
            </a:extLst>
          </p:cNvPr>
          <p:cNvCxnSpPr/>
          <p:nvPr/>
        </p:nvCxnSpPr>
        <p:spPr>
          <a:xfrm>
            <a:off x="7924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A7C58F-10B2-C8CB-5576-45138718848B}"/>
              </a:ext>
            </a:extLst>
          </p:cNvPr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18478BA-4269-CF67-D847-DE2ECA2BFF99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13162C-8C84-58FB-47D7-9A1A1C0A56E8}"/>
              </a:ext>
            </a:extLst>
          </p:cNvPr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45EB76-8E72-B143-AFFC-2BEECF23B121}"/>
              </a:ext>
            </a:extLst>
          </p:cNvPr>
          <p:cNvCxnSpPr/>
          <p:nvPr/>
        </p:nvCxnSpPr>
        <p:spPr>
          <a:xfrm>
            <a:off x="10363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84BA76-2234-2A28-303D-E0182E38B609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6A8D38-E2F5-D2EF-0E58-3C22C5B166F3}"/>
              </a:ext>
            </a:extLst>
          </p:cNvPr>
          <p:cNvCxnSpPr/>
          <p:nvPr/>
        </p:nvCxnSpPr>
        <p:spPr>
          <a:xfrm>
            <a:off x="11582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A36714-8363-45CE-937B-F1A61519B4F2}"/>
              </a:ext>
            </a:extLst>
          </p:cNvPr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4F11D6-57D6-AF92-0670-41D7D8EB3AF2}"/>
              </a:ext>
            </a:extLst>
          </p:cNvPr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753610-AD9D-FC77-0F5E-5B2962506878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2FD450-7106-D9AB-CFF9-9F3B818660F6}"/>
              </a:ext>
            </a:extLst>
          </p:cNvPr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50AD77-535B-530D-4DB4-72ED438FE190}"/>
              </a:ext>
            </a:extLst>
          </p:cNvPr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B97B05-F9EE-8F42-80EB-80C8AE2E0EF4}"/>
              </a:ext>
            </a:extLst>
          </p:cNvPr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2104BE-5EFD-74B1-ECA7-5B818E375CEB}"/>
              </a:ext>
            </a:extLst>
          </p:cNvPr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7093E02-50CB-019E-095C-AB5108A80497}"/>
              </a:ext>
            </a:extLst>
          </p:cNvPr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A490ED-146D-3C1A-E79A-FFDAD06A25B5}"/>
              </a:ext>
            </a:extLst>
          </p:cNvPr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58D7DD4-1E6C-BA4B-3EFE-D42741083F31}"/>
              </a:ext>
            </a:extLst>
          </p:cNvPr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7C6DB3-49F4-39AE-A85E-53EF82C34FE5}"/>
              </a:ext>
            </a:extLst>
          </p:cNvPr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BC1794-FA0C-2F28-8AC9-15780CECE8C4}"/>
              </a:ext>
            </a:extLst>
          </p:cNvPr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4B0290-BD4C-9621-B341-DF3345047DF9}"/>
              </a:ext>
            </a:extLst>
          </p:cNvPr>
          <p:cNvCxnSpPr/>
          <p:nvPr/>
        </p:nvCxnSpPr>
        <p:spPr>
          <a:xfrm>
            <a:off x="0" y="67056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7507FBB0-180F-792F-0FEB-68803DF28CA1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66AC820-9E57-1E73-529E-505821592839}"/>
              </a:ext>
            </a:extLst>
          </p:cNvPr>
          <p:cNvSpPr/>
          <p:nvPr/>
        </p:nvSpPr>
        <p:spPr>
          <a:xfrm>
            <a:off x="787400" y="736600"/>
            <a:ext cx="2336800" cy="304800"/>
          </a:xfrm>
          <a:prstGeom prst="round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77A571-909B-CF9F-BE55-E3E8CFAA5E3A}"/>
              </a:ext>
            </a:extLst>
          </p:cNvPr>
          <p:cNvSpPr txBox="1"/>
          <p:nvPr/>
        </p:nvSpPr>
        <p:spPr>
          <a:xfrm>
            <a:off x="876300" y="800100"/>
            <a:ext cx="215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EXECUTIVE BRIEFING CENTRE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A2C2FE-A067-0552-5F2F-013E37BDBCB1}"/>
              </a:ext>
            </a:extLst>
          </p:cNvPr>
          <p:cNvSpPr txBox="1"/>
          <p:nvPr/>
        </p:nvSpPr>
        <p:spPr>
          <a:xfrm>
            <a:off x="787400" y="1587500"/>
            <a:ext cx="10287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ptos Display" panose="020B0004020202020204" pitchFamily="34" charset="0"/>
              </a:rPr>
              <a:t>What would a day in the life of a Relationship Manager look like…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D6F056-8AF6-C57F-89D6-4736F23A2C8B}"/>
              </a:ext>
            </a:extLst>
          </p:cNvPr>
          <p:cNvSpPr txBox="1"/>
          <p:nvPr/>
        </p:nvSpPr>
        <p:spPr>
          <a:xfrm>
            <a:off x="787400" y="3022600"/>
            <a:ext cx="9906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400" b="1">
                <a:solidFill>
                  <a:srgbClr val="FF7188"/>
                </a:solidFill>
                <a:latin typeface="Aptos Display" panose="020B0004020202020204" pitchFamily="34" charset="0"/>
              </a:rPr>
              <a:t>…if bank data, knowledge, applications and AI capabilities worked together as one intelligent system?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40D18A-2F26-3435-C047-249EFE3DA165}"/>
              </a:ext>
            </a:extLst>
          </p:cNvPr>
          <p:cNvSpPr txBox="1"/>
          <p:nvPr/>
        </p:nvSpPr>
        <p:spPr>
          <a:xfrm>
            <a:off x="787400" y="51562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FRONTIER RM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CFCEB9-2D8F-03A1-7DF2-164172AFDBFE}"/>
              </a:ext>
            </a:extLst>
          </p:cNvPr>
          <p:cNvSpPr txBox="1"/>
          <p:nvPr/>
        </p:nvSpPr>
        <p:spPr>
          <a:xfrm>
            <a:off x="787400" y="5524500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>
                <a:solidFill>
                  <a:srgbClr val="C6C2C9"/>
                </a:solidFill>
                <a:latin typeface="Aptos" panose="020B0004020202020204" pitchFamily="34" charset="0"/>
              </a:rPr>
              <a:t>A governed, human-controlled relationship workspace</a:t>
            </a:r>
          </a:p>
        </p:txBody>
      </p:sp>
    </p:spTree>
    <p:extLst>
      <p:ext uri="{BB962C8B-B14F-4D97-AF65-F5344CB8AC3E}">
        <p14:creationId xmlns:p14="http://schemas.microsoft.com/office/powerpoint/2010/main" val="1954727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F5BC0-98B4-8B15-876F-0F60470660BB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THE CURRENT REALITY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D3AF7-CD76-FC19-C9EA-FEE9544C037F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The RM spends the day assembling 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87505-A5A9-E708-84D9-8B76F22CD18E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Signals exist across systems, but the work of connecting them still falls to the relationship manager.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FFCDBD-5213-631C-F958-CF705D901DC5}"/>
              </a:ext>
            </a:extLst>
          </p:cNvPr>
          <p:cNvSpPr/>
          <p:nvPr/>
        </p:nvSpPr>
        <p:spPr>
          <a:xfrm>
            <a:off x="685800" y="2222500"/>
            <a:ext cx="2476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83292-FDA7-0B93-8247-5199E7287A1E}"/>
              </a:ext>
            </a:extLst>
          </p:cNvPr>
          <p:cNvSpPr txBox="1"/>
          <p:nvPr/>
        </p:nvSpPr>
        <p:spPr>
          <a:xfrm>
            <a:off x="889000" y="2413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B00020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CD81C2-2EA9-B5DF-FB0A-F5CD0133E54D}"/>
              </a:ext>
            </a:extLst>
          </p:cNvPr>
          <p:cNvSpPr txBox="1"/>
          <p:nvPr/>
        </p:nvSpPr>
        <p:spPr>
          <a:xfrm>
            <a:off x="889000" y="2844800"/>
            <a:ext cx="2070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Find the client 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53F9B-E457-F59F-D2CB-9E4EB7AC9B35}"/>
              </a:ext>
            </a:extLst>
          </p:cNvPr>
          <p:cNvSpPr txBox="1"/>
          <p:nvPr/>
        </p:nvSpPr>
        <p:spPr>
          <a:xfrm>
            <a:off x="889000" y="3403600"/>
            <a:ext cx="2070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Search accounts, holdings, profile, consent and previous interactions.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9171E1-1618-FB6D-1B2F-F19046D90365}"/>
              </a:ext>
            </a:extLst>
          </p:cNvPr>
          <p:cNvSpPr/>
          <p:nvPr/>
        </p:nvSpPr>
        <p:spPr>
          <a:xfrm>
            <a:off x="3403600" y="2222500"/>
            <a:ext cx="2476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B72B4-1EE6-C76D-52A5-82135C5F276E}"/>
              </a:ext>
            </a:extLst>
          </p:cNvPr>
          <p:cNvSpPr txBox="1"/>
          <p:nvPr/>
        </p:nvSpPr>
        <p:spPr>
          <a:xfrm>
            <a:off x="3606800" y="2413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A65D00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B6531-FC43-3AC2-E4EC-BBADAB93F89F}"/>
              </a:ext>
            </a:extLst>
          </p:cNvPr>
          <p:cNvSpPr txBox="1"/>
          <p:nvPr/>
        </p:nvSpPr>
        <p:spPr>
          <a:xfrm>
            <a:off x="3606800" y="2844800"/>
            <a:ext cx="2070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Interpret the need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7A1054-EFED-F1A2-B6F7-ED53720786FF}"/>
              </a:ext>
            </a:extLst>
          </p:cNvPr>
          <p:cNvSpPr txBox="1"/>
          <p:nvPr/>
        </p:nvSpPr>
        <p:spPr>
          <a:xfrm>
            <a:off x="3606800" y="3403600"/>
            <a:ext cx="2070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Connect lifecycle events, objectives, liquidity, risk and market context.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420A8A0-5C31-0CCF-8AEE-A74A8823CFD1}"/>
              </a:ext>
            </a:extLst>
          </p:cNvPr>
          <p:cNvSpPr/>
          <p:nvPr/>
        </p:nvSpPr>
        <p:spPr>
          <a:xfrm>
            <a:off x="6121400" y="2222500"/>
            <a:ext cx="2476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B5C0C7-5B22-8FAD-8530-A6103128DCE6}"/>
              </a:ext>
            </a:extLst>
          </p:cNvPr>
          <p:cNvSpPr txBox="1"/>
          <p:nvPr/>
        </p:nvSpPr>
        <p:spPr>
          <a:xfrm>
            <a:off x="6324600" y="2413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1F5F99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2CA5D8-9746-99F6-FD81-DDB340EE7C16}"/>
              </a:ext>
            </a:extLst>
          </p:cNvPr>
          <p:cNvSpPr txBox="1"/>
          <p:nvPr/>
        </p:nvSpPr>
        <p:spPr>
          <a:xfrm>
            <a:off x="6324600" y="2844800"/>
            <a:ext cx="2070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Prepare the conversation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269A8B-727A-1BFC-1CE5-5D2A9FF23667}"/>
              </a:ext>
            </a:extLst>
          </p:cNvPr>
          <p:cNvSpPr txBox="1"/>
          <p:nvPr/>
        </p:nvSpPr>
        <p:spPr>
          <a:xfrm>
            <a:off x="6324600" y="3403600"/>
            <a:ext cx="2070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Read correspondence, find guidance and assemble a client-specific talk track.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3859A6-AFA0-AC2B-18B9-4EAD9D469BED}"/>
              </a:ext>
            </a:extLst>
          </p:cNvPr>
          <p:cNvSpPr/>
          <p:nvPr/>
        </p:nvSpPr>
        <p:spPr>
          <a:xfrm>
            <a:off x="8839200" y="2222500"/>
            <a:ext cx="2476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75DC46-3B55-3934-D386-594F864853BC}"/>
              </a:ext>
            </a:extLst>
          </p:cNvPr>
          <p:cNvSpPr txBox="1"/>
          <p:nvPr/>
        </p:nvSpPr>
        <p:spPr>
          <a:xfrm>
            <a:off x="9042400" y="2413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147A52"/>
                </a:solidFill>
                <a:latin typeface="Aptos Display" panose="020B0004020202020204" pitchFamily="34" charset="0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E52FC3-9AB2-B3F8-71A3-2356802DDEDD}"/>
              </a:ext>
            </a:extLst>
          </p:cNvPr>
          <p:cNvSpPr txBox="1"/>
          <p:nvPr/>
        </p:nvSpPr>
        <p:spPr>
          <a:xfrm>
            <a:off x="9042400" y="2844800"/>
            <a:ext cx="2070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Record the follow-up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3D5DAB-4FD4-756A-1976-B83802ADBCBA}"/>
              </a:ext>
            </a:extLst>
          </p:cNvPr>
          <p:cNvSpPr txBox="1"/>
          <p:nvPr/>
        </p:nvSpPr>
        <p:spPr>
          <a:xfrm>
            <a:off x="9042400" y="3403600"/>
            <a:ext cx="2070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Draft the email, create the CRM record and preserve the evidence trail.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1EAF23-4E87-B787-72B0-2A8EEE8AE663}"/>
              </a:ext>
            </a:extLst>
          </p:cNvPr>
          <p:cNvSpPr txBox="1"/>
          <p:nvPr/>
        </p:nvSpPr>
        <p:spPr>
          <a:xfrm>
            <a:off x="1206500" y="5613400"/>
            <a:ext cx="977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500" b="1">
                <a:solidFill>
                  <a:srgbClr val="8F001A"/>
                </a:solidFill>
                <a:latin typeface="Aptos" panose="020B0004020202020204" pitchFamily="34" charset="0"/>
              </a:rPr>
              <a:t>The opportunity is not another assistant. It is an intelligent operating layer around the RM.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000033-FB6A-1917-0C13-83C2B3D42D2D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D4C7EA-CD68-40B7-CB55-182406D4A891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C11790-7D45-20CC-399C-4A91B22CD517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3579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C6CC4A-C68E-4CBC-909C-F184529F38FE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THE NORTH STAR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3A066-C51D-3416-C066-FEA86BF0D8A4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One governed system around the 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6899A-F895-EE41-B465-50E69ADCCE75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Data and AI do the synthesis. The RM owns the judgment, suitability decision and client relationship.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C99FA1F-55EE-4549-674C-5113FEBDE41A}"/>
              </a:ext>
            </a:extLst>
          </p:cNvPr>
          <p:cNvSpPr/>
          <p:nvPr/>
        </p:nvSpPr>
        <p:spPr>
          <a:xfrm>
            <a:off x="863600" y="2349500"/>
            <a:ext cx="1803400" cy="1803400"/>
          </a:xfrm>
          <a:prstGeom prst="ellipse">
            <a:avLst/>
          </a:prstGeom>
          <a:solidFill>
            <a:srgbClr val="1F5F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3758D-0AAB-B8B4-1672-3B7C3004C6CE}"/>
              </a:ext>
            </a:extLst>
          </p:cNvPr>
          <p:cNvSpPr txBox="1"/>
          <p:nvPr/>
        </p:nvSpPr>
        <p:spPr>
          <a:xfrm>
            <a:off x="1054100" y="2794000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73891-D425-B95A-E46A-CD973C1161D2}"/>
              </a:ext>
            </a:extLst>
          </p:cNvPr>
          <p:cNvSpPr txBox="1"/>
          <p:nvPr/>
        </p:nvSpPr>
        <p:spPr>
          <a:xfrm>
            <a:off x="1016000" y="3200400"/>
            <a:ext cx="149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>
                <a:solidFill>
                  <a:srgbClr val="FFFFFF"/>
                </a:solidFill>
                <a:latin typeface="Aptos" panose="020B0004020202020204" pitchFamily="34" charset="0"/>
              </a:rPr>
              <a:t>Fabric · client facts · lifecycle events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5C593-F439-76E1-FA36-F1A480666756}"/>
              </a:ext>
            </a:extLst>
          </p:cNvPr>
          <p:cNvSpPr txBox="1"/>
          <p:nvPr/>
        </p:nvSpPr>
        <p:spPr>
          <a:xfrm>
            <a:off x="2857500" y="29210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b="1">
                <a:solidFill>
                  <a:srgbClr val="69646A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365239-018A-57F7-2883-B123084A3FC2}"/>
              </a:ext>
            </a:extLst>
          </p:cNvPr>
          <p:cNvSpPr/>
          <p:nvPr/>
        </p:nvSpPr>
        <p:spPr>
          <a:xfrm>
            <a:off x="3479800" y="2349500"/>
            <a:ext cx="1803400" cy="1803400"/>
          </a:xfrm>
          <a:prstGeom prst="ellipse">
            <a:avLst/>
          </a:prstGeom>
          <a:solidFill>
            <a:srgbClr val="A65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019BA-E872-7D49-5BC8-4ED400048F8C}"/>
              </a:ext>
            </a:extLst>
          </p:cNvPr>
          <p:cNvSpPr txBox="1"/>
          <p:nvPr/>
        </p:nvSpPr>
        <p:spPr>
          <a:xfrm>
            <a:off x="3670300" y="2794000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KNOWLEDGE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CBEC52-B361-948C-F07B-56ABCA581FCD}"/>
              </a:ext>
            </a:extLst>
          </p:cNvPr>
          <p:cNvSpPr txBox="1"/>
          <p:nvPr/>
        </p:nvSpPr>
        <p:spPr>
          <a:xfrm>
            <a:off x="3632200" y="3200400"/>
            <a:ext cx="149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>
                <a:solidFill>
                  <a:srgbClr val="FFFFFF"/>
                </a:solidFill>
                <a:latin typeface="Aptos" panose="020B0004020202020204" pitchFamily="34" charset="0"/>
              </a:rPr>
              <a:t>Policy · product guidance · source boundaries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873E3E-5D08-C1EC-21AA-5AFB57FE08B4}"/>
              </a:ext>
            </a:extLst>
          </p:cNvPr>
          <p:cNvSpPr txBox="1"/>
          <p:nvPr/>
        </p:nvSpPr>
        <p:spPr>
          <a:xfrm>
            <a:off x="5473700" y="29210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b="1">
                <a:solidFill>
                  <a:srgbClr val="69646A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0ABFB-FAE8-9B42-1CBD-74A5E702E731}"/>
              </a:ext>
            </a:extLst>
          </p:cNvPr>
          <p:cNvSpPr/>
          <p:nvPr/>
        </p:nvSpPr>
        <p:spPr>
          <a:xfrm>
            <a:off x="6096000" y="2349500"/>
            <a:ext cx="1803400" cy="1803400"/>
          </a:xfrm>
          <a:prstGeom prst="ellipse">
            <a:avLst/>
          </a:prstGeom>
          <a:solidFill>
            <a:srgbClr val="147A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254A96-9253-B9EC-7396-6ECCA289BFB2}"/>
              </a:ext>
            </a:extLst>
          </p:cNvPr>
          <p:cNvSpPr txBox="1"/>
          <p:nvPr/>
        </p:nvSpPr>
        <p:spPr>
          <a:xfrm>
            <a:off x="6286500" y="2794000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APPLICATIONS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9BCCF8-8A61-A2B7-4203-3F94642015CC}"/>
              </a:ext>
            </a:extLst>
          </p:cNvPr>
          <p:cNvSpPr txBox="1"/>
          <p:nvPr/>
        </p:nvSpPr>
        <p:spPr>
          <a:xfrm>
            <a:off x="6248400" y="3200400"/>
            <a:ext cx="149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>
                <a:solidFill>
                  <a:srgbClr val="FFFFFF"/>
                </a:solidFill>
                <a:latin typeface="Aptos" panose="020B0004020202020204" pitchFamily="34" charset="0"/>
              </a:rPr>
              <a:t>Outlook-style sources · CRM drafts · Teams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6A67C-4574-F27D-9AF1-D4D4831DECF9}"/>
              </a:ext>
            </a:extLst>
          </p:cNvPr>
          <p:cNvSpPr txBox="1"/>
          <p:nvPr/>
        </p:nvSpPr>
        <p:spPr>
          <a:xfrm>
            <a:off x="8089900" y="29210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b="1">
                <a:solidFill>
                  <a:srgbClr val="69646A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855AEF0-8361-92EB-BD7B-2E88F86EE130}"/>
              </a:ext>
            </a:extLst>
          </p:cNvPr>
          <p:cNvSpPr/>
          <p:nvPr/>
        </p:nvSpPr>
        <p:spPr>
          <a:xfrm>
            <a:off x="8712200" y="2349500"/>
            <a:ext cx="1803400" cy="1803400"/>
          </a:xfrm>
          <a:prstGeom prst="ellipse">
            <a:avLst/>
          </a:prstGeom>
          <a:solidFill>
            <a:srgbClr val="B000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BE9E31-8387-C37C-2DCC-D21B5EE4DE4E}"/>
              </a:ext>
            </a:extLst>
          </p:cNvPr>
          <p:cNvSpPr txBox="1"/>
          <p:nvPr/>
        </p:nvSpPr>
        <p:spPr>
          <a:xfrm>
            <a:off x="8902700" y="2794000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1DCA31-202F-6E6B-ECAF-7E571379380D}"/>
              </a:ext>
            </a:extLst>
          </p:cNvPr>
          <p:cNvSpPr txBox="1"/>
          <p:nvPr/>
        </p:nvSpPr>
        <p:spPr>
          <a:xfrm>
            <a:off x="8864600" y="3200400"/>
            <a:ext cx="149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>
                <a:solidFill>
                  <a:srgbClr val="FFFFFF"/>
                </a:solidFill>
                <a:latin typeface="Aptos" panose="020B0004020202020204" pitchFamily="34" charset="0"/>
              </a:rPr>
              <a:t>Orchestration · generation · verification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C6404CB-21BA-E107-99C3-72E8B2B77A2E}"/>
              </a:ext>
            </a:extLst>
          </p:cNvPr>
          <p:cNvSpPr/>
          <p:nvPr/>
        </p:nvSpPr>
        <p:spPr>
          <a:xfrm>
            <a:off x="3035300" y="4635500"/>
            <a:ext cx="6121400" cy="8509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D92CDB-8635-2A0B-EA2B-927DF74F02B4}"/>
              </a:ext>
            </a:extLst>
          </p:cNvPr>
          <p:cNvSpPr txBox="1"/>
          <p:nvPr/>
        </p:nvSpPr>
        <p:spPr>
          <a:xfrm>
            <a:off x="3530600" y="4813300"/>
            <a:ext cx="5130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RELATIONSHIP MANAGER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60962B-962B-BF28-D504-125800B724F3}"/>
              </a:ext>
            </a:extLst>
          </p:cNvPr>
          <p:cNvSpPr txBox="1"/>
          <p:nvPr/>
        </p:nvSpPr>
        <p:spPr>
          <a:xfrm>
            <a:off x="3530600" y="5143500"/>
            <a:ext cx="513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C6C2C9"/>
                </a:solidFill>
                <a:latin typeface="Aptos" panose="020B0004020202020204" pitchFamily="34" charset="0"/>
              </a:rPr>
              <a:t>Evidence visible · Human judgment in control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2FFC7F-BB62-6FE2-B541-4FCB3C27F32F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2B242A4-09F1-8268-0881-0E685C44E2E9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E31E41-B727-2BB2-5EFC-3728CEBE7F68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4182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B60CEF-EFF0-449F-2AD3-B9C3613F08E7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A DAY IN MOTION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5D5C5-94E6-D262-6FE9-2EC1441FE7F8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From morning signal to governed follow-up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47779-2E01-A4CA-AEA8-061808FB8311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experience follows relationship-manager work, not the underlying product boundaries.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864B47-276B-38AC-3B91-9DD7F68101FA}"/>
              </a:ext>
            </a:extLst>
          </p:cNvPr>
          <p:cNvCxnSpPr/>
          <p:nvPr/>
        </p:nvCxnSpPr>
        <p:spPr>
          <a:xfrm>
            <a:off x="1333500" y="3530600"/>
            <a:ext cx="9525000" cy="0"/>
          </a:xfrm>
          <a:prstGeom prst="line">
            <a:avLst/>
          </a:prstGeom>
          <a:ln w="50800"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4D4C234-2551-C415-5023-95D8082971F8}"/>
              </a:ext>
            </a:extLst>
          </p:cNvPr>
          <p:cNvSpPr/>
          <p:nvPr/>
        </p:nvSpPr>
        <p:spPr>
          <a:xfrm>
            <a:off x="1143000" y="3251200"/>
            <a:ext cx="558800" cy="558800"/>
          </a:xfrm>
          <a:prstGeom prst="ellipse">
            <a:avLst/>
          </a:prstGeom>
          <a:solidFill>
            <a:srgbClr val="B000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139EC-3A04-3742-A9BD-34AD53AF6108}"/>
              </a:ext>
            </a:extLst>
          </p:cNvPr>
          <p:cNvSpPr txBox="1"/>
          <p:nvPr/>
        </p:nvSpPr>
        <p:spPr>
          <a:xfrm>
            <a:off x="12446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D1DAF-8E3F-4CAD-06D9-AB3048BDD491}"/>
              </a:ext>
            </a:extLst>
          </p:cNvPr>
          <p:cNvSpPr txBox="1"/>
          <p:nvPr/>
        </p:nvSpPr>
        <p:spPr>
          <a:xfrm>
            <a:off x="10922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08:30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96F81-C77D-69CE-9FA0-62CE2200024B}"/>
              </a:ext>
            </a:extLst>
          </p:cNvPr>
          <p:cNvSpPr txBox="1"/>
          <p:nvPr/>
        </p:nvSpPr>
        <p:spPr>
          <a:xfrm>
            <a:off x="5715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B00020"/>
                </a:solidFill>
                <a:latin typeface="Aptos" panose="020B0004020202020204" pitchFamily="34" charset="0"/>
              </a:rPr>
              <a:t>TRIAGE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5C095-FAF1-73EF-F445-0F556AF213F3}"/>
              </a:ext>
            </a:extLst>
          </p:cNvPr>
          <p:cNvSpPr txBox="1"/>
          <p:nvPr/>
        </p:nvSpPr>
        <p:spPr>
          <a:xfrm>
            <a:off x="5334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Priorities and reviews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45E9FF-059D-5468-D202-0962ED07BACE}"/>
              </a:ext>
            </a:extLst>
          </p:cNvPr>
          <p:cNvSpPr/>
          <p:nvPr/>
        </p:nvSpPr>
        <p:spPr>
          <a:xfrm>
            <a:off x="3517900" y="3251200"/>
            <a:ext cx="558800" cy="558800"/>
          </a:xfrm>
          <a:prstGeom prst="ellipse">
            <a:avLst/>
          </a:prstGeom>
          <a:solidFill>
            <a:srgbClr val="1F5F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405148-056B-E147-FB7E-2504C99606B7}"/>
              </a:ext>
            </a:extLst>
          </p:cNvPr>
          <p:cNvSpPr txBox="1"/>
          <p:nvPr/>
        </p:nvSpPr>
        <p:spPr>
          <a:xfrm>
            <a:off x="36195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350411-79E4-F93E-3CD5-DC119E2A104D}"/>
              </a:ext>
            </a:extLst>
          </p:cNvPr>
          <p:cNvSpPr txBox="1"/>
          <p:nvPr/>
        </p:nvSpPr>
        <p:spPr>
          <a:xfrm>
            <a:off x="34671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09:15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03FC45-7F3A-B4CF-9E73-45D36BB19AE8}"/>
              </a:ext>
            </a:extLst>
          </p:cNvPr>
          <p:cNvSpPr txBox="1"/>
          <p:nvPr/>
        </p:nvSpPr>
        <p:spPr>
          <a:xfrm>
            <a:off x="29464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1F5F99"/>
                </a:solidFill>
                <a:latin typeface="Aptos" panose="020B0004020202020204" pitchFamily="34" charset="0"/>
              </a:rPr>
              <a:t>UNDERSTAND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9B420F-C2B9-F5F5-593C-7DFACF87A409}"/>
              </a:ext>
            </a:extLst>
          </p:cNvPr>
          <p:cNvSpPr txBox="1"/>
          <p:nvPr/>
        </p:nvSpPr>
        <p:spPr>
          <a:xfrm>
            <a:off x="29083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Client 360 + sources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ADA46F-939F-DFE8-C10B-DCF4C2B1DDDE}"/>
              </a:ext>
            </a:extLst>
          </p:cNvPr>
          <p:cNvSpPr/>
          <p:nvPr/>
        </p:nvSpPr>
        <p:spPr>
          <a:xfrm>
            <a:off x="5892800" y="3251200"/>
            <a:ext cx="558800" cy="558800"/>
          </a:xfrm>
          <a:prstGeom prst="ellipse">
            <a:avLst/>
          </a:prstGeom>
          <a:solidFill>
            <a:srgbClr val="A65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321041-1E9D-0F76-7B98-F0F6CF82A1AB}"/>
              </a:ext>
            </a:extLst>
          </p:cNvPr>
          <p:cNvSpPr txBox="1"/>
          <p:nvPr/>
        </p:nvSpPr>
        <p:spPr>
          <a:xfrm>
            <a:off x="59944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E6DD35-27D2-2BDF-FCBD-FD8FCDB3D700}"/>
              </a:ext>
            </a:extLst>
          </p:cNvPr>
          <p:cNvSpPr txBox="1"/>
          <p:nvPr/>
        </p:nvSpPr>
        <p:spPr>
          <a:xfrm>
            <a:off x="58420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10:00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93D9E1-D295-00CA-31F1-678CFAB8D944}"/>
              </a:ext>
            </a:extLst>
          </p:cNvPr>
          <p:cNvSpPr txBox="1"/>
          <p:nvPr/>
        </p:nvSpPr>
        <p:spPr>
          <a:xfrm>
            <a:off x="53213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A65D00"/>
                </a:solidFill>
                <a:latin typeface="Aptos" panose="020B0004020202020204" pitchFamily="34" charset="0"/>
              </a:rPr>
              <a:t>PREPARE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B7CCBA-0BDD-89CC-801B-45DFD8EBB33A}"/>
              </a:ext>
            </a:extLst>
          </p:cNvPr>
          <p:cNvSpPr txBox="1"/>
          <p:nvPr/>
        </p:nvSpPr>
        <p:spPr>
          <a:xfrm>
            <a:off x="52832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Meeting briefing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9327BB3-3368-1DDF-1F8A-856A9134F887}"/>
              </a:ext>
            </a:extLst>
          </p:cNvPr>
          <p:cNvSpPr/>
          <p:nvPr/>
        </p:nvSpPr>
        <p:spPr>
          <a:xfrm>
            <a:off x="8267700" y="3251200"/>
            <a:ext cx="558800" cy="558800"/>
          </a:xfrm>
          <a:prstGeom prst="ellipse">
            <a:avLst/>
          </a:prstGeom>
          <a:solidFill>
            <a:srgbClr val="147A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6D8CF0-991D-5C88-9C46-3E91A951B7AA}"/>
              </a:ext>
            </a:extLst>
          </p:cNvPr>
          <p:cNvSpPr txBox="1"/>
          <p:nvPr/>
        </p:nvSpPr>
        <p:spPr>
          <a:xfrm>
            <a:off x="83693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9EED31-C7C6-EE3D-5183-AF8300069CD2}"/>
              </a:ext>
            </a:extLst>
          </p:cNvPr>
          <p:cNvSpPr txBox="1"/>
          <p:nvPr/>
        </p:nvSpPr>
        <p:spPr>
          <a:xfrm>
            <a:off x="82169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11:30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36FB80-D5B6-B65B-1369-472EFA9EF222}"/>
              </a:ext>
            </a:extLst>
          </p:cNvPr>
          <p:cNvSpPr txBox="1"/>
          <p:nvPr/>
        </p:nvSpPr>
        <p:spPr>
          <a:xfrm>
            <a:off x="76962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147A52"/>
                </a:solidFill>
                <a:latin typeface="Aptos" panose="020B0004020202020204" pitchFamily="34" charset="0"/>
              </a:rPr>
              <a:t>DECIDE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C7E878-0DA9-B9A5-A708-C8E19D8088FA}"/>
              </a:ext>
            </a:extLst>
          </p:cNvPr>
          <p:cNvSpPr txBox="1"/>
          <p:nvPr/>
        </p:nvSpPr>
        <p:spPr>
          <a:xfrm>
            <a:off x="76581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Custom recommendations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5A47A07-5DCB-4979-174E-764954DF21B0}"/>
              </a:ext>
            </a:extLst>
          </p:cNvPr>
          <p:cNvSpPr/>
          <p:nvPr/>
        </p:nvSpPr>
        <p:spPr>
          <a:xfrm>
            <a:off x="10642600" y="3251200"/>
            <a:ext cx="558800" cy="558800"/>
          </a:xfrm>
          <a:prstGeom prst="ellipse">
            <a:avLst/>
          </a:prstGeom>
          <a:solidFill>
            <a:srgbClr val="8F00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3BBE9F-20FD-5276-BE7A-D56D4F52E054}"/>
              </a:ext>
            </a:extLst>
          </p:cNvPr>
          <p:cNvSpPr txBox="1"/>
          <p:nvPr/>
        </p:nvSpPr>
        <p:spPr>
          <a:xfrm>
            <a:off x="107442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495853-C0F6-E4F4-6371-DB3C93208E50}"/>
              </a:ext>
            </a:extLst>
          </p:cNvPr>
          <p:cNvSpPr txBox="1"/>
          <p:nvPr/>
        </p:nvSpPr>
        <p:spPr>
          <a:xfrm>
            <a:off x="105918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12:15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BED27-E21C-3723-997E-FD00D1E8B3C9}"/>
              </a:ext>
            </a:extLst>
          </p:cNvPr>
          <p:cNvSpPr txBox="1"/>
          <p:nvPr/>
        </p:nvSpPr>
        <p:spPr>
          <a:xfrm>
            <a:off x="100711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8F001A"/>
                </a:solidFill>
                <a:latin typeface="Aptos" panose="020B0004020202020204" pitchFamily="34" charset="0"/>
              </a:rPr>
              <a:t>FOLLOW UP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479B02-A511-ADE4-15DA-BD9A375DB964}"/>
              </a:ext>
            </a:extLst>
          </p:cNvPr>
          <p:cNvSpPr txBox="1"/>
          <p:nvPr/>
        </p:nvSpPr>
        <p:spPr>
          <a:xfrm>
            <a:off x="100330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Email + CRM draft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07F1C0-728B-6CC7-7E1F-13C98F13DD9C}"/>
              </a:ext>
            </a:extLst>
          </p:cNvPr>
          <p:cNvSpPr txBox="1"/>
          <p:nvPr/>
        </p:nvSpPr>
        <p:spPr>
          <a:xfrm>
            <a:off x="3175000" y="5461000"/>
            <a:ext cx="584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500" b="1">
                <a:solidFill>
                  <a:srgbClr val="8F001A"/>
                </a:solidFill>
                <a:latin typeface="Aptos" panose="020B0004020202020204" pitchFamily="34" charset="0"/>
              </a:rPr>
              <a:t>John remains accountable at every transition.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024172-9CEC-30C6-C19A-10C5C6E067B9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653C954-DB68-90AD-F774-48F0CB703201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4E1BA9-6A37-3F7B-E4E9-39115E6CAA9D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8729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C966FB-D92F-C5A4-0A8F-8539807CEFD7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LIVE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D1DC4-7984-D006-22D2-BBB72154C3C3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What you are about to see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7C2C7-8A2D-4876-8C35-8E160E17064C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A simple route through the cockpit, with the slide deck used only for context and architecture.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12EBEF-0C7A-9869-0AB6-0276B61187D7}"/>
              </a:ext>
            </a:extLst>
          </p:cNvPr>
          <p:cNvSpPr/>
          <p:nvPr/>
        </p:nvSpPr>
        <p:spPr>
          <a:xfrm>
            <a:off x="660400" y="2603500"/>
            <a:ext cx="1409700" cy="1066800"/>
          </a:xfrm>
          <a:prstGeom prst="round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4FA73-AD1E-50FE-8032-2E8DEDA4FC22}"/>
              </a:ext>
            </a:extLst>
          </p:cNvPr>
          <p:cNvSpPr txBox="1"/>
          <p:nvPr/>
        </p:nvSpPr>
        <p:spPr>
          <a:xfrm>
            <a:off x="7874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7C618-E9D2-0231-37CE-0F4BC1461AF3}"/>
              </a:ext>
            </a:extLst>
          </p:cNvPr>
          <p:cNvSpPr txBox="1"/>
          <p:nvPr/>
        </p:nvSpPr>
        <p:spPr>
          <a:xfrm>
            <a:off x="7874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Today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F1D97-498A-0F89-50C1-F32F6C8B52C1}"/>
              </a:ext>
            </a:extLst>
          </p:cNvPr>
          <p:cNvSpPr txBox="1"/>
          <p:nvPr/>
        </p:nvSpPr>
        <p:spPr>
          <a:xfrm>
            <a:off x="20828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3B978B-8730-99A7-8AF7-FAED9AE51FB8}"/>
              </a:ext>
            </a:extLst>
          </p:cNvPr>
          <p:cNvSpPr/>
          <p:nvPr/>
        </p:nvSpPr>
        <p:spPr>
          <a:xfrm>
            <a:off x="22733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81221D-0F7B-EA34-0983-BD10FD4E5A9E}"/>
              </a:ext>
            </a:extLst>
          </p:cNvPr>
          <p:cNvSpPr txBox="1"/>
          <p:nvPr/>
        </p:nvSpPr>
        <p:spPr>
          <a:xfrm>
            <a:off x="24003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2B88B1-723E-BC71-8C9D-08AFF4394D95}"/>
              </a:ext>
            </a:extLst>
          </p:cNvPr>
          <p:cNvSpPr txBox="1"/>
          <p:nvPr/>
        </p:nvSpPr>
        <p:spPr>
          <a:xfrm>
            <a:off x="24003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Client 360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20D49-A4F1-CCD4-A76B-E72683E8260B}"/>
              </a:ext>
            </a:extLst>
          </p:cNvPr>
          <p:cNvSpPr txBox="1"/>
          <p:nvPr/>
        </p:nvSpPr>
        <p:spPr>
          <a:xfrm>
            <a:off x="36957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21C0DD-FBC3-F4F6-4882-2E04D5BA584E}"/>
              </a:ext>
            </a:extLst>
          </p:cNvPr>
          <p:cNvSpPr/>
          <p:nvPr/>
        </p:nvSpPr>
        <p:spPr>
          <a:xfrm>
            <a:off x="38862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20C6D-F300-9023-2CA8-135362F7D558}"/>
              </a:ext>
            </a:extLst>
          </p:cNvPr>
          <p:cNvSpPr txBox="1"/>
          <p:nvPr/>
        </p:nvSpPr>
        <p:spPr>
          <a:xfrm>
            <a:off x="40132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745815-1980-2D45-D423-431392D8055C}"/>
              </a:ext>
            </a:extLst>
          </p:cNvPr>
          <p:cNvSpPr txBox="1"/>
          <p:nvPr/>
        </p:nvSpPr>
        <p:spPr>
          <a:xfrm>
            <a:off x="40132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Sources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BF8D6A-8271-5D36-6768-30B1620F15F8}"/>
              </a:ext>
            </a:extLst>
          </p:cNvPr>
          <p:cNvSpPr txBox="1"/>
          <p:nvPr/>
        </p:nvSpPr>
        <p:spPr>
          <a:xfrm>
            <a:off x="53086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20E2FF-0493-DBB6-A7DC-42F3CF874194}"/>
              </a:ext>
            </a:extLst>
          </p:cNvPr>
          <p:cNvSpPr/>
          <p:nvPr/>
        </p:nvSpPr>
        <p:spPr>
          <a:xfrm>
            <a:off x="54991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C85035-9935-AF0F-9343-855D3379768E}"/>
              </a:ext>
            </a:extLst>
          </p:cNvPr>
          <p:cNvSpPr txBox="1"/>
          <p:nvPr/>
        </p:nvSpPr>
        <p:spPr>
          <a:xfrm>
            <a:off x="56261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741D10-31A1-8A39-3F07-553C260ECCA1}"/>
              </a:ext>
            </a:extLst>
          </p:cNvPr>
          <p:cNvSpPr txBox="1"/>
          <p:nvPr/>
        </p:nvSpPr>
        <p:spPr>
          <a:xfrm>
            <a:off x="56261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Briefing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406DB3-7414-3DD0-0B25-6D5DFAF123D4}"/>
              </a:ext>
            </a:extLst>
          </p:cNvPr>
          <p:cNvSpPr txBox="1"/>
          <p:nvPr/>
        </p:nvSpPr>
        <p:spPr>
          <a:xfrm>
            <a:off x="69215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03A8C9-B014-204C-5529-D39DFBA30131}"/>
              </a:ext>
            </a:extLst>
          </p:cNvPr>
          <p:cNvSpPr/>
          <p:nvPr/>
        </p:nvSpPr>
        <p:spPr>
          <a:xfrm>
            <a:off x="71120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B75D05-BEE0-70F0-A7A0-58BF03947284}"/>
              </a:ext>
            </a:extLst>
          </p:cNvPr>
          <p:cNvSpPr txBox="1"/>
          <p:nvPr/>
        </p:nvSpPr>
        <p:spPr>
          <a:xfrm>
            <a:off x="72390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1A468C-B43E-AE2C-7638-BD9F6C16C3EC}"/>
              </a:ext>
            </a:extLst>
          </p:cNvPr>
          <p:cNvSpPr txBox="1"/>
          <p:nvPr/>
        </p:nvSpPr>
        <p:spPr>
          <a:xfrm>
            <a:off x="72390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Recommendations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B14BFD-F0A6-8754-A159-6A10B130319E}"/>
              </a:ext>
            </a:extLst>
          </p:cNvPr>
          <p:cNvSpPr txBox="1"/>
          <p:nvPr/>
        </p:nvSpPr>
        <p:spPr>
          <a:xfrm>
            <a:off x="85344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EA049D-63E0-3F3F-BF15-BB9E942D75B3}"/>
              </a:ext>
            </a:extLst>
          </p:cNvPr>
          <p:cNvSpPr/>
          <p:nvPr/>
        </p:nvSpPr>
        <p:spPr>
          <a:xfrm>
            <a:off x="87249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D2E8B0-BDF2-13E0-8DCE-95D10D27FE93}"/>
              </a:ext>
            </a:extLst>
          </p:cNvPr>
          <p:cNvSpPr txBox="1"/>
          <p:nvPr/>
        </p:nvSpPr>
        <p:spPr>
          <a:xfrm>
            <a:off x="88519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CC752C-D8A8-95DD-9BDD-98546E53EC43}"/>
              </a:ext>
            </a:extLst>
          </p:cNvPr>
          <p:cNvSpPr txBox="1"/>
          <p:nvPr/>
        </p:nvSpPr>
        <p:spPr>
          <a:xfrm>
            <a:off x="88519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Drafts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B45FD7-EC18-485C-69C4-D3DE4D56EAAC}"/>
              </a:ext>
            </a:extLst>
          </p:cNvPr>
          <p:cNvSpPr txBox="1"/>
          <p:nvPr/>
        </p:nvSpPr>
        <p:spPr>
          <a:xfrm>
            <a:off x="101473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D799DB-852E-3056-F52E-D21F07C9B829}"/>
              </a:ext>
            </a:extLst>
          </p:cNvPr>
          <p:cNvSpPr/>
          <p:nvPr/>
        </p:nvSpPr>
        <p:spPr>
          <a:xfrm>
            <a:off x="103378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723A73-8BEE-C801-5B0D-F717A84DEFF5}"/>
              </a:ext>
            </a:extLst>
          </p:cNvPr>
          <p:cNvSpPr txBox="1"/>
          <p:nvPr/>
        </p:nvSpPr>
        <p:spPr>
          <a:xfrm>
            <a:off x="104648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837DC-DA8E-5F1D-F7E8-F318E2718163}"/>
              </a:ext>
            </a:extLst>
          </p:cNvPr>
          <p:cNvSpPr txBox="1"/>
          <p:nvPr/>
        </p:nvSpPr>
        <p:spPr>
          <a:xfrm>
            <a:off x="104648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55B787C-C1C8-5A69-4185-3B8761542BDB}"/>
              </a:ext>
            </a:extLst>
          </p:cNvPr>
          <p:cNvSpPr/>
          <p:nvPr/>
        </p:nvSpPr>
        <p:spPr>
          <a:xfrm>
            <a:off x="1524000" y="4381500"/>
            <a:ext cx="9144000" cy="9779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6AB89C-1529-A6DE-27D3-F4A3EF078228}"/>
              </a:ext>
            </a:extLst>
          </p:cNvPr>
          <p:cNvSpPr txBox="1"/>
          <p:nvPr/>
        </p:nvSpPr>
        <p:spPr>
          <a:xfrm>
            <a:off x="1841500" y="45974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DEMO PRINCIPLE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B63106-3FF3-E36E-FC2C-EB7F0303E5C5}"/>
              </a:ext>
            </a:extLst>
          </p:cNvPr>
          <p:cNvSpPr txBox="1"/>
          <p:nvPr/>
        </p:nvSpPr>
        <p:spPr>
          <a:xfrm>
            <a:off x="3492500" y="4546600"/>
            <a:ext cx="666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600" b="1">
                <a:solidFill>
                  <a:srgbClr val="8F001A"/>
                </a:solidFill>
                <a:latin typeface="Aptos" panose="020B0004020202020204" pitchFamily="34" charset="0"/>
              </a:rPr>
              <a:t>Prepared, not automated. Explained, not opaque. Drafted, not executed.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B75E1E2-8C95-DFC8-DAC3-57724A08E681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F908788-0B63-59AD-64B5-0E74254B4B45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9A3151-4F3D-FBE6-DA5E-A9CFE6D795F1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86947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DC39F4-A6EF-18F0-A289-3CC72B89561F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THE RM JOURNEY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3118A-E4BD-CF72-1352-6AEF9F8CBFF4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Three artifacts, one governed progression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A6163-C834-08F5-6FD6-7D52902167E9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Each stage produces something the RM can inspect, challenge and improve.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21D891-84F1-B93B-DDFB-15EE65FBCB44}"/>
              </a:ext>
            </a:extLst>
          </p:cNvPr>
          <p:cNvSpPr/>
          <p:nvPr/>
        </p:nvSpPr>
        <p:spPr>
          <a:xfrm>
            <a:off x="889000" y="2349500"/>
            <a:ext cx="3175000" cy="299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B4699-B568-027F-1442-DB9D87B8AA86}"/>
              </a:ext>
            </a:extLst>
          </p:cNvPr>
          <p:cNvSpPr txBox="1"/>
          <p:nvPr/>
        </p:nvSpPr>
        <p:spPr>
          <a:xfrm>
            <a:off x="1092200" y="2540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B00020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B51766-EB08-8759-A521-2633563D16F0}"/>
              </a:ext>
            </a:extLst>
          </p:cNvPr>
          <p:cNvSpPr txBox="1"/>
          <p:nvPr/>
        </p:nvSpPr>
        <p:spPr>
          <a:xfrm>
            <a:off x="1092200" y="2971800"/>
            <a:ext cx="276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Prepare briefing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464F6D-9ECA-FE08-CD7B-689664B6186F}"/>
              </a:ext>
            </a:extLst>
          </p:cNvPr>
          <p:cNvSpPr txBox="1"/>
          <p:nvPr/>
        </p:nvSpPr>
        <p:spPr>
          <a:xfrm>
            <a:off x="1092200" y="3530600"/>
            <a:ext cx="2768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Pre-meeting objective, client context, what changed, talk track, questions, sources and mandatory checks.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71AB61-A2FE-BF8C-9DF3-DA826E1CA1D1}"/>
              </a:ext>
            </a:extLst>
          </p:cNvPr>
          <p:cNvSpPr/>
          <p:nvPr/>
        </p:nvSpPr>
        <p:spPr>
          <a:xfrm>
            <a:off x="4508500" y="2349500"/>
            <a:ext cx="3175000" cy="299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AFEAD-D8ED-3C17-E5CD-6838FC0A3B0C}"/>
              </a:ext>
            </a:extLst>
          </p:cNvPr>
          <p:cNvSpPr txBox="1"/>
          <p:nvPr/>
        </p:nvSpPr>
        <p:spPr>
          <a:xfrm>
            <a:off x="4711700" y="2540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1F5F99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4FE371-6A8D-F884-6113-9D9476DE94C3}"/>
              </a:ext>
            </a:extLst>
          </p:cNvPr>
          <p:cNvSpPr txBox="1"/>
          <p:nvPr/>
        </p:nvSpPr>
        <p:spPr>
          <a:xfrm>
            <a:off x="4711700" y="2971800"/>
            <a:ext cx="276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Custom recommendations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BAA88-3BC2-CEFF-7BF7-1935F0A5B57C}"/>
              </a:ext>
            </a:extLst>
          </p:cNvPr>
          <p:cNvSpPr txBox="1"/>
          <p:nvPr/>
        </p:nvSpPr>
        <p:spPr>
          <a:xfrm>
            <a:off x="4711700" y="3530600"/>
            <a:ext cx="2768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Explicitly fictional product candidates, fit rationale, risks, alternatives, evidence and suitability gates.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1331F4-D63E-D7E8-74B9-43E173EC135D}"/>
              </a:ext>
            </a:extLst>
          </p:cNvPr>
          <p:cNvSpPr/>
          <p:nvPr/>
        </p:nvSpPr>
        <p:spPr>
          <a:xfrm>
            <a:off x="8128000" y="2349500"/>
            <a:ext cx="3175000" cy="299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1ABA95-65F1-9DA4-4D3A-F13EC7E54113}"/>
              </a:ext>
            </a:extLst>
          </p:cNvPr>
          <p:cNvSpPr txBox="1"/>
          <p:nvPr/>
        </p:nvSpPr>
        <p:spPr>
          <a:xfrm>
            <a:off x="8331200" y="2540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147A52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BB7CE6-D8D0-ACAB-9225-0D4ECA5BAB08}"/>
              </a:ext>
            </a:extLst>
          </p:cNvPr>
          <p:cNvSpPr txBox="1"/>
          <p:nvPr/>
        </p:nvSpPr>
        <p:spPr>
          <a:xfrm>
            <a:off x="8331200" y="2971800"/>
            <a:ext cx="276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Opportunity draft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B9BB5-6A51-7C1A-74DA-E8BC724CF21A}"/>
              </a:ext>
            </a:extLst>
          </p:cNvPr>
          <p:cNvSpPr txBox="1"/>
          <p:nvPr/>
        </p:nvSpPr>
        <p:spPr>
          <a:xfrm>
            <a:off x="8331200" y="3530600"/>
            <a:ext cx="2768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Editable client email and CRM opportunity record. Nothing is sent or committed.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AA3B1-DC03-AB78-4A12-C7648C058612}"/>
              </a:ext>
            </a:extLst>
          </p:cNvPr>
          <p:cNvSpPr txBox="1"/>
          <p:nvPr/>
        </p:nvSpPr>
        <p:spPr>
          <a:xfrm>
            <a:off x="952500" y="57404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WHY THIS?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B8E66-5384-AF1C-3F9B-047EE13221B3}"/>
              </a:ext>
            </a:extLst>
          </p:cNvPr>
          <p:cNvSpPr txBox="1"/>
          <p:nvPr/>
        </p:nvSpPr>
        <p:spPr>
          <a:xfrm>
            <a:off x="2159000" y="5676900"/>
            <a:ext cx="901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242124"/>
                </a:solidFill>
                <a:latin typeface="Aptos" panose="020B0004020202020204" pitchFamily="34" charset="0"/>
              </a:rPr>
              <a:t>Every artifact carries evidence, public decision rules, alternatives, assumptions, limitations and unresolved checks.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9A16D8-DB0A-8B2C-724B-216A906CE52B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B81A94C-0DA6-FF42-17CA-CB157FB8952D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2F38AA-0D54-627A-ED42-60D0EC5E2782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98144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90191-7BD3-5C5C-8C54-D969DA74A676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DATA FOUNDATION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0CADA-65A6-223B-E9F3-29F8E09F45BF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Microsoft Fabric: governed client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6BDC7-8CA7-D09E-A307-6E671E4F81C0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Structured customer, portfolio, opportunity, compliance and event context is prepared through a medallion architecture.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9D0528-9A3F-60EB-37FE-6D767A1B90FA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2EE7C5-B40A-EE5F-0C63-111B011DC92E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C2E3C-4650-4EB0-D51A-3BF228150925}"/>
              </a:ext>
            </a:extLst>
          </p:cNvPr>
          <p:cNvSpPr txBox="1"/>
          <p:nvPr/>
        </p:nvSpPr>
        <p:spPr>
          <a:xfrm>
            <a:off x="1054100" y="2374900"/>
            <a:ext cx="2489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MICROSOFT FABRIC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26D5A-C25E-C81C-EE17-751EA3EF1D9C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987230-9892-8DCD-54D1-E0666CF5B455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3CD879-934E-3ABA-8501-DF100CB46F92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Frontier-RM-EBC workspace or Lakehouse / medallion screenshot.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F0BAAC-5559-99DE-0291-C4174BB5F479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AC3A7E-51FA-88B4-E77A-7A8C460023DC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1A3A4-3D3E-93FA-F705-783412D89974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20 fictional clients · Bronze / Silver / Gold · schema-enabled Lakehouse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F40615-40A7-89EF-93C3-2B644BBB77AE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749EA6C-765F-D8D9-6090-1B7EE012E55C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580517-922C-4259-6132-0BF67DFF948F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9225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D9EEE9-8C8C-6E93-BECF-971BE92D5921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BUSINESS MEANING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EEC0B-A008-32FF-D362-C1F555896BA8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Semantic Model and Power BI: a trusted analytical contract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55513-BBB0-9930-E580-897E253DBD59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Direct Lake measures and relationships turn platform data into RM-ready business concepts.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A5FB69-98C1-EF25-686D-DBE25F409A41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5C0C9E-7162-8A97-B301-6F3D0C552384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D75FB-E657-9B26-D7C1-8D44C0DDAF4B}"/>
              </a:ext>
            </a:extLst>
          </p:cNvPr>
          <p:cNvSpPr txBox="1"/>
          <p:nvPr/>
        </p:nvSpPr>
        <p:spPr>
          <a:xfrm>
            <a:off x="1054100" y="2374900"/>
            <a:ext cx="248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POWER BI · SEMANTIC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47C1AF-A0EB-E159-8CB1-BC6CC8525E21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8A3C2-E55B-D67A-EE54-F7FFC50D45B0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13C99-76EF-351A-3505-7B452E3626EB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model diagram, DAX validation, or Power BI report screenshot.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59E116-E722-A207-484B-B96FC3CBD783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C79474-8B55-DFC9-5D17-04920C47FFC9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9D326-2367-03B9-CBF8-30F7E6EDD90A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7 tables · 8 measures · Direct Lake · DAX-validated monetary evidence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0B031C-66D6-C343-D208-0ECF4340758E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AE56C3-FAFD-48B8-0DF1-FAC0D01F0E8F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66D779-21E6-2454-342C-B82D79525572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2599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9529A2-035A-03EF-6BDE-CD03A7142220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CONNECTED KNOWLEDGE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B6B90-5515-9429-18FD-0C9F34F911C7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Fabric IQ Ontology: relationships become traversable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C8272-3FAB-4CD9-FBA4-34F61B2786D4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ontology expresses customers, households, accounts, holdings, products, events and opportunities as a connected business graph.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D8D320-CCBF-F768-26B9-B983C8E24E88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E215EF-A35D-4FA1-3CC8-7A62C0360425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C3B34-4BB2-9ADD-7E3A-5DE2B787B02C}"/>
              </a:ext>
            </a:extLst>
          </p:cNvPr>
          <p:cNvSpPr txBox="1"/>
          <p:nvPr/>
        </p:nvSpPr>
        <p:spPr>
          <a:xfrm>
            <a:off x="1054100" y="2374900"/>
            <a:ext cx="2489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FABRIC IQ ONTOLOGY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AB2A9D-9FBC-482E-65EF-D8E6726DED4C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159C7-E9D3-EA68-DACB-6E12D14A860D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7747F-60BE-2F28-7295-FFBF72BB1938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Ontology entity/relationship graph or definition view.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AA8856-ADC5-D56F-AC48-7A3123B6E8E1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2396A5-26ED-911B-5CDB-BDF2918C8779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0CDA59-7F68-1470-CABB-2D0B81079A69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11 entities · 11 relationships · 11 bindings · graph routing deferred pending readiness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F80942-0454-B97C-6BA7-A6E47384EC60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C494F53-E639-EB92-22FE-DAAD0388A3A7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F39F6-0A87-1870-1960-DBB0EF4FFADD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732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803341-51B4-96B6-BDB6-273AEB966756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UNSTRUCTURED CONTEXT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7B2B0-9727-DA3E-9A99-27006F96C498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Sources and Copilot: client voice meets approved knowledge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2F7F2-621B-AAF0-6950-9A2609865D2A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Correspondence and documents add intent and history; Copilot keeps process knowledge available across the workflow.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9F603C-44D8-C6FF-E7B4-6D10E2A84AB0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6BA442-49E8-594C-9FBF-EBC692576376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AEE70-F02C-8E4C-FE31-26FD27D4DFC9}"/>
              </a:ext>
            </a:extLst>
          </p:cNvPr>
          <p:cNvSpPr txBox="1"/>
          <p:nvPr/>
        </p:nvSpPr>
        <p:spPr>
          <a:xfrm>
            <a:off x="1054100" y="2374900"/>
            <a:ext cx="2489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SOURCES · COPILOT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458D24-C6E7-B9C5-68FE-EDD59987B08D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EEB8B-2B93-D27E-557F-CE9EF1BC6470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FDB29-7A40-5724-6679-3A865D58D796}"/>
              </a:ext>
            </a:extLst>
          </p:cNvPr>
          <p:cNvSpPr txBox="1"/>
          <p:nvPr/>
        </p:nvSpPr>
        <p:spPr>
          <a:xfrm>
            <a:off x="1765300" y="3873500"/>
            <a:ext cx="866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a split screenshot of the Daniel Lim source thread and the persistent Frontier Copilot panel.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5B5825-3E3A-4D68-F57D-1AA65FA08943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BC06FE-0A9C-5FF9-B411-C1D5C5DA9485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A95648-1203-DAC0-333C-3014E3357686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realistic authored Outlook / SharePoint-style context · no Microsoft 365 connection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21C0FE-0066-1027-B071-B26F89D7B442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0613F78-4817-A571-4268-D5FFCB10E399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B6A4DA-8BE7-C3D7-1F54-DC05C21A5930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3111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9AF92-BF0A-2B21-58F8-45131ABCE441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AGENTIC COLLABORATION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4FB07-793A-E09D-7988-C1FA018EB73D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Microsoft Foundry: specialists with bounded responsibilities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A1F3B-DADA-1664-CDA1-CBA8381ACE1B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orchestrator coordinates customer intelligence, market context and meeting preparation, then verifies evidence coverage.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EE37CF-BAE7-FCB5-FDC9-992B3EC8FFF2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287461-95D8-2502-6AF2-75D33DDC2417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06712-299B-7494-A25A-12E5E5CD43F7}"/>
              </a:ext>
            </a:extLst>
          </p:cNvPr>
          <p:cNvSpPr txBox="1"/>
          <p:nvPr/>
        </p:nvSpPr>
        <p:spPr>
          <a:xfrm>
            <a:off x="1054100" y="2374900"/>
            <a:ext cx="248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MICROSOFT FOUNDRY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3F0CD-717B-13F3-4FF6-D45CB12CA67B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FAD94B-84E2-7CFA-1490-54DDD3A54136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3AAB4-7736-C5C9-E351-4D44C68059B7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Foundry project, agent versions, or Fabric project connection screenshot.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40CE6-D385-8AC6-74CD-CD0D7A2573BD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B62A78-C970-25C4-44DD-5FC01146692A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D6DC79-7ECB-2CC0-4ADE-DF09B3FED1BC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Orchestrator v2 · Customer Intelligence v3 · Market Context v2 · Meeting Preparation v2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86AEEC-6498-9808-E18A-3EE9CD02990E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965120-A116-281A-FDD8-CE4920A555CA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30D68-EF63-0451-6202-63B6C93BE2CC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8381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318F47-A19D-B91E-2C38-9810F419B821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TRANSPARENCY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0D119-1592-83F4-B450-CE4A1AA3C9DD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Operations: evidence, handoffs and verification are observable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C2E35-4FCE-5F9A-931B-61EE707DCA78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Presenters can inspect verified, revision-requested and rehearsal captures without exposing private model reasoning.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526B2F-A3F1-D2C3-6F1E-6DE2CA3A393C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90606E-005B-8F0F-367F-F5F0510005D7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DEDFA-6362-9264-4C7C-E77CE85366D8}"/>
              </a:ext>
            </a:extLst>
          </p:cNvPr>
          <p:cNvSpPr txBox="1"/>
          <p:nvPr/>
        </p:nvSpPr>
        <p:spPr>
          <a:xfrm>
            <a:off x="1054100" y="2374900"/>
            <a:ext cx="248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OPERATIONS · AGENT REPLAY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CFFD88-3369-ED88-3C6D-8C0BB42BEFFA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92C9E-E641-AA82-1DC1-262F7DFEABE3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F743A2-B0FC-BC4B-1F66-4677A9D968CB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agent fleet, captured-run selector and event stream screenshot.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C816C3-FD92-41E2-03B3-07EDE5703A14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E68816-76C7-B94E-A108-1A90FE89770A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B09A0D-18DD-5E7B-E955-662808A4C5C5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captured-live replay ≠ continuous execution · synthetic signal telemetry is separate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F4C4F97-293B-4000-1B9F-2158CB20062C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63E7CF-7EEC-36F6-CF6E-862A4AE61ACB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C7B9B1-56E1-DA31-5C56-1423ED350316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8215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34E1F-428C-F3CC-D3F7-8FBC4FE60A13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REFERENCE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99C3AF-1348-C60E-4677-54383FBE1F8B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One intelligent system, clear evidence boundaries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AD5A8-EC0F-1665-2324-427D383717AE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value comes from coordinated contracts, not from collapsing every component into one model.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8932AF-3AC3-3FF4-B427-84336ED5ED99}"/>
              </a:ext>
            </a:extLst>
          </p:cNvPr>
          <p:cNvSpPr/>
          <p:nvPr/>
        </p:nvSpPr>
        <p:spPr>
          <a:xfrm>
            <a:off x="698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5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376DB0-C246-FB3C-5914-7137B0FFEBA4}"/>
              </a:ext>
            </a:extLst>
          </p:cNvPr>
          <p:cNvSpPr/>
          <p:nvPr/>
        </p:nvSpPr>
        <p:spPr>
          <a:xfrm>
            <a:off x="698500" y="2857500"/>
            <a:ext cx="88900" cy="1333500"/>
          </a:xfrm>
          <a:prstGeom prst="rect">
            <a:avLst/>
          </a:prstGeom>
          <a:solidFill>
            <a:srgbClr val="A65D00"/>
          </a:solidFill>
          <a:ln w="12700">
            <a:solidFill>
              <a:srgbClr val="A65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FF6B7-07C0-F8FF-B47F-7409D8C87B12}"/>
              </a:ext>
            </a:extLst>
          </p:cNvPr>
          <p:cNvSpPr txBox="1"/>
          <p:nvPr/>
        </p:nvSpPr>
        <p:spPr>
          <a:xfrm>
            <a:off x="914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ABDADE-3A7D-648D-717E-736CBB10489C}"/>
              </a:ext>
            </a:extLst>
          </p:cNvPr>
          <p:cNvSpPr txBox="1"/>
          <p:nvPr/>
        </p:nvSpPr>
        <p:spPr>
          <a:xfrm>
            <a:off x="850900" y="35179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Authored email + documents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D21026-49F6-5616-71C8-BA6F85C4A36D}"/>
              </a:ext>
            </a:extLst>
          </p:cNvPr>
          <p:cNvSpPr/>
          <p:nvPr/>
        </p:nvSpPr>
        <p:spPr>
          <a:xfrm>
            <a:off x="2984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1BF74-F385-AD5A-C023-C8FE6D24F390}"/>
              </a:ext>
            </a:extLst>
          </p:cNvPr>
          <p:cNvSpPr/>
          <p:nvPr/>
        </p:nvSpPr>
        <p:spPr>
          <a:xfrm>
            <a:off x="2984500" y="2857500"/>
            <a:ext cx="88900" cy="13335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B264DA-1298-621B-A8E5-54E13715D023}"/>
              </a:ext>
            </a:extLst>
          </p:cNvPr>
          <p:cNvSpPr txBox="1"/>
          <p:nvPr/>
        </p:nvSpPr>
        <p:spPr>
          <a:xfrm>
            <a:off x="3200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Fabric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7D8EF-5C6F-5343-1EF9-1C462340337F}"/>
              </a:ext>
            </a:extLst>
          </p:cNvPr>
          <p:cNvSpPr txBox="1"/>
          <p:nvPr/>
        </p:nvSpPr>
        <p:spPr>
          <a:xfrm>
            <a:off x="3136900" y="35179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Lakehouse + Semantic Model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81E402-20D6-391D-3CC2-6B912214169B}"/>
              </a:ext>
            </a:extLst>
          </p:cNvPr>
          <p:cNvSpPr/>
          <p:nvPr/>
        </p:nvSpPr>
        <p:spPr>
          <a:xfrm>
            <a:off x="5270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7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01F87F-E164-1D09-977C-E9881D8F98C3}"/>
              </a:ext>
            </a:extLst>
          </p:cNvPr>
          <p:cNvSpPr/>
          <p:nvPr/>
        </p:nvSpPr>
        <p:spPr>
          <a:xfrm>
            <a:off x="5270500" y="2857500"/>
            <a:ext cx="88900" cy="1333500"/>
          </a:xfrm>
          <a:prstGeom prst="rect">
            <a:avLst/>
          </a:prstGeom>
          <a:solidFill>
            <a:srgbClr val="147A52"/>
          </a:solidFill>
          <a:ln w="12700">
            <a:solidFill>
              <a:srgbClr val="147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4910C6-CAFA-699F-491E-5727D74BFA04}"/>
              </a:ext>
            </a:extLst>
          </p:cNvPr>
          <p:cNvSpPr txBox="1"/>
          <p:nvPr/>
        </p:nvSpPr>
        <p:spPr>
          <a:xfrm>
            <a:off x="5486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Data Agent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2C07C-FCF8-82E0-723B-BA49AA48A416}"/>
              </a:ext>
            </a:extLst>
          </p:cNvPr>
          <p:cNvSpPr txBox="1"/>
          <p:nvPr/>
        </p:nvSpPr>
        <p:spPr>
          <a:xfrm>
            <a:off x="5422900" y="3517900"/>
            <a:ext cx="142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Governed retrieval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75A732E-3E0A-D485-C1F9-9C649C3C437B}"/>
              </a:ext>
            </a:extLst>
          </p:cNvPr>
          <p:cNvSpPr/>
          <p:nvPr/>
        </p:nvSpPr>
        <p:spPr>
          <a:xfrm>
            <a:off x="7556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9331A9-8D8F-1A1E-2A29-FE1ABD7DD4CC}"/>
              </a:ext>
            </a:extLst>
          </p:cNvPr>
          <p:cNvSpPr/>
          <p:nvPr/>
        </p:nvSpPr>
        <p:spPr>
          <a:xfrm>
            <a:off x="7556500" y="2857500"/>
            <a:ext cx="88900" cy="133350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D8E06C-5015-9342-94DC-C05B1BBC692E}"/>
              </a:ext>
            </a:extLst>
          </p:cNvPr>
          <p:cNvSpPr txBox="1"/>
          <p:nvPr/>
        </p:nvSpPr>
        <p:spPr>
          <a:xfrm>
            <a:off x="7772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Foundry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C616C3-D7C9-1507-E794-142FF6B746B7}"/>
              </a:ext>
            </a:extLst>
          </p:cNvPr>
          <p:cNvSpPr txBox="1"/>
          <p:nvPr/>
        </p:nvSpPr>
        <p:spPr>
          <a:xfrm>
            <a:off x="7708900" y="3517900"/>
            <a:ext cx="142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Specialists + verifier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DF9245-7922-B6CC-39B0-2CA530EBBA98}"/>
              </a:ext>
            </a:extLst>
          </p:cNvPr>
          <p:cNvSpPr/>
          <p:nvPr/>
        </p:nvSpPr>
        <p:spPr>
          <a:xfrm>
            <a:off x="9842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83E9E6-12A7-D59E-2948-349C7ADDBD1E}"/>
              </a:ext>
            </a:extLst>
          </p:cNvPr>
          <p:cNvSpPr/>
          <p:nvPr/>
        </p:nvSpPr>
        <p:spPr>
          <a:xfrm>
            <a:off x="9842500" y="2857500"/>
            <a:ext cx="88900" cy="13335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DE0D3B-AB00-A0BD-8D11-65D6ACA2BEFF}"/>
              </a:ext>
            </a:extLst>
          </p:cNvPr>
          <p:cNvSpPr txBox="1"/>
          <p:nvPr/>
        </p:nvSpPr>
        <p:spPr>
          <a:xfrm>
            <a:off x="10058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RM Cockpit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1B5E6E-E76D-9CDE-0063-171A54F9833D}"/>
              </a:ext>
            </a:extLst>
          </p:cNvPr>
          <p:cNvSpPr txBox="1"/>
          <p:nvPr/>
        </p:nvSpPr>
        <p:spPr>
          <a:xfrm>
            <a:off x="9994900" y="3517900"/>
            <a:ext cx="142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Artifacts + approval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05AB26-58C9-9F07-1A71-6B5A554CB430}"/>
              </a:ext>
            </a:extLst>
          </p:cNvPr>
          <p:cNvSpPr txBox="1"/>
          <p:nvPr/>
        </p:nvSpPr>
        <p:spPr>
          <a:xfrm>
            <a:off x="2514600" y="33147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B26C6C-C491-E28E-A0EC-C94B98439A99}"/>
              </a:ext>
            </a:extLst>
          </p:cNvPr>
          <p:cNvSpPr txBox="1"/>
          <p:nvPr/>
        </p:nvSpPr>
        <p:spPr>
          <a:xfrm>
            <a:off x="4800600" y="33147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342484-1B31-0E2D-5A63-1368BD838116}"/>
              </a:ext>
            </a:extLst>
          </p:cNvPr>
          <p:cNvSpPr txBox="1"/>
          <p:nvPr/>
        </p:nvSpPr>
        <p:spPr>
          <a:xfrm>
            <a:off x="7086600" y="33147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40B319-25A0-AD94-6949-A4BAF79AFF04}"/>
              </a:ext>
            </a:extLst>
          </p:cNvPr>
          <p:cNvSpPr txBox="1"/>
          <p:nvPr/>
        </p:nvSpPr>
        <p:spPr>
          <a:xfrm>
            <a:off x="9372600" y="33147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C594EC0-9EC6-C629-AD66-C833E241D21B}"/>
              </a:ext>
            </a:extLst>
          </p:cNvPr>
          <p:cNvSpPr/>
          <p:nvPr/>
        </p:nvSpPr>
        <p:spPr>
          <a:xfrm>
            <a:off x="2286000" y="4889500"/>
            <a:ext cx="7620000" cy="7239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F6AF4E-E9D8-5DA4-CCCC-F749F8573A1A}"/>
              </a:ext>
            </a:extLst>
          </p:cNvPr>
          <p:cNvSpPr txBox="1"/>
          <p:nvPr/>
        </p:nvSpPr>
        <p:spPr>
          <a:xfrm>
            <a:off x="2603500" y="5130800"/>
            <a:ext cx="698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8F001A"/>
                </a:solidFill>
                <a:latin typeface="Aptos" panose="020B0004020202020204" pitchFamily="34" charset="0"/>
              </a:rPr>
              <a:t>Managed identity · Delegated access · Source IDs · Direct DAX validation · Human review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1035D18-649B-9D9F-D1B4-1379ED63D89D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D801C8C-1F9B-4587-CED0-57274207DC93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F1567E-06D9-5B8A-6AA9-1451707BB930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7411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F8BE4A-9892-D59F-E00B-D83F4819C2C1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GOVERNANCE BY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F50DFF-E34D-3402-6C01-05F6E56A9319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What the intelligent system will not 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8F94D-DB79-7804-7D41-1F4124EA9015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Boundaries are part of the product experience, not a disclaimer added at the end.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2290CF-0F97-A667-EEB0-EA25B2B6774C}"/>
              </a:ext>
            </a:extLst>
          </p:cNvPr>
          <p:cNvSpPr/>
          <p:nvPr/>
        </p:nvSpPr>
        <p:spPr>
          <a:xfrm>
            <a:off x="762000" y="2222500"/>
            <a:ext cx="5143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AD908-4D8C-C2BE-782A-3D4FD381785F}"/>
              </a:ext>
            </a:extLst>
          </p:cNvPr>
          <p:cNvSpPr/>
          <p:nvPr/>
        </p:nvSpPr>
        <p:spPr>
          <a:xfrm>
            <a:off x="762000" y="2222500"/>
            <a:ext cx="88900" cy="139700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82548-9137-0F48-412A-F11697859705}"/>
              </a:ext>
            </a:extLst>
          </p:cNvPr>
          <p:cNvSpPr txBox="1"/>
          <p:nvPr/>
        </p:nvSpPr>
        <p:spPr>
          <a:xfrm>
            <a:off x="1066800" y="2476500"/>
            <a:ext cx="444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No hidden reasoning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88837-3A20-B3C6-DEB0-8C96C4148680}"/>
              </a:ext>
            </a:extLst>
          </p:cNvPr>
          <p:cNvSpPr txBox="1"/>
          <p:nvPr/>
        </p:nvSpPr>
        <p:spPr>
          <a:xfrm>
            <a:off x="1066800" y="28956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Expose evidence and concise rationale, never private chain-of-thought.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D0E385-9DA3-2350-5F72-4A4FA655B782}"/>
              </a:ext>
            </a:extLst>
          </p:cNvPr>
          <p:cNvSpPr/>
          <p:nvPr/>
        </p:nvSpPr>
        <p:spPr>
          <a:xfrm>
            <a:off x="6286500" y="2222500"/>
            <a:ext cx="5143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A32EA-FF84-E0DD-9D29-77F4388B2E9C}"/>
              </a:ext>
            </a:extLst>
          </p:cNvPr>
          <p:cNvSpPr/>
          <p:nvPr/>
        </p:nvSpPr>
        <p:spPr>
          <a:xfrm>
            <a:off x="6286500" y="2222500"/>
            <a:ext cx="88900" cy="13970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F12051-0068-5BD2-E2F1-8E0E96A56871}"/>
              </a:ext>
            </a:extLst>
          </p:cNvPr>
          <p:cNvSpPr txBox="1"/>
          <p:nvPr/>
        </p:nvSpPr>
        <p:spPr>
          <a:xfrm>
            <a:off x="6591300" y="2476500"/>
            <a:ext cx="444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No unsupported facts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A95618-5CD5-4350-A67A-196516732612}"/>
              </a:ext>
            </a:extLst>
          </p:cNvPr>
          <p:cNvSpPr txBox="1"/>
          <p:nvPr/>
        </p:nvSpPr>
        <p:spPr>
          <a:xfrm>
            <a:off x="6591300" y="28956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Fail closed when governed client evidence is missing.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D412EE-7B6E-AED1-61ED-E3717F4A1D5C}"/>
              </a:ext>
            </a:extLst>
          </p:cNvPr>
          <p:cNvSpPr/>
          <p:nvPr/>
        </p:nvSpPr>
        <p:spPr>
          <a:xfrm>
            <a:off x="762000" y="3937000"/>
            <a:ext cx="5143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452416-D5BD-C3CE-FCF1-575F544601BA}"/>
              </a:ext>
            </a:extLst>
          </p:cNvPr>
          <p:cNvSpPr/>
          <p:nvPr/>
        </p:nvSpPr>
        <p:spPr>
          <a:xfrm>
            <a:off x="762000" y="3937000"/>
            <a:ext cx="88900" cy="1397000"/>
          </a:xfrm>
          <a:prstGeom prst="rect">
            <a:avLst/>
          </a:prstGeom>
          <a:solidFill>
            <a:srgbClr val="A65D00"/>
          </a:solidFill>
          <a:ln w="12700">
            <a:solidFill>
              <a:srgbClr val="A65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ED1E97-73C5-E1FB-1235-F1326B3551F9}"/>
              </a:ext>
            </a:extLst>
          </p:cNvPr>
          <p:cNvSpPr txBox="1"/>
          <p:nvPr/>
        </p:nvSpPr>
        <p:spPr>
          <a:xfrm>
            <a:off x="1066800" y="4191000"/>
            <a:ext cx="444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No suitability shortcut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8F026-805F-E379-A8C3-55038CE86E85}"/>
              </a:ext>
            </a:extLst>
          </p:cNvPr>
          <p:cNvSpPr txBox="1"/>
          <p:nvPr/>
        </p:nvSpPr>
        <p:spPr>
          <a:xfrm>
            <a:off x="1066800" y="46101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KYC, consent, objectives, liquidity, horizon and risk remain gates.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C3D8FE-0D97-63ED-0B3D-B4D39642E1ED}"/>
              </a:ext>
            </a:extLst>
          </p:cNvPr>
          <p:cNvSpPr/>
          <p:nvPr/>
        </p:nvSpPr>
        <p:spPr>
          <a:xfrm>
            <a:off x="6286500" y="3937000"/>
            <a:ext cx="5143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D106B1-BF2C-BEFE-28CE-E208459B00E4}"/>
              </a:ext>
            </a:extLst>
          </p:cNvPr>
          <p:cNvSpPr/>
          <p:nvPr/>
        </p:nvSpPr>
        <p:spPr>
          <a:xfrm>
            <a:off x="6286500" y="3937000"/>
            <a:ext cx="88900" cy="1397000"/>
          </a:xfrm>
          <a:prstGeom prst="rect">
            <a:avLst/>
          </a:prstGeom>
          <a:solidFill>
            <a:srgbClr val="147A52"/>
          </a:solidFill>
          <a:ln w="12700">
            <a:solidFill>
              <a:srgbClr val="147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0159D4-3DAE-CD98-72E7-52F7F9F8744D}"/>
              </a:ext>
            </a:extLst>
          </p:cNvPr>
          <p:cNvSpPr txBox="1"/>
          <p:nvPr/>
        </p:nvSpPr>
        <p:spPr>
          <a:xfrm>
            <a:off x="6591300" y="4191000"/>
            <a:ext cx="444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No autonomous execution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B3E765-9395-B847-5818-9948626195B6}"/>
              </a:ext>
            </a:extLst>
          </p:cNvPr>
          <p:cNvSpPr txBox="1"/>
          <p:nvPr/>
        </p:nvSpPr>
        <p:spPr>
          <a:xfrm>
            <a:off x="6591300" y="46101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Drafted, not sent. Prepared for CRM, not committed.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6BC823-70A0-93D0-BAF0-4F9DDDD49D32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32C1D6-E4A1-2768-F314-BB3435377CF1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6CEFBB-5EBF-7D9C-EAF7-E6893A6C5119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76340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E47DF-CAAA-DA52-D3DC-349CD8B651DB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THE SHIFT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3DC05-7938-7F3F-A10D-6ABDC9F74B20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From application navigation to client judgment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1C448-6925-A4F3-4EAA-18158A7F1F95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system returns time and attention to the work only the RM can do.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A4E52-CBC9-812E-2E47-B4EDCA51CF9F}"/>
              </a:ext>
            </a:extLst>
          </p:cNvPr>
          <p:cNvSpPr txBox="1"/>
          <p:nvPr/>
        </p:nvSpPr>
        <p:spPr>
          <a:xfrm>
            <a:off x="1143000" y="2387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BEFORE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F8321-7D86-105E-F73B-99497E5439FB}"/>
              </a:ext>
            </a:extLst>
          </p:cNvPr>
          <p:cNvSpPr txBox="1"/>
          <p:nvPr/>
        </p:nvSpPr>
        <p:spPr>
          <a:xfrm>
            <a:off x="1016000" y="2857500"/>
            <a:ext cx="3175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Search for context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Reconcile conflicting signals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Draft from a blank page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Document provenance manually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431DE2F-5E28-BC88-BDAE-84A03C234D1C}"/>
              </a:ext>
            </a:extLst>
          </p:cNvPr>
          <p:cNvSpPr/>
          <p:nvPr/>
        </p:nvSpPr>
        <p:spPr>
          <a:xfrm>
            <a:off x="5295900" y="3111500"/>
            <a:ext cx="1587500" cy="1143000"/>
          </a:xfrm>
          <a:prstGeom prst="chevron">
            <a:avLst/>
          </a:prstGeom>
          <a:solidFill>
            <a:srgbClr val="B000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121EA-6568-14D2-03F8-ACE1351ABD1C}"/>
              </a:ext>
            </a:extLst>
          </p:cNvPr>
          <p:cNvSpPr txBox="1"/>
          <p:nvPr/>
        </p:nvSpPr>
        <p:spPr>
          <a:xfrm>
            <a:off x="8255000" y="23876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B00020"/>
                </a:solidFill>
                <a:latin typeface="Aptos" panose="020B0004020202020204" pitchFamily="34" charset="0"/>
              </a:rPr>
              <a:t>WITH FRONTIER 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DEC63-C67C-04B7-3158-FADE96606A91}"/>
              </a:ext>
            </a:extLst>
          </p:cNvPr>
          <p:cNvSpPr txBox="1"/>
          <p:nvPr/>
        </p:nvSpPr>
        <p:spPr>
          <a:xfrm>
            <a:off x="7874000" y="2857500"/>
            <a:ext cx="3429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Priorities already sequenced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Evidence already connected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Artifacts already prepared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Judgment remains with John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1703C1-BF0C-48B6-9812-646D52694C5D}"/>
              </a:ext>
            </a:extLst>
          </p:cNvPr>
          <p:cNvSpPr/>
          <p:nvPr/>
        </p:nvSpPr>
        <p:spPr>
          <a:xfrm>
            <a:off x="2159000" y="5257800"/>
            <a:ext cx="7874000" cy="6985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92AC99-051B-12CD-AE07-4B1F0E9DD92D}"/>
              </a:ext>
            </a:extLst>
          </p:cNvPr>
          <p:cNvSpPr txBox="1"/>
          <p:nvPr/>
        </p:nvSpPr>
        <p:spPr>
          <a:xfrm>
            <a:off x="2603500" y="5486400"/>
            <a:ext cx="698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More time for trust, advice and the client relationship.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45EFF5-5DD1-7D6F-6DBA-7B4D72F09784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E57B8AD-34D5-E65E-4D50-9A56D320D069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802F48-4C48-4617-100C-B4D4BF0E9921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89491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0E8784-B561-4895-3E86-D5A4A73E4A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351DC-343D-597B-6017-7B10A6EE691F}"/>
              </a:ext>
            </a:extLst>
          </p:cNvPr>
          <p:cNvSpPr txBox="1"/>
          <p:nvPr/>
        </p:nvSpPr>
        <p:spPr>
          <a:xfrm>
            <a:off x="787400" y="8890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4B0B8"/>
                </a:solidFill>
                <a:latin typeface="Aptos" panose="020B0004020202020204" pitchFamily="34" charset="0"/>
              </a:rPr>
              <a:t>THE QUESTION WE STARTED WITH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218168-98B0-9E92-5C58-7AA9E77499FF}"/>
              </a:ext>
            </a:extLst>
          </p:cNvPr>
          <p:cNvSpPr txBox="1"/>
          <p:nvPr/>
        </p:nvSpPr>
        <p:spPr>
          <a:xfrm>
            <a:off x="787400" y="1524000"/>
            <a:ext cx="10287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000" b="1">
                <a:solidFill>
                  <a:srgbClr val="FFFFFF"/>
                </a:solidFill>
                <a:latin typeface="Aptos Display" panose="020B0004020202020204" pitchFamily="34" charset="0"/>
              </a:rPr>
              <a:t>What would a day in the life of a Relationship Manager look like…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33357-6813-006B-3D6A-7B3455CBD7CA}"/>
              </a:ext>
            </a:extLst>
          </p:cNvPr>
          <p:cNvSpPr txBox="1"/>
          <p:nvPr/>
        </p:nvSpPr>
        <p:spPr>
          <a:xfrm>
            <a:off x="787400" y="2794000"/>
            <a:ext cx="965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500" b="1">
                <a:solidFill>
                  <a:srgbClr val="FF7188"/>
                </a:solidFill>
                <a:latin typeface="Aptos Display" panose="020B0004020202020204" pitchFamily="34" charset="0"/>
              </a:rPr>
              <a:t>…if the bank worked as one intelligent system?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3A36F0-DD94-2FDE-5758-A820E99CC9AA}"/>
              </a:ext>
            </a:extLst>
          </p:cNvPr>
          <p:cNvSpPr/>
          <p:nvPr/>
        </p:nvSpPr>
        <p:spPr>
          <a:xfrm>
            <a:off x="787400" y="4292600"/>
            <a:ext cx="10414000" cy="2540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1C475-389E-2E6B-AF33-EAF868B327FD}"/>
              </a:ext>
            </a:extLst>
          </p:cNvPr>
          <p:cNvSpPr txBox="1"/>
          <p:nvPr/>
        </p:nvSpPr>
        <p:spPr>
          <a:xfrm>
            <a:off x="787400" y="4724400"/>
            <a:ext cx="1016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Aptos" panose="020B0004020202020204" pitchFamily="34" charset="0"/>
              </a:rPr>
              <a:t>It looks like evidence arriving before the question, artifacts arriving before the blank page, and human judgment remaining in control.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1FDD3-13A5-B6BC-85DE-9F2B40D9BF4D}"/>
              </a:ext>
            </a:extLst>
          </p:cNvPr>
          <p:cNvSpPr txBox="1"/>
          <p:nvPr/>
        </p:nvSpPr>
        <p:spPr>
          <a:xfrm>
            <a:off x="787400" y="60325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4B0B8"/>
                </a:solidFill>
                <a:latin typeface="Aptos" panose="020B0004020202020204" pitchFamily="34" charset="0"/>
              </a:rPr>
              <a:t>FRONTIER RM · DATA + KNOWLEDGE + APPLICATIONS + AI</a:t>
            </a:r>
          </a:p>
        </p:txBody>
      </p:sp>
    </p:spTree>
    <p:extLst>
      <p:ext uri="{BB962C8B-B14F-4D97-AF65-F5344CB8AC3E}">
        <p14:creationId xmlns:p14="http://schemas.microsoft.com/office/powerpoint/2010/main" val="407920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1719</Words>
  <Application>Microsoft Office PowerPoint</Application>
  <PresentationFormat>Custom</PresentationFormat>
  <Paragraphs>256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Anand</dc:creator>
  <cp:lastModifiedBy>Nikhil Anand</cp:lastModifiedBy>
  <cp:revision>1</cp:revision>
  <dcterms:created xsi:type="dcterms:W3CDTF">2026-08-14T00:09:31Z</dcterms:created>
  <dcterms:modified xsi:type="dcterms:W3CDTF">2026-08-14T00:09:31Z</dcterms:modified>
</cp:coreProperties>
</file>