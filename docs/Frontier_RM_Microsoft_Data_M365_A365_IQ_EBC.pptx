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31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BC366D-0770-42F9-8737-D620FC1F00A0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0C95F2-0403-4E40-9EF0-7BE6A2F95F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6026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Open with the EBC question: what changes when data, knowledge, applications and AI work as one governed system? This deck combines concepts restyled from the Fabric IQ L100 and NewPresentation_v1 source decks with verified Frontier deployment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0C95F2-0403-4E40-9EF0-7BE6A2F95FFB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12061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Preview the five acts. The RM story is the through-line; platform sections explain why the experience is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0C95F2-0403-4E40-9EF0-7BE6A2F95FFB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54018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Introduce John Doe as a fictional Singapore Premier RM. Human judgment and accountability remain in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0C95F2-0403-4E40-9EF0-7BE6A2F95FFB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5431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Describe swivel-chair work. Avoid naming customer systems not represented in the demo. Source concept: Fabric IQ L100 slides 7-10, adapted to RM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0C95F2-0403-4E40-9EF0-7BE6A2F95FFB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54849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Use Daniel Lim as the primary through-line. This timeline mirrors the Guided Story and live-demo sequence.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0C95F2-0403-4E40-9EF0-7BE6A2F95FFB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74107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Insert a Guided Story opening or montage. Launch with ?present=1. After the story say: now let me show the working system behind each moment.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0C95F2-0403-4E40-9EF0-7BE6A2F95FFB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06368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Show the Today page. Metrics are interactive reports; the signal feed is fictional demo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0C95F2-0403-4E40-9EF0-7BE6A2F95FFB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43602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Show Daniel Lim. Declared Investment Risk Profile is separate from activity-derived Observed Behaviour. Activity may trigger review but cannot rewrite the declared 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0C95F2-0403-4E40-9EF0-7BE6A2F95FFB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84425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Explain stage locks and human review. Nothing is sent, committed, or transacted.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0C95F2-0403-4E40-9EF0-7BE6A2F95FFB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68756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Use the same Daniel stage in both modes. Without IQ is not wrong; it is deliberately less informed. Fabric IQ does not guarantee suitability or compliance.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0C95F2-0403-4E40-9EF0-7BE6A2F95FFB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78360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Current demo uses authored fictional Outlook/SharePoint-style sources, not live Microsoft Graph retrieval. Copilot is persistent and grounded in approved 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0C95F2-0403-4E40-9EF0-7BE6A2F95FFB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13805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Show Daniel; optionally use Mei for retirement enhanced review. The internal FAA-N16 pack is not the official notice or legal advice.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0C95F2-0403-4E40-9EF0-7BE6A2F95FFB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22788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Show verified, revision-required, and rehearsal runs. Captured replay is not continuous execution and does not expose private reasoning.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0C95F2-0403-4E40-9EF0-7BE6A2F95FFB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73147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Avoid claiming measured productivity gains. Frame these as designed workflow shifts.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0C95F2-0403-4E40-9EF0-7BE6A2F95FFB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73564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Transition from the business proof to the broader Microsoft capability landscape. Not every service shown is deployed in Frontier.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0C95F2-0403-4E40-9EF0-7BE6A2F95FFB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2556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This is broader Microsoft capability context, not the Frontier bill of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0C95F2-0403-4E40-9EF0-7BE6A2F95FFB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31201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Capability landscape only. Frontier currently uses Fabric Lakehouse and related Azure services; do not imply every service is deployed.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0C95F2-0403-4E40-9EF0-7BE6A2F95FFB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19511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Restyled from source decks: Fabric IQ L100 slides 14-15 and NewPresentation slide 5. Describe platform capability, then connect to Frontier deployment on slide 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0C95F2-0403-4E40-9EF0-7BE6A2F95FFB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88872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Restyled from NewPresentation slide 7. Avoid saying zero ETL universally; describe shortcuts and mirroring as capability options.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0C95F2-0403-4E40-9EF0-7BE6A2F95FFB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736958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Verified Frontier deployment: 21 Bronze, 21 Silver, 12 Gold tables. The cockpit serves a validated checked-in snapshot rather than querying Fabric on every page 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0C95F2-0403-4E40-9EF0-7BE6A2F95FFB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896910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Verified model: 12 tables, 11 measures, Direct Lake, DAX-validated. Direct DAX remains authoritative for hidden identifiers and monetary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0C95F2-0403-4E40-9EF0-7BE6A2F95FFB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60678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Bridge to Microsoft 365 and Agent 365. The next section distinguishes work context from data context and agent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0C95F2-0403-4E40-9EF0-7BE6A2F95FFB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8290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New first-class section informed by NewPresentation slides 20-24. Agent 365 deployment wording remains evidence-gated.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0C95F2-0403-4E40-9EF0-7BE6A2F95FFB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692627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Restyled from NewPresentation slides 20-22. This is Microsoft platform capability. Frontier uses authored source patterns and an authenticated Teams bot, not live Graph retrieval.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0C95F2-0403-4E40-9EF0-7BE6A2F95FFB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725418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Restyled from NewPresentation slides 23-24. Use capability language; avoid claiming Work IQ is integrated into the current Frontier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0C95F2-0403-4E40-9EF0-7BE6A2F95FFB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853389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Current implementation: authored Outlook/SharePoint-style sources and authenticated Teams bot. Target capability: production Microsoft 365 connections under tenant policy.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0C95F2-0403-4E40-9EF0-7BE6A2F95FFB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864741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Agent 365 is requested as deployed but evidence is not yet present in the Frontier inventory. Present as capability/target state until registration or control-plane evidence is supplied.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0C95F2-0403-4E40-9EF0-7BE6A2F95FFB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896618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Replace with verified Agent 365 registry evidence when provided. Until then, the status banner must remain evidence pending.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0C95F2-0403-4E40-9EF0-7BE6A2F95FFB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803713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Connect this target control-plane pattern to verified Frontier controls: managed identity, scoped tools, deterministic gates, and human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0C95F2-0403-4E40-9EF0-7BE6A2F95FFB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969077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Insert Agent 365 operations evidence if available. Current Frontier Operations page shows deployed health, synthetic telemetry, and captured replay, not Agent 365 control-plane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0C95F2-0403-4E40-9EF0-7BE6A2F95FFB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86697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All current statuses are verified deployed in Foundry/Fabric, but Agent 365 management is evidence pending. Update this slide only after supplied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0C95F2-0403-4E40-9EF0-7BE6A2F95FFB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003146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Transition from work/agent context to Fabric IQ business context. Source concepts: Fabric IQ L100 slides 11-13 and 17-20.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0C95F2-0403-4E40-9EF0-7BE6A2F95FFB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316298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Restyled from L100 slides 17-20. Keep claims at executive level and distinguish deployed Frontier subset from wider platform capability.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0C95F2-0403-4E40-9EF0-7BE6A2F95FFB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96518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Verified Frontier Ontology definition: 15 entities, 13 relationships, 15 bindings, 58 parts. Graph routing remains disabled pending readiness. Source concepts: L100 slides 32-34.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0C95F2-0403-4E40-9EF0-7BE6A2F95FFB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410480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Show how Fabric and IQ complement M365 work context and Agent 365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0C95F2-0403-4E40-9EF0-7BE6A2F95FFB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384323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Mirror the live toggle. Do not say general mode is wrong or IQ mode is automatically compliant.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0C95F2-0403-4E40-9EF0-7BE6A2F95FFB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602967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Verified: semantic-model-only Fabric Data Agent and four Foundry agents. Agent 365 band remains evidence pending. Source concepts: L100 slides 25-26 and 36.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0C95F2-0403-4E40-9EF0-7BE6A2F95FFB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852311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Verified deployed path: authored sources, Fabric medallion, Direct Lake model, Ontology definition, Data Agent, Foundry agents, managed-identity Azure OpenAI, Container Apps/Teams, RM cockpit. Agent 365 is not shown as deployed until evidence arrives.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0C95F2-0403-4E40-9EF0-7BE6A2F95FFB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73470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Close the platform tour. Next step should be framed as prioritization and validation, not an assumed production rollout.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0C95F2-0403-4E40-9EF0-7BE6A2F95FFB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122485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Final close: the value is not another chatbot. It is a governed operating system for RM work. Agent 365 deployment language remains evidence-gated until verified.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0C95F2-0403-4E40-9EF0-7BE6A2F95FFB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34674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14BAD-71E5-C0B2-0D8F-830D436E52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0486A3-C5E0-8954-ABCA-EE249DB50D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0CDC1-02DC-BA4A-7559-E01F5CE29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130-FA35-47B3-B3FD-D09CC70D9892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1D5B5C-2BBB-5243-BE15-1D4DE2471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9C5F42-78B2-28B2-E00A-749177D9F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37B53-3F25-488A-8DD1-8C59BFB199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5653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65EDA-8992-9F52-3B0F-5ADC2486B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4E7A9-475A-BE2A-F910-C2ADABEB3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BE1964-94BD-81F4-E1EC-CE8CE45BC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130-FA35-47B3-B3FD-D09CC70D9892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90590-AE9B-E3A5-0B3A-EE9014DA3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CD7BA-B2B1-8A1F-893D-BA54F14B0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37B53-3F25-488A-8DD1-8C59BFB199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8223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86632-AC59-5D93-52D3-EDD511F08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FBA347-529B-2E70-10A6-AA2010BD84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8784F-18AA-14A4-3A30-D2789B8C4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130-FA35-47B3-B3FD-D09CC70D9892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A872EB-09B7-B9A4-140F-07EA60D85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327DA9-0DCE-C82B-F518-FB0D9C235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37B53-3F25-488A-8DD1-8C59BFB199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2648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6A6A3-B32B-DC56-8972-066329D9A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705C0-F769-4B9C-B9CF-310092385C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84E9B4-3E41-0C9D-5B81-D3A128F9C9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7D03B1-1EBB-2D6D-AC00-26F84F7BD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130-FA35-47B3-B3FD-D09CC70D9892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2F67FA-818C-D053-8E37-738B2005A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BD1214-4FA5-E13F-4908-8AC51946A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37B53-3F25-488A-8DD1-8C59BFB199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4892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140E6-D234-46B0-804C-D94EA7F3F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755427-963A-CE58-36BB-DD057625A2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3A518A-0F66-1C66-C5D6-9F90BE2873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692792-5679-8ACA-9D1C-5627111D3F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F79276-DCFC-4427-0A1B-04DE3B2C93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E986CC-8DFE-8204-1D69-0C96DC25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130-FA35-47B3-B3FD-D09CC70D9892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16D914-2695-4C06-D735-16C06FB33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407584-24E4-402D-2192-653BDC1B6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37B53-3F25-488A-8DD1-8C59BFB199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2548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F867D-19C4-5E49-9F26-F5A963402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083370-8D63-7A65-55C6-DEAA8F115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130-FA35-47B3-B3FD-D09CC70D9892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2C15EA-A64F-E5F9-7334-D7FDFF675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9AB56C-AE82-76E0-B1BB-12B9DC28A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37B53-3F25-488A-8DD1-8C59BFB199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4891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0A17C9-F6A3-3E96-BF05-99DD82B6F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130-FA35-47B3-B3FD-D09CC70D9892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C472E2-A80B-5E05-0575-EB49D385E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E2A823-C595-E5A3-E89B-8A1FD765C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37B53-3F25-488A-8DD1-8C59BFB199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4083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D5CFE-DAF6-4426-EAF2-AC9BF936F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39B62-FE75-BD6C-06B1-29EAC78DFE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677F33-B7ED-0AA2-F0F6-7ADD713F0A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F2247F-D4A1-53FF-ACAB-E08F5B8B6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130-FA35-47B3-B3FD-D09CC70D9892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B8C5D2-8EE0-DA25-F860-4F1AD33F4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D6705A-8733-DCA0-17AF-B88307211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37B53-3F25-488A-8DD1-8C59BFB199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66803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88173-6ACD-5EF3-955A-79A4FCC3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61257A-1230-5041-5E91-DA771BD80F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565387-9B3F-CCA2-10DF-BC20F8EF0E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850208-B5C1-AE2D-7068-ED2548597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130-FA35-47B3-B3FD-D09CC70D9892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46EDDF-FF15-3EE0-5187-DFA9FBB9D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7D1C7A-ABE1-1656-2967-BEBB3BBC1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37B53-3F25-488A-8DD1-8C59BFB199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4994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D1776-9C1A-E545-D679-842967C13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64ED94-4152-4EDE-7FA7-64409D22F8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03340E-2A08-FFCC-1C5C-AA7879CDA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130-FA35-47B3-B3FD-D09CC70D9892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283BA-0E32-4964-D7E3-CA3C12CBC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53024-A30D-F893-537E-D77549AAC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37B53-3F25-488A-8DD1-8C59BFB199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5691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B357FF-875A-49E6-BCEC-018E3DAC1E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9ECC38-5835-C134-42B8-0F37B4CFE2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DE293F-6149-2343-9D21-F72BDA4CB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130-FA35-47B3-B3FD-D09CC70D9892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E25CD-E88C-6EDD-5863-2619A4882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BC096-D44D-754F-5AF1-BB65C8E1D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37B53-3F25-488A-8DD1-8C59BFB199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9649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9583CE-56FF-3AC2-54F7-2B1504ADA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A465D0-8596-5E51-0EDA-0F85F9BA3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469A40-210D-4EF5-C051-E033624DA8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B44130-FA35-47B3-B3FD-D09CC70D9892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6196FE-8D7D-2E40-7650-BC9A250739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F37AB-B47A-27F5-DE7B-E4A2C97E66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837B53-3F25-488A-8DD1-8C59BFB199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242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15A4E85-307E-7C31-51DF-7C7B85355D6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E2B30"/>
          </a:solidFill>
          <a:ln w="12700">
            <a:solidFill>
              <a:srgbClr val="2E2B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542F3B7-6AE6-EC1A-C37E-A5B20B066B5A}"/>
              </a:ext>
            </a:extLst>
          </p:cNvPr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19050" cap="flat" cmpd="sng" algn="ctr">
            <a:solidFill>
              <a:srgbClr val="48444A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5168E13-48DA-BFDF-6020-888C979FFFBC}"/>
              </a:ext>
            </a:extLst>
          </p:cNvPr>
          <p:cNvCxnSpPr/>
          <p:nvPr/>
        </p:nvCxnSpPr>
        <p:spPr>
          <a:xfrm>
            <a:off x="609600" y="0"/>
            <a:ext cx="0" cy="6858000"/>
          </a:xfrm>
          <a:prstGeom prst="line">
            <a:avLst/>
          </a:prstGeom>
          <a:ln w="19050" cap="flat" cmpd="sng" algn="ctr">
            <a:solidFill>
              <a:srgbClr val="48444A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79D7A87-FBE2-CFB3-CBBB-714199603327}"/>
              </a:ext>
            </a:extLst>
          </p:cNvPr>
          <p:cNvCxnSpPr/>
          <p:nvPr/>
        </p:nvCxnSpPr>
        <p:spPr>
          <a:xfrm>
            <a:off x="1219200" y="0"/>
            <a:ext cx="0" cy="6858000"/>
          </a:xfrm>
          <a:prstGeom prst="line">
            <a:avLst/>
          </a:prstGeom>
          <a:ln w="19050" cap="flat" cmpd="sng" algn="ctr">
            <a:solidFill>
              <a:srgbClr val="48444A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D24978B-F777-CBD2-A204-3D1835E7BE0B}"/>
              </a:ext>
            </a:extLst>
          </p:cNvPr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19050" cap="flat" cmpd="sng" algn="ctr">
            <a:solidFill>
              <a:srgbClr val="48444A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0FDB50-4171-DFD5-8E1E-0AFC9744EDB2}"/>
              </a:ext>
            </a:extLst>
          </p:cNvPr>
          <p:cNvCxnSpPr/>
          <p:nvPr/>
        </p:nvCxnSpPr>
        <p:spPr>
          <a:xfrm>
            <a:off x="2438400" y="0"/>
            <a:ext cx="0" cy="6858000"/>
          </a:xfrm>
          <a:prstGeom prst="line">
            <a:avLst/>
          </a:prstGeom>
          <a:ln w="19050" cap="flat" cmpd="sng" algn="ctr">
            <a:solidFill>
              <a:srgbClr val="48444A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3D8BBE-5A40-AA18-0265-D1D2A8816D7F}"/>
              </a:ext>
            </a:extLst>
          </p:cNvPr>
          <p:cNvCxnSpPr/>
          <p:nvPr/>
        </p:nvCxnSpPr>
        <p:spPr>
          <a:xfrm>
            <a:off x="3048000" y="0"/>
            <a:ext cx="0" cy="6858000"/>
          </a:xfrm>
          <a:prstGeom prst="line">
            <a:avLst/>
          </a:prstGeom>
          <a:ln w="19050" cap="flat" cmpd="sng" algn="ctr">
            <a:solidFill>
              <a:srgbClr val="48444A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26EFCCD-3BE9-F8D1-00C2-339B8874189E}"/>
              </a:ext>
            </a:extLst>
          </p:cNvPr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19050" cap="flat" cmpd="sng" algn="ctr">
            <a:solidFill>
              <a:srgbClr val="48444A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4B03664-2D2E-696C-2D43-C3D20933FB83}"/>
              </a:ext>
            </a:extLst>
          </p:cNvPr>
          <p:cNvCxnSpPr/>
          <p:nvPr/>
        </p:nvCxnSpPr>
        <p:spPr>
          <a:xfrm>
            <a:off x="4267200" y="0"/>
            <a:ext cx="0" cy="6858000"/>
          </a:xfrm>
          <a:prstGeom prst="line">
            <a:avLst/>
          </a:prstGeom>
          <a:ln w="19050" cap="flat" cmpd="sng" algn="ctr">
            <a:solidFill>
              <a:srgbClr val="48444A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5051FE-CE84-AA00-EA80-34D473F1AD40}"/>
              </a:ext>
            </a:extLst>
          </p:cNvPr>
          <p:cNvCxnSpPr/>
          <p:nvPr/>
        </p:nvCxnSpPr>
        <p:spPr>
          <a:xfrm>
            <a:off x="4876800" y="0"/>
            <a:ext cx="0" cy="6858000"/>
          </a:xfrm>
          <a:prstGeom prst="line">
            <a:avLst/>
          </a:prstGeom>
          <a:ln w="19050" cap="flat" cmpd="sng" algn="ctr">
            <a:solidFill>
              <a:srgbClr val="48444A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B593F28-5D82-F7AB-1735-53C2C1A989F8}"/>
              </a:ext>
            </a:extLst>
          </p:cNvPr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19050" cap="flat" cmpd="sng" algn="ctr">
            <a:solidFill>
              <a:srgbClr val="48444A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FB3F2A9-A07A-F552-E2E5-39D08CA926F0}"/>
              </a:ext>
            </a:extLst>
          </p:cNvPr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 w="19050" cap="flat" cmpd="sng" algn="ctr">
            <a:solidFill>
              <a:srgbClr val="48444A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A9BAEBB-ABFC-1051-2163-EB69DDCED1D3}"/>
              </a:ext>
            </a:extLst>
          </p:cNvPr>
          <p:cNvCxnSpPr/>
          <p:nvPr/>
        </p:nvCxnSpPr>
        <p:spPr>
          <a:xfrm>
            <a:off x="6705600" y="0"/>
            <a:ext cx="0" cy="6858000"/>
          </a:xfrm>
          <a:prstGeom prst="line">
            <a:avLst/>
          </a:prstGeom>
          <a:ln w="19050" cap="flat" cmpd="sng" algn="ctr">
            <a:solidFill>
              <a:srgbClr val="48444A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642B62E-A531-96DA-037E-217D88613595}"/>
              </a:ext>
            </a:extLst>
          </p:cNvPr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19050" cap="flat" cmpd="sng" algn="ctr">
            <a:solidFill>
              <a:srgbClr val="48444A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D1F8FD1-962F-9500-EE69-4933C4EC675E}"/>
              </a:ext>
            </a:extLst>
          </p:cNvPr>
          <p:cNvCxnSpPr/>
          <p:nvPr/>
        </p:nvCxnSpPr>
        <p:spPr>
          <a:xfrm>
            <a:off x="7924800" y="0"/>
            <a:ext cx="0" cy="6858000"/>
          </a:xfrm>
          <a:prstGeom prst="line">
            <a:avLst/>
          </a:prstGeom>
          <a:ln w="19050" cap="flat" cmpd="sng" algn="ctr">
            <a:solidFill>
              <a:srgbClr val="48444A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4118E27-BDD4-A102-83C9-EF9DF3CF0BDE}"/>
              </a:ext>
            </a:extLst>
          </p:cNvPr>
          <p:cNvCxnSpPr/>
          <p:nvPr/>
        </p:nvCxnSpPr>
        <p:spPr>
          <a:xfrm>
            <a:off x="8534400" y="0"/>
            <a:ext cx="0" cy="6858000"/>
          </a:xfrm>
          <a:prstGeom prst="line">
            <a:avLst/>
          </a:prstGeom>
          <a:ln w="19050" cap="flat" cmpd="sng" algn="ctr">
            <a:solidFill>
              <a:srgbClr val="48444A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48C0D1B-C59C-A528-FC5D-32D5205EEE37}"/>
              </a:ext>
            </a:extLst>
          </p:cNvPr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19050" cap="flat" cmpd="sng" algn="ctr">
            <a:solidFill>
              <a:srgbClr val="48444A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9B4B9C4-ABC7-4FDE-B443-72B7EC8632B5}"/>
              </a:ext>
            </a:extLst>
          </p:cNvPr>
          <p:cNvCxnSpPr/>
          <p:nvPr/>
        </p:nvCxnSpPr>
        <p:spPr>
          <a:xfrm>
            <a:off x="9753600" y="0"/>
            <a:ext cx="0" cy="6858000"/>
          </a:xfrm>
          <a:prstGeom prst="line">
            <a:avLst/>
          </a:prstGeom>
          <a:ln w="19050" cap="flat" cmpd="sng" algn="ctr">
            <a:solidFill>
              <a:srgbClr val="48444A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B1557C4-CDFE-5F17-4C48-9207D82A1660}"/>
              </a:ext>
            </a:extLst>
          </p:cNvPr>
          <p:cNvCxnSpPr/>
          <p:nvPr/>
        </p:nvCxnSpPr>
        <p:spPr>
          <a:xfrm>
            <a:off x="10363200" y="0"/>
            <a:ext cx="0" cy="6858000"/>
          </a:xfrm>
          <a:prstGeom prst="line">
            <a:avLst/>
          </a:prstGeom>
          <a:ln w="19050" cap="flat" cmpd="sng" algn="ctr">
            <a:solidFill>
              <a:srgbClr val="48444A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503F0DD-1FEE-E920-33FE-068C286DA524}"/>
              </a:ext>
            </a:extLst>
          </p:cNvPr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19050" cap="flat" cmpd="sng" algn="ctr">
            <a:solidFill>
              <a:srgbClr val="48444A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760A322-70F2-06AD-FC8F-60AA161EEB22}"/>
              </a:ext>
            </a:extLst>
          </p:cNvPr>
          <p:cNvCxnSpPr/>
          <p:nvPr/>
        </p:nvCxnSpPr>
        <p:spPr>
          <a:xfrm>
            <a:off x="11582400" y="0"/>
            <a:ext cx="0" cy="6858000"/>
          </a:xfrm>
          <a:prstGeom prst="line">
            <a:avLst/>
          </a:prstGeom>
          <a:ln w="19050" cap="flat" cmpd="sng" algn="ctr">
            <a:solidFill>
              <a:srgbClr val="48444A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DBD93A9-176D-51B6-6DFB-38F32E978F1A}"/>
              </a:ext>
            </a:extLst>
          </p:cNvPr>
          <p:cNvCxnSpPr/>
          <p:nvPr/>
        </p:nvCxnSpPr>
        <p:spPr>
          <a:xfrm>
            <a:off x="12192000" y="0"/>
            <a:ext cx="0" cy="6858000"/>
          </a:xfrm>
          <a:prstGeom prst="line">
            <a:avLst/>
          </a:prstGeom>
          <a:ln w="19050" cap="flat" cmpd="sng" algn="ctr">
            <a:solidFill>
              <a:srgbClr val="48444A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850CF19-27D8-A7F8-6782-57EA3891CFC3}"/>
              </a:ext>
            </a:extLst>
          </p:cNvPr>
          <p:cNvCxnSpPr/>
          <p:nvPr/>
        </p:nvCxnSpPr>
        <p:spPr>
          <a:xfrm>
            <a:off x="0" y="0"/>
            <a:ext cx="12192000" cy="0"/>
          </a:xfrm>
          <a:prstGeom prst="line">
            <a:avLst/>
          </a:prstGeom>
          <a:ln w="19050" cap="flat" cmpd="sng" algn="ctr">
            <a:solidFill>
              <a:srgbClr val="48444A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D81727F-A48E-D0E7-953B-7530B8A60CD1}"/>
              </a:ext>
            </a:extLst>
          </p:cNvPr>
          <p:cNvCxnSpPr/>
          <p:nvPr/>
        </p:nvCxnSpPr>
        <p:spPr>
          <a:xfrm>
            <a:off x="0" y="609600"/>
            <a:ext cx="12192000" cy="0"/>
          </a:xfrm>
          <a:prstGeom prst="line">
            <a:avLst/>
          </a:prstGeom>
          <a:ln w="19050" cap="flat" cmpd="sng" algn="ctr">
            <a:solidFill>
              <a:srgbClr val="48444A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597C56F-6DB7-0FBE-B404-3F76DFB3546D}"/>
              </a:ext>
            </a:extLst>
          </p:cNvPr>
          <p:cNvCxnSpPr/>
          <p:nvPr/>
        </p:nvCxnSpPr>
        <p:spPr>
          <a:xfrm>
            <a:off x="0" y="1219200"/>
            <a:ext cx="12192000" cy="0"/>
          </a:xfrm>
          <a:prstGeom prst="line">
            <a:avLst/>
          </a:prstGeom>
          <a:ln w="19050" cap="flat" cmpd="sng" algn="ctr">
            <a:solidFill>
              <a:srgbClr val="48444A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357AAB2-7E4E-7C08-571C-C1ABBCEB896B}"/>
              </a:ext>
            </a:extLst>
          </p:cNvPr>
          <p:cNvCxnSpPr/>
          <p:nvPr/>
        </p:nvCxnSpPr>
        <p:spPr>
          <a:xfrm>
            <a:off x="0" y="1828800"/>
            <a:ext cx="12192000" cy="0"/>
          </a:xfrm>
          <a:prstGeom prst="line">
            <a:avLst/>
          </a:prstGeom>
          <a:ln w="19050" cap="flat" cmpd="sng" algn="ctr">
            <a:solidFill>
              <a:srgbClr val="48444A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4515F78-D2B9-2B72-BEC9-62B240768E10}"/>
              </a:ext>
            </a:extLst>
          </p:cNvPr>
          <p:cNvCxnSpPr/>
          <p:nvPr/>
        </p:nvCxnSpPr>
        <p:spPr>
          <a:xfrm>
            <a:off x="0" y="2438400"/>
            <a:ext cx="12192000" cy="0"/>
          </a:xfrm>
          <a:prstGeom prst="line">
            <a:avLst/>
          </a:prstGeom>
          <a:ln w="19050" cap="flat" cmpd="sng" algn="ctr">
            <a:solidFill>
              <a:srgbClr val="48444A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6626B9C-F0BE-EE3F-D550-1241B262BFDD}"/>
              </a:ext>
            </a:extLst>
          </p:cNvPr>
          <p:cNvCxnSpPr/>
          <p:nvPr/>
        </p:nvCxnSpPr>
        <p:spPr>
          <a:xfrm>
            <a:off x="0" y="3048000"/>
            <a:ext cx="12192000" cy="0"/>
          </a:xfrm>
          <a:prstGeom prst="line">
            <a:avLst/>
          </a:prstGeom>
          <a:ln w="19050" cap="flat" cmpd="sng" algn="ctr">
            <a:solidFill>
              <a:srgbClr val="48444A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70423CB-630E-F6C8-F310-389398350B2D}"/>
              </a:ext>
            </a:extLst>
          </p:cNvPr>
          <p:cNvCxnSpPr/>
          <p:nvPr/>
        </p:nvCxnSpPr>
        <p:spPr>
          <a:xfrm>
            <a:off x="0" y="3657600"/>
            <a:ext cx="12192000" cy="0"/>
          </a:xfrm>
          <a:prstGeom prst="line">
            <a:avLst/>
          </a:prstGeom>
          <a:ln w="19050" cap="flat" cmpd="sng" algn="ctr">
            <a:solidFill>
              <a:srgbClr val="48444A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D6091FC-CDAE-A0BE-A49B-DCA9CF778B68}"/>
              </a:ext>
            </a:extLst>
          </p:cNvPr>
          <p:cNvCxnSpPr/>
          <p:nvPr/>
        </p:nvCxnSpPr>
        <p:spPr>
          <a:xfrm>
            <a:off x="0" y="4267200"/>
            <a:ext cx="12192000" cy="0"/>
          </a:xfrm>
          <a:prstGeom prst="line">
            <a:avLst/>
          </a:prstGeom>
          <a:ln w="19050" cap="flat" cmpd="sng" algn="ctr">
            <a:solidFill>
              <a:srgbClr val="48444A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ECB4DB7-EC17-153E-8501-F8F185E877C1}"/>
              </a:ext>
            </a:extLst>
          </p:cNvPr>
          <p:cNvCxnSpPr/>
          <p:nvPr/>
        </p:nvCxnSpPr>
        <p:spPr>
          <a:xfrm>
            <a:off x="0" y="4876800"/>
            <a:ext cx="12192000" cy="0"/>
          </a:xfrm>
          <a:prstGeom prst="line">
            <a:avLst/>
          </a:prstGeom>
          <a:ln w="19050" cap="flat" cmpd="sng" algn="ctr">
            <a:solidFill>
              <a:srgbClr val="48444A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B4148B0-2AF0-206A-EB6E-D0E57CECF602}"/>
              </a:ext>
            </a:extLst>
          </p:cNvPr>
          <p:cNvCxnSpPr/>
          <p:nvPr/>
        </p:nvCxnSpPr>
        <p:spPr>
          <a:xfrm>
            <a:off x="0" y="5486400"/>
            <a:ext cx="12192000" cy="0"/>
          </a:xfrm>
          <a:prstGeom prst="line">
            <a:avLst/>
          </a:prstGeom>
          <a:ln w="19050" cap="flat" cmpd="sng" algn="ctr">
            <a:solidFill>
              <a:srgbClr val="48444A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6EA7309-B4BA-3130-F8D7-1B498E531B93}"/>
              </a:ext>
            </a:extLst>
          </p:cNvPr>
          <p:cNvCxnSpPr/>
          <p:nvPr/>
        </p:nvCxnSpPr>
        <p:spPr>
          <a:xfrm>
            <a:off x="0" y="6096000"/>
            <a:ext cx="12192000" cy="0"/>
          </a:xfrm>
          <a:prstGeom prst="line">
            <a:avLst/>
          </a:prstGeom>
          <a:ln w="19050" cap="flat" cmpd="sng" algn="ctr">
            <a:solidFill>
              <a:srgbClr val="48444A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52FFA2C-0C55-7C47-1794-D567ADC79604}"/>
              </a:ext>
            </a:extLst>
          </p:cNvPr>
          <p:cNvCxnSpPr/>
          <p:nvPr/>
        </p:nvCxnSpPr>
        <p:spPr>
          <a:xfrm>
            <a:off x="0" y="6705600"/>
            <a:ext cx="12192000" cy="0"/>
          </a:xfrm>
          <a:prstGeom prst="line">
            <a:avLst/>
          </a:prstGeom>
          <a:ln w="19050" cap="flat" cmpd="sng" algn="ctr">
            <a:solidFill>
              <a:srgbClr val="48444A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CD335F48-0615-20F8-184E-D007E49E482D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E19F383F-9A13-D07F-8C03-C94D01CA067E}"/>
              </a:ext>
            </a:extLst>
          </p:cNvPr>
          <p:cNvSpPr/>
          <p:nvPr/>
        </p:nvSpPr>
        <p:spPr>
          <a:xfrm>
            <a:off x="787400" y="685800"/>
            <a:ext cx="2413000" cy="304800"/>
          </a:xfrm>
          <a:prstGeom prst="roundRect">
            <a:avLst/>
          </a:prstGeom>
          <a:solidFill>
            <a:srgbClr val="A6192E"/>
          </a:solidFill>
          <a:ln w="12700">
            <a:solidFill>
              <a:srgbClr val="A619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CEC40D7-9B43-5BAC-A53C-900FEFDA96D3}"/>
              </a:ext>
            </a:extLst>
          </p:cNvPr>
          <p:cNvSpPr txBox="1"/>
          <p:nvPr/>
        </p:nvSpPr>
        <p:spPr>
          <a:xfrm>
            <a:off x="876300" y="749300"/>
            <a:ext cx="2235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800" b="1">
                <a:solidFill>
                  <a:srgbClr val="FFFFFF"/>
                </a:solidFill>
                <a:latin typeface="Aptos" panose="020B0004020202020204" pitchFamily="34" charset="0"/>
              </a:rPr>
              <a:t>EXECUTIVE BRIEFING CENTRE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11A3870-B94F-2FDA-BA3F-2314DBCC5040}"/>
              </a:ext>
            </a:extLst>
          </p:cNvPr>
          <p:cNvSpPr txBox="1"/>
          <p:nvPr/>
        </p:nvSpPr>
        <p:spPr>
          <a:xfrm>
            <a:off x="787400" y="16256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3500" b="1">
                <a:solidFill>
                  <a:srgbClr val="FFFFFF"/>
                </a:solidFill>
                <a:latin typeface="Aptos Display" panose="020B0004020202020204" pitchFamily="34" charset="0"/>
              </a:rPr>
              <a:t>One intelligent system around the Relationship Manager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814EE87-105C-C4C7-126A-6FAF60A38051}"/>
              </a:ext>
            </a:extLst>
          </p:cNvPr>
          <p:cNvSpPr txBox="1"/>
          <p:nvPr/>
        </p:nvSpPr>
        <p:spPr>
          <a:xfrm>
            <a:off x="787400" y="3429000"/>
            <a:ext cx="990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700" b="1">
                <a:solidFill>
                  <a:srgbClr val="EEC9D8"/>
                </a:solidFill>
                <a:latin typeface="Aptos Display" panose="020B0004020202020204" pitchFamily="34" charset="0"/>
              </a:rPr>
              <a:t>Microsoft Data · Azure · Microsoft 365 · Agent 365 · Fabric IQ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471EC0A-E480-2B33-75FE-663075E51681}"/>
              </a:ext>
            </a:extLst>
          </p:cNvPr>
          <p:cNvSpPr txBox="1"/>
          <p:nvPr/>
        </p:nvSpPr>
        <p:spPr>
          <a:xfrm>
            <a:off x="787400" y="5105400"/>
            <a:ext cx="787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400">
                <a:solidFill>
                  <a:srgbClr val="C6C2C8"/>
                </a:solidFill>
                <a:latin typeface="Aptos" panose="020B0004020202020204" pitchFamily="34" charset="0"/>
              </a:rPr>
              <a:t>A governed, human-controlled day in the life of John Doe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CF3FD6B-A236-EA38-F97F-6C99E16CE6E2}"/>
              </a:ext>
            </a:extLst>
          </p:cNvPr>
          <p:cNvSpPr txBox="1"/>
          <p:nvPr/>
        </p:nvSpPr>
        <p:spPr>
          <a:xfrm>
            <a:off x="787400" y="57912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000" b="1">
                <a:solidFill>
                  <a:srgbClr val="FFFFFF"/>
                </a:solidFill>
                <a:latin typeface="Aptos" panose="020B0004020202020204" pitchFamily="34" charset="0"/>
              </a:rPr>
              <a:t>FRONTIER RM</a:t>
            </a:r>
          </a:p>
        </p:txBody>
      </p:sp>
    </p:spTree>
    <p:extLst>
      <p:ext uri="{BB962C8B-B14F-4D97-AF65-F5344CB8AC3E}">
        <p14:creationId xmlns:p14="http://schemas.microsoft.com/office/powerpoint/2010/main" val="1039956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CA4A3B1-5138-77B2-7C83-F25D995500B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7"/>
          </a:solidFill>
          <a:ln w="12700">
            <a:solidFill>
              <a:srgbClr val="F8F7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312498-A2D6-1AF3-A6CB-285CCD67E2C4}"/>
              </a:ext>
            </a:extLst>
          </p:cNvPr>
          <p:cNvSpPr txBox="1"/>
          <p:nvPr/>
        </p:nvSpPr>
        <p:spPr>
          <a:xfrm>
            <a:off x="685800" y="3810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A6192E"/>
                </a:solidFill>
                <a:latin typeface="Aptos" panose="020B0004020202020204" pitchFamily="34" charset="0"/>
              </a:rPr>
              <a:t>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049068-882E-3A44-4ACF-C7CCC6148B35}"/>
              </a:ext>
            </a:extLst>
          </p:cNvPr>
          <p:cNvSpPr txBox="1"/>
          <p:nvPr/>
        </p:nvSpPr>
        <p:spPr>
          <a:xfrm>
            <a:off x="685800" y="6858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2700" b="1">
                <a:solidFill>
                  <a:srgbClr val="242124"/>
                </a:solidFill>
                <a:latin typeface="Aptos Display" panose="020B0004020202020204" pitchFamily="34" charset="0"/>
              </a:rPr>
              <a:t>Agenda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327949-C5ED-7152-A521-17E9B8094AEB}"/>
              </a:ext>
            </a:extLst>
          </p:cNvPr>
          <p:cNvSpPr txBox="1"/>
          <p:nvPr/>
        </p:nvSpPr>
        <p:spPr>
          <a:xfrm>
            <a:off x="685800" y="14351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100">
                <a:solidFill>
                  <a:srgbClr val="69646A"/>
                </a:solidFill>
                <a:latin typeface="Aptos" panose="020B0004020202020204" pitchFamily="34" charset="0"/>
              </a:rPr>
              <a:t>Five acts: business proof first, then the Microsoft platform that makes it possible.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320975D-E72C-71D6-9138-B32465C05AED}"/>
              </a:ext>
            </a:extLst>
          </p:cNvPr>
          <p:cNvCxnSpPr/>
          <p:nvPr/>
        </p:nvCxnSpPr>
        <p:spPr>
          <a:xfrm>
            <a:off x="685800" y="6477000"/>
            <a:ext cx="10820400" cy="0"/>
          </a:xfrm>
          <a:prstGeom prst="line">
            <a:avLst/>
          </a:prstGeom>
          <a:ln>
            <a:solidFill>
              <a:srgbClr val="E3E1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3A9DACC-0705-D370-0DE8-C2B4AA7051F7}"/>
              </a:ext>
            </a:extLst>
          </p:cNvPr>
          <p:cNvSpPr txBox="1"/>
          <p:nvPr/>
        </p:nvSpPr>
        <p:spPr>
          <a:xfrm>
            <a:off x="685800" y="65659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700" b="1">
                <a:solidFill>
                  <a:srgbClr val="69646A"/>
                </a:solidFill>
                <a:latin typeface="Aptos" panose="020B0004020202020204" pitchFamily="34" charset="0"/>
              </a:rPr>
              <a:t>FRONTIER RM · INTRODUCTION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887577-47F2-1A7F-D737-2940577E9757}"/>
              </a:ext>
            </a:extLst>
          </p:cNvPr>
          <p:cNvSpPr txBox="1"/>
          <p:nvPr/>
        </p:nvSpPr>
        <p:spPr>
          <a:xfrm>
            <a:off x="10985500" y="65659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r"/>
            <a:r>
              <a:rPr lang="en-GB" sz="800" b="1">
                <a:solidFill>
                  <a:srgbClr val="69646A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3F2E45A-B8C9-9495-2729-E7D53BDD652C}"/>
              </a:ext>
            </a:extLst>
          </p:cNvPr>
          <p:cNvSpPr/>
          <p:nvPr/>
        </p:nvSpPr>
        <p:spPr>
          <a:xfrm>
            <a:off x="685800" y="2413000"/>
            <a:ext cx="1905000" cy="2349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66C4FC0-6784-E771-C0D8-E65AC5543181}"/>
              </a:ext>
            </a:extLst>
          </p:cNvPr>
          <p:cNvSpPr/>
          <p:nvPr/>
        </p:nvSpPr>
        <p:spPr>
          <a:xfrm>
            <a:off x="685800" y="2413000"/>
            <a:ext cx="88900" cy="23495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08F505-1617-92D3-37DF-C3BCA6771BE3}"/>
              </a:ext>
            </a:extLst>
          </p:cNvPr>
          <p:cNvSpPr txBox="1"/>
          <p:nvPr/>
        </p:nvSpPr>
        <p:spPr>
          <a:xfrm>
            <a:off x="927100" y="2603500"/>
            <a:ext cx="1473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A6192E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60E6FE-BFAB-20B7-8F19-F5DDAD786FBC}"/>
              </a:ext>
            </a:extLst>
          </p:cNvPr>
          <p:cNvSpPr txBox="1"/>
          <p:nvPr/>
        </p:nvSpPr>
        <p:spPr>
          <a:xfrm>
            <a:off x="927100" y="2921000"/>
            <a:ext cx="1473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400" b="1">
                <a:solidFill>
                  <a:srgbClr val="242124"/>
                </a:solidFill>
                <a:latin typeface="Aptos Display" panose="020B0004020202020204" pitchFamily="34" charset="0"/>
              </a:rPr>
              <a:t>RM DAY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C774CB-C8D1-86FA-41B5-7ACD4A5EC6C4}"/>
              </a:ext>
            </a:extLst>
          </p:cNvPr>
          <p:cNvSpPr txBox="1"/>
          <p:nvPr/>
        </p:nvSpPr>
        <p:spPr>
          <a:xfrm>
            <a:off x="927100" y="3530600"/>
            <a:ext cx="1473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950">
                <a:solidFill>
                  <a:srgbClr val="69646A"/>
                </a:solidFill>
                <a:latin typeface="Aptos" panose="020B0004020202020204" pitchFamily="34" charset="0"/>
              </a:rPr>
              <a:t>A governed day in the life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B923B47-A91D-603E-C4B7-01E28AF775B5}"/>
              </a:ext>
            </a:extLst>
          </p:cNvPr>
          <p:cNvSpPr/>
          <p:nvPr/>
        </p:nvSpPr>
        <p:spPr>
          <a:xfrm>
            <a:off x="2844800" y="2413000"/>
            <a:ext cx="1905000" cy="2349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727BD8E-2B98-B3AD-5D75-BAF2F0DD26B2}"/>
              </a:ext>
            </a:extLst>
          </p:cNvPr>
          <p:cNvSpPr/>
          <p:nvPr/>
        </p:nvSpPr>
        <p:spPr>
          <a:xfrm>
            <a:off x="2844800" y="2413000"/>
            <a:ext cx="88900" cy="2349500"/>
          </a:xfrm>
          <a:prstGeom prst="rect">
            <a:avLst/>
          </a:prstGeom>
          <a:solidFill>
            <a:srgbClr val="007AD2"/>
          </a:solidFill>
          <a:ln w="12700">
            <a:solidFill>
              <a:srgbClr val="007A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E63ECB-23FF-4ECD-9727-297ED3AB0DBA}"/>
              </a:ext>
            </a:extLst>
          </p:cNvPr>
          <p:cNvSpPr txBox="1"/>
          <p:nvPr/>
        </p:nvSpPr>
        <p:spPr>
          <a:xfrm>
            <a:off x="3086100" y="2603500"/>
            <a:ext cx="1473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007AD2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19FC27-D6DA-89A5-0EF2-E0AA4DEDD478}"/>
              </a:ext>
            </a:extLst>
          </p:cNvPr>
          <p:cNvSpPr txBox="1"/>
          <p:nvPr/>
        </p:nvSpPr>
        <p:spPr>
          <a:xfrm>
            <a:off x="3086100" y="2921000"/>
            <a:ext cx="1473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400" b="1">
                <a:solidFill>
                  <a:srgbClr val="242124"/>
                </a:solidFill>
                <a:latin typeface="Aptos Display" panose="020B0004020202020204" pitchFamily="34" charset="0"/>
              </a:rPr>
              <a:t>DATA + AZURE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22092E-437C-356E-F3AC-9ACB46777C81}"/>
              </a:ext>
            </a:extLst>
          </p:cNvPr>
          <p:cNvSpPr txBox="1"/>
          <p:nvPr/>
        </p:nvSpPr>
        <p:spPr>
          <a:xfrm>
            <a:off x="3086100" y="3530600"/>
            <a:ext cx="1473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950">
                <a:solidFill>
                  <a:srgbClr val="69646A"/>
                </a:solidFill>
                <a:latin typeface="Aptos" panose="020B0004020202020204" pitchFamily="34" charset="0"/>
              </a:rPr>
              <a:t>Unified, open, AI-ready data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A22C39D-6199-335F-8546-0DB9672D929D}"/>
              </a:ext>
            </a:extLst>
          </p:cNvPr>
          <p:cNvSpPr/>
          <p:nvPr/>
        </p:nvSpPr>
        <p:spPr>
          <a:xfrm>
            <a:off x="5003800" y="2413000"/>
            <a:ext cx="1905000" cy="2349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F381B51-8292-31FE-4CEF-1463886BA5AF}"/>
              </a:ext>
            </a:extLst>
          </p:cNvPr>
          <p:cNvSpPr/>
          <p:nvPr/>
        </p:nvSpPr>
        <p:spPr>
          <a:xfrm>
            <a:off x="5003800" y="2413000"/>
            <a:ext cx="88900" cy="2349500"/>
          </a:xfrm>
          <a:prstGeom prst="rect">
            <a:avLst/>
          </a:prstGeom>
          <a:solidFill>
            <a:srgbClr val="D97216"/>
          </a:solidFill>
          <a:ln w="12700">
            <a:solidFill>
              <a:srgbClr val="D972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ACA0E8-DC23-F361-163E-BC51AABC1FE8}"/>
              </a:ext>
            </a:extLst>
          </p:cNvPr>
          <p:cNvSpPr txBox="1"/>
          <p:nvPr/>
        </p:nvSpPr>
        <p:spPr>
          <a:xfrm>
            <a:off x="5245100" y="2603500"/>
            <a:ext cx="1473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D97216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C80E6D3-8D85-63BB-852E-5A0C979C4A62}"/>
              </a:ext>
            </a:extLst>
          </p:cNvPr>
          <p:cNvSpPr txBox="1"/>
          <p:nvPr/>
        </p:nvSpPr>
        <p:spPr>
          <a:xfrm>
            <a:off x="5245100" y="2921000"/>
            <a:ext cx="1473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400" b="1">
                <a:solidFill>
                  <a:srgbClr val="242124"/>
                </a:solidFill>
                <a:latin typeface="Aptos Display" panose="020B0004020202020204" pitchFamily="34" charset="0"/>
              </a:rPr>
              <a:t>M365 + AGENT 365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6488473-FF65-E911-7DD4-15EE81FA77A7}"/>
              </a:ext>
            </a:extLst>
          </p:cNvPr>
          <p:cNvSpPr txBox="1"/>
          <p:nvPr/>
        </p:nvSpPr>
        <p:spPr>
          <a:xfrm>
            <a:off x="5245100" y="3530600"/>
            <a:ext cx="1473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50">
                <a:solidFill>
                  <a:srgbClr val="69646A"/>
                </a:solidFill>
                <a:latin typeface="Aptos" panose="020B0004020202020204" pitchFamily="34" charset="0"/>
              </a:rPr>
              <a:t>Work context and agent control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5EB3530-8116-CE97-47A7-9B5BC07DE922}"/>
              </a:ext>
            </a:extLst>
          </p:cNvPr>
          <p:cNvSpPr/>
          <p:nvPr/>
        </p:nvSpPr>
        <p:spPr>
          <a:xfrm>
            <a:off x="7162800" y="2413000"/>
            <a:ext cx="1905000" cy="2349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1FA5DDB-3637-E55B-B906-632E921162A8}"/>
              </a:ext>
            </a:extLst>
          </p:cNvPr>
          <p:cNvSpPr/>
          <p:nvPr/>
        </p:nvSpPr>
        <p:spPr>
          <a:xfrm>
            <a:off x="7162800" y="2413000"/>
            <a:ext cx="88900" cy="2349500"/>
          </a:xfrm>
          <a:prstGeom prst="rect">
            <a:avLst/>
          </a:prstGeom>
          <a:solidFill>
            <a:srgbClr val="A437B2"/>
          </a:solidFill>
          <a:ln w="12700">
            <a:solidFill>
              <a:srgbClr val="A437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7254A0D-F8F5-299E-08C5-6EE24AADE143}"/>
              </a:ext>
            </a:extLst>
          </p:cNvPr>
          <p:cNvSpPr txBox="1"/>
          <p:nvPr/>
        </p:nvSpPr>
        <p:spPr>
          <a:xfrm>
            <a:off x="7404100" y="2603500"/>
            <a:ext cx="1473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A437B2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D84DC42-CEC0-F917-D25A-BA0A8C7E40E1}"/>
              </a:ext>
            </a:extLst>
          </p:cNvPr>
          <p:cNvSpPr txBox="1"/>
          <p:nvPr/>
        </p:nvSpPr>
        <p:spPr>
          <a:xfrm>
            <a:off x="7404100" y="2921000"/>
            <a:ext cx="1473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400" b="1">
                <a:solidFill>
                  <a:srgbClr val="242124"/>
                </a:solidFill>
                <a:latin typeface="Aptos Display" panose="020B0004020202020204" pitchFamily="34" charset="0"/>
              </a:rPr>
              <a:t>FABRIC IQ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17BEF92-F550-55D5-345E-46EF9BEF5D0C}"/>
              </a:ext>
            </a:extLst>
          </p:cNvPr>
          <p:cNvSpPr txBox="1"/>
          <p:nvPr/>
        </p:nvSpPr>
        <p:spPr>
          <a:xfrm>
            <a:off x="7404100" y="3530600"/>
            <a:ext cx="1473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950">
                <a:solidFill>
                  <a:srgbClr val="69646A"/>
                </a:solidFill>
                <a:latin typeface="Aptos" panose="020B0004020202020204" pitchFamily="34" charset="0"/>
              </a:rPr>
              <a:t>Shared business meaning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C06C8A6-C329-B49E-AA93-5ADD1C42D22C}"/>
              </a:ext>
            </a:extLst>
          </p:cNvPr>
          <p:cNvSpPr/>
          <p:nvPr/>
        </p:nvSpPr>
        <p:spPr>
          <a:xfrm>
            <a:off x="9321800" y="2413000"/>
            <a:ext cx="1905000" cy="2349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B47195D-7ABA-7F33-E340-ED21D9A5AC35}"/>
              </a:ext>
            </a:extLst>
          </p:cNvPr>
          <p:cNvSpPr/>
          <p:nvPr/>
        </p:nvSpPr>
        <p:spPr>
          <a:xfrm>
            <a:off x="9321800" y="2413000"/>
            <a:ext cx="88900" cy="2349500"/>
          </a:xfrm>
          <a:prstGeom prst="rect">
            <a:avLst/>
          </a:prstGeom>
          <a:solidFill>
            <a:srgbClr val="217A4F"/>
          </a:solidFill>
          <a:ln w="12700">
            <a:solidFill>
              <a:srgbClr val="217A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D81D82B-8BE7-B548-E723-E545B9138172}"/>
              </a:ext>
            </a:extLst>
          </p:cNvPr>
          <p:cNvSpPr txBox="1"/>
          <p:nvPr/>
        </p:nvSpPr>
        <p:spPr>
          <a:xfrm>
            <a:off x="9563100" y="2603500"/>
            <a:ext cx="1473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217A4F"/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153F205-8323-3845-3685-98B8EF87C4B8}"/>
              </a:ext>
            </a:extLst>
          </p:cNvPr>
          <p:cNvSpPr txBox="1"/>
          <p:nvPr/>
        </p:nvSpPr>
        <p:spPr>
          <a:xfrm>
            <a:off x="9563100" y="2921000"/>
            <a:ext cx="1473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400" b="1">
                <a:solidFill>
                  <a:srgbClr val="242124"/>
                </a:solidFill>
                <a:latin typeface="Aptos Display" panose="020B0004020202020204" pitchFamily="34" charset="0"/>
              </a:rPr>
              <a:t>CLOSE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0122C96-7770-E4DA-5ECD-F766B2685111}"/>
              </a:ext>
            </a:extLst>
          </p:cNvPr>
          <p:cNvSpPr txBox="1"/>
          <p:nvPr/>
        </p:nvSpPr>
        <p:spPr>
          <a:xfrm>
            <a:off x="9563100" y="3530600"/>
            <a:ext cx="1473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950">
                <a:solidFill>
                  <a:srgbClr val="69646A"/>
                </a:solidFill>
                <a:latin typeface="Aptos" panose="020B0004020202020204" pitchFamily="34" charset="0"/>
              </a:rPr>
              <a:t>Outcomes and next steps</a:t>
            </a:r>
          </a:p>
        </p:txBody>
      </p:sp>
    </p:spTree>
    <p:extLst>
      <p:ext uri="{BB962C8B-B14F-4D97-AF65-F5344CB8AC3E}">
        <p14:creationId xmlns:p14="http://schemas.microsoft.com/office/powerpoint/2010/main" val="2045304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439F66-4F5C-3F42-BF47-01AD7ADA510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E2B30"/>
          </a:solidFill>
          <a:ln w="12700">
            <a:solidFill>
              <a:srgbClr val="2E2B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C278A9-6615-3EAD-598D-8E7DA6DD8E85}"/>
              </a:ext>
            </a:extLst>
          </p:cNvPr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1BA321D-04C5-6370-B4F0-5D363BC09ACF}"/>
              </a:ext>
            </a:extLst>
          </p:cNvPr>
          <p:cNvSpPr/>
          <p:nvPr/>
        </p:nvSpPr>
        <p:spPr>
          <a:xfrm>
            <a:off x="787400" y="787400"/>
            <a:ext cx="1905000" cy="304800"/>
          </a:xfrm>
          <a:prstGeom prst="roundRect">
            <a:avLst/>
          </a:prstGeom>
          <a:solidFill>
            <a:srgbClr val="A6192E"/>
          </a:solidFill>
          <a:ln w="12700">
            <a:solidFill>
              <a:srgbClr val="A619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26357A-EA5D-7788-151C-D92F48AE8FFF}"/>
              </a:ext>
            </a:extLst>
          </p:cNvPr>
          <p:cNvSpPr txBox="1"/>
          <p:nvPr/>
        </p:nvSpPr>
        <p:spPr>
          <a:xfrm>
            <a:off x="876300" y="850900"/>
            <a:ext cx="1727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800" b="1">
                <a:solidFill>
                  <a:srgbClr val="FFFFFF"/>
                </a:solidFill>
                <a:latin typeface="Aptos" panose="020B0004020202020204" pitchFamily="34" charset="0"/>
              </a:rPr>
              <a:t>ACT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166F2F-C8E2-24AD-83FB-1B63C01DA5FA}"/>
              </a:ext>
            </a:extLst>
          </p:cNvPr>
          <p:cNvSpPr txBox="1"/>
          <p:nvPr/>
        </p:nvSpPr>
        <p:spPr>
          <a:xfrm>
            <a:off x="787400" y="1968500"/>
            <a:ext cx="1003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3400" b="1">
                <a:solidFill>
                  <a:srgbClr val="FFFFFF"/>
                </a:solidFill>
                <a:latin typeface="Aptos Display" panose="020B0004020202020204" pitchFamily="34" charset="0"/>
              </a:rPr>
              <a:t>A day in the life of John Doe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182F4A-7CD3-0883-5084-B211F1CEF5D3}"/>
              </a:ext>
            </a:extLst>
          </p:cNvPr>
          <p:cNvSpPr txBox="1"/>
          <p:nvPr/>
        </p:nvSpPr>
        <p:spPr>
          <a:xfrm>
            <a:off x="787400" y="3581400"/>
            <a:ext cx="965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500">
                <a:solidFill>
                  <a:srgbClr val="CFCCD2"/>
                </a:solidFill>
                <a:latin typeface="Aptos" panose="020B0004020202020204" pitchFamily="34" charset="0"/>
              </a:rPr>
              <a:t>Begin with the client and the RM workflow. Technology follows the work.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84348D-9F6A-31D4-3C57-3029D8C6BEC4}"/>
              </a:ext>
            </a:extLst>
          </p:cNvPr>
          <p:cNvSpPr txBox="1"/>
          <p:nvPr/>
        </p:nvSpPr>
        <p:spPr>
          <a:xfrm>
            <a:off x="10414000" y="5080000"/>
            <a:ext cx="101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GB" sz="4400" b="1">
                <a:solidFill>
                  <a:srgbClr val="A6192E"/>
                </a:solidFill>
                <a:latin typeface="Aptos Display" panose="020B0004020202020204" pitchFamily="34" charset="0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15390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1D4B3D-6EA2-8435-9B3F-B74140663CA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7"/>
          </a:solidFill>
          <a:ln w="12700">
            <a:solidFill>
              <a:srgbClr val="F8F7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F95FFA-9B25-BEF4-D230-BA778FEF8E9A}"/>
              </a:ext>
            </a:extLst>
          </p:cNvPr>
          <p:cNvSpPr txBox="1"/>
          <p:nvPr/>
        </p:nvSpPr>
        <p:spPr>
          <a:xfrm>
            <a:off x="685800" y="3810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A6192E"/>
                </a:solidFill>
                <a:latin typeface="Aptos" panose="020B0004020202020204" pitchFamily="34" charset="0"/>
              </a:rPr>
              <a:t>RM DAY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97A48A-B6A7-FBC7-2D44-ACA0F4A93F03}"/>
              </a:ext>
            </a:extLst>
          </p:cNvPr>
          <p:cNvSpPr txBox="1"/>
          <p:nvPr/>
        </p:nvSpPr>
        <p:spPr>
          <a:xfrm>
            <a:off x="685800" y="6858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2700" b="1">
                <a:solidFill>
                  <a:srgbClr val="242124"/>
                </a:solidFill>
                <a:latin typeface="Aptos Display" panose="020B0004020202020204" pitchFamily="34" charset="0"/>
              </a:rPr>
              <a:t>The RM spends the day assembling context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D405A2-8085-5470-7FD3-3D45A4B7C8B4}"/>
              </a:ext>
            </a:extLst>
          </p:cNvPr>
          <p:cNvSpPr txBox="1"/>
          <p:nvPr/>
        </p:nvSpPr>
        <p:spPr>
          <a:xfrm>
            <a:off x="685800" y="14351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100">
                <a:solidFill>
                  <a:srgbClr val="69646A"/>
                </a:solidFill>
                <a:latin typeface="Aptos" panose="020B0004020202020204" pitchFamily="34" charset="0"/>
              </a:rPr>
              <a:t>Signals exist across systems, but connecting them still falls to the relationship manager.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06929A4-9A40-0BCE-ACE5-75B6035EB9E7}"/>
              </a:ext>
            </a:extLst>
          </p:cNvPr>
          <p:cNvCxnSpPr/>
          <p:nvPr/>
        </p:nvCxnSpPr>
        <p:spPr>
          <a:xfrm>
            <a:off x="685800" y="6477000"/>
            <a:ext cx="10820400" cy="0"/>
          </a:xfrm>
          <a:prstGeom prst="line">
            <a:avLst/>
          </a:prstGeom>
          <a:ln>
            <a:solidFill>
              <a:srgbClr val="E3E1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D0932F6-CB55-9211-9EDE-7CC7AC6A77A0}"/>
              </a:ext>
            </a:extLst>
          </p:cNvPr>
          <p:cNvSpPr txBox="1"/>
          <p:nvPr/>
        </p:nvSpPr>
        <p:spPr>
          <a:xfrm>
            <a:off x="685800" y="65659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700" b="1">
                <a:solidFill>
                  <a:srgbClr val="69646A"/>
                </a:solidFill>
                <a:latin typeface="Aptos" panose="020B0004020202020204" pitchFamily="34" charset="0"/>
              </a:rPr>
              <a:t>FRONTIER RM · RM DAY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BC05D6-21E1-B4BB-98A1-FBA4A349CC8C}"/>
              </a:ext>
            </a:extLst>
          </p:cNvPr>
          <p:cNvSpPr txBox="1"/>
          <p:nvPr/>
        </p:nvSpPr>
        <p:spPr>
          <a:xfrm>
            <a:off x="10985500" y="65659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r"/>
            <a:r>
              <a:rPr lang="en-GB" sz="800" b="1">
                <a:solidFill>
                  <a:srgbClr val="69646A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6BCD718-0808-0E8C-E191-72513190C53E}"/>
              </a:ext>
            </a:extLst>
          </p:cNvPr>
          <p:cNvSpPr/>
          <p:nvPr/>
        </p:nvSpPr>
        <p:spPr>
          <a:xfrm>
            <a:off x="685800" y="2286000"/>
            <a:ext cx="2476500" cy="279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148FDAF-8798-5DB4-E627-E64ABE123C5D}"/>
              </a:ext>
            </a:extLst>
          </p:cNvPr>
          <p:cNvSpPr/>
          <p:nvPr/>
        </p:nvSpPr>
        <p:spPr>
          <a:xfrm>
            <a:off x="685800" y="2286000"/>
            <a:ext cx="88900" cy="2794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8CDB32-A31D-3734-0F05-3E9D20E60158}"/>
              </a:ext>
            </a:extLst>
          </p:cNvPr>
          <p:cNvSpPr txBox="1"/>
          <p:nvPr/>
        </p:nvSpPr>
        <p:spPr>
          <a:xfrm>
            <a:off x="927100" y="2476500"/>
            <a:ext cx="2044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A6192E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0C53F4-D6A8-B659-ED24-7031815509CC}"/>
              </a:ext>
            </a:extLst>
          </p:cNvPr>
          <p:cNvSpPr txBox="1"/>
          <p:nvPr/>
        </p:nvSpPr>
        <p:spPr>
          <a:xfrm>
            <a:off x="927100" y="2794000"/>
            <a:ext cx="2044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400" b="1">
                <a:solidFill>
                  <a:srgbClr val="242124"/>
                </a:solidFill>
                <a:latin typeface="Aptos Display" panose="020B0004020202020204" pitchFamily="34" charset="0"/>
              </a:rPr>
              <a:t>Find context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BD6E07-0041-5E20-51F5-BA7116443C9D}"/>
              </a:ext>
            </a:extLst>
          </p:cNvPr>
          <p:cNvSpPr txBox="1"/>
          <p:nvPr/>
        </p:nvSpPr>
        <p:spPr>
          <a:xfrm>
            <a:off x="927100" y="3403600"/>
            <a:ext cx="2044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50">
                <a:solidFill>
                  <a:srgbClr val="69646A"/>
                </a:solidFill>
                <a:latin typeface="Aptos" panose="020B0004020202020204" pitchFamily="34" charset="0"/>
              </a:rPr>
              <a:t>Accounts, holdings, profile, consent, interactions.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A86D759-D3EF-0FCD-15EB-2776E2ABF1A6}"/>
              </a:ext>
            </a:extLst>
          </p:cNvPr>
          <p:cNvSpPr/>
          <p:nvPr/>
        </p:nvSpPr>
        <p:spPr>
          <a:xfrm>
            <a:off x="3403600" y="2286000"/>
            <a:ext cx="2476500" cy="279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F23685-2153-AE24-5626-694EC8D68AA2}"/>
              </a:ext>
            </a:extLst>
          </p:cNvPr>
          <p:cNvSpPr/>
          <p:nvPr/>
        </p:nvSpPr>
        <p:spPr>
          <a:xfrm>
            <a:off x="3403600" y="2286000"/>
            <a:ext cx="88900" cy="2794000"/>
          </a:xfrm>
          <a:prstGeom prst="rect">
            <a:avLst/>
          </a:prstGeom>
          <a:solidFill>
            <a:srgbClr val="007AD2"/>
          </a:solidFill>
          <a:ln w="12700">
            <a:solidFill>
              <a:srgbClr val="007A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3C81A9-0505-1065-0158-38A84BB1278A}"/>
              </a:ext>
            </a:extLst>
          </p:cNvPr>
          <p:cNvSpPr txBox="1"/>
          <p:nvPr/>
        </p:nvSpPr>
        <p:spPr>
          <a:xfrm>
            <a:off x="3644900" y="2476500"/>
            <a:ext cx="2044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007AD2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C2A16F-BED4-C908-7F16-45B5E9F18187}"/>
              </a:ext>
            </a:extLst>
          </p:cNvPr>
          <p:cNvSpPr txBox="1"/>
          <p:nvPr/>
        </p:nvSpPr>
        <p:spPr>
          <a:xfrm>
            <a:off x="3644900" y="2794000"/>
            <a:ext cx="2044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400" b="1">
                <a:solidFill>
                  <a:srgbClr val="242124"/>
                </a:solidFill>
                <a:latin typeface="Aptos Display" panose="020B0004020202020204" pitchFamily="34" charset="0"/>
              </a:rPr>
              <a:t>Interpret need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C006807-B0CF-769C-AF5F-B2FA2D4EF6C2}"/>
              </a:ext>
            </a:extLst>
          </p:cNvPr>
          <p:cNvSpPr txBox="1"/>
          <p:nvPr/>
        </p:nvSpPr>
        <p:spPr>
          <a:xfrm>
            <a:off x="3644900" y="3403600"/>
            <a:ext cx="2044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50">
                <a:solidFill>
                  <a:srgbClr val="69646A"/>
                </a:solidFill>
                <a:latin typeface="Aptos" panose="020B0004020202020204" pitchFamily="34" charset="0"/>
              </a:rPr>
              <a:t>Events, objectives, liquidity, risk, market context.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A18959B-4565-2600-E402-2442AB73D0C8}"/>
              </a:ext>
            </a:extLst>
          </p:cNvPr>
          <p:cNvSpPr/>
          <p:nvPr/>
        </p:nvSpPr>
        <p:spPr>
          <a:xfrm>
            <a:off x="6121400" y="2286000"/>
            <a:ext cx="2476500" cy="279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3B629A7-3AB7-F475-85B8-C8C95FB2B7E1}"/>
              </a:ext>
            </a:extLst>
          </p:cNvPr>
          <p:cNvSpPr/>
          <p:nvPr/>
        </p:nvSpPr>
        <p:spPr>
          <a:xfrm>
            <a:off x="6121400" y="2286000"/>
            <a:ext cx="88900" cy="2794000"/>
          </a:xfrm>
          <a:prstGeom prst="rect">
            <a:avLst/>
          </a:prstGeom>
          <a:solidFill>
            <a:srgbClr val="A437B2"/>
          </a:solidFill>
          <a:ln w="12700">
            <a:solidFill>
              <a:srgbClr val="A437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1D90266-1B46-9864-2D7C-50D55C85E284}"/>
              </a:ext>
            </a:extLst>
          </p:cNvPr>
          <p:cNvSpPr txBox="1"/>
          <p:nvPr/>
        </p:nvSpPr>
        <p:spPr>
          <a:xfrm>
            <a:off x="6362700" y="2476500"/>
            <a:ext cx="2044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A437B2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145920B-7B76-F414-75A5-DBB441BDA6B8}"/>
              </a:ext>
            </a:extLst>
          </p:cNvPr>
          <p:cNvSpPr txBox="1"/>
          <p:nvPr/>
        </p:nvSpPr>
        <p:spPr>
          <a:xfrm>
            <a:off x="6362700" y="2794000"/>
            <a:ext cx="2044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400" b="1">
                <a:solidFill>
                  <a:srgbClr val="242124"/>
                </a:solidFill>
                <a:latin typeface="Aptos Display" panose="020B0004020202020204" pitchFamily="34" charset="0"/>
              </a:rPr>
              <a:t>Prepare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6B37A94-FA0C-ED76-C793-0AD1B28A75AA}"/>
              </a:ext>
            </a:extLst>
          </p:cNvPr>
          <p:cNvSpPr txBox="1"/>
          <p:nvPr/>
        </p:nvSpPr>
        <p:spPr>
          <a:xfrm>
            <a:off x="6362700" y="3403600"/>
            <a:ext cx="2044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50">
                <a:solidFill>
                  <a:srgbClr val="69646A"/>
                </a:solidFill>
                <a:latin typeface="Aptos" panose="020B0004020202020204" pitchFamily="34" charset="0"/>
              </a:rPr>
              <a:t>Correspondence, guidance, talk track, checks.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1994C32-E743-B1AB-7BB0-D2F7B8FD37FF}"/>
              </a:ext>
            </a:extLst>
          </p:cNvPr>
          <p:cNvSpPr/>
          <p:nvPr/>
        </p:nvSpPr>
        <p:spPr>
          <a:xfrm>
            <a:off x="8839200" y="2286000"/>
            <a:ext cx="2476500" cy="279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08C4E84-8B85-EBBE-E46A-270D7A556B0D}"/>
              </a:ext>
            </a:extLst>
          </p:cNvPr>
          <p:cNvSpPr/>
          <p:nvPr/>
        </p:nvSpPr>
        <p:spPr>
          <a:xfrm>
            <a:off x="8839200" y="2286000"/>
            <a:ext cx="88900" cy="2794000"/>
          </a:xfrm>
          <a:prstGeom prst="rect">
            <a:avLst/>
          </a:prstGeom>
          <a:solidFill>
            <a:srgbClr val="217A4F"/>
          </a:solidFill>
          <a:ln w="12700">
            <a:solidFill>
              <a:srgbClr val="217A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0A999F-39D0-8D3D-9180-5A641A4DE3E3}"/>
              </a:ext>
            </a:extLst>
          </p:cNvPr>
          <p:cNvSpPr txBox="1"/>
          <p:nvPr/>
        </p:nvSpPr>
        <p:spPr>
          <a:xfrm>
            <a:off x="9080500" y="2476500"/>
            <a:ext cx="2044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217A4F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4AC5109-E85B-BEF4-245C-33578F62F51F}"/>
              </a:ext>
            </a:extLst>
          </p:cNvPr>
          <p:cNvSpPr txBox="1"/>
          <p:nvPr/>
        </p:nvSpPr>
        <p:spPr>
          <a:xfrm>
            <a:off x="9080500" y="2794000"/>
            <a:ext cx="2044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400" b="1">
                <a:solidFill>
                  <a:srgbClr val="242124"/>
                </a:solidFill>
                <a:latin typeface="Aptos Display" panose="020B0004020202020204" pitchFamily="34" charset="0"/>
              </a:rPr>
              <a:t>Follow up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B9C4A31-AEA1-2C3E-6CEB-2B3AAC4D456B}"/>
              </a:ext>
            </a:extLst>
          </p:cNvPr>
          <p:cNvSpPr txBox="1"/>
          <p:nvPr/>
        </p:nvSpPr>
        <p:spPr>
          <a:xfrm>
            <a:off x="9080500" y="3403600"/>
            <a:ext cx="2044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950">
                <a:solidFill>
                  <a:srgbClr val="69646A"/>
                </a:solidFill>
                <a:latin typeface="Aptos" panose="020B0004020202020204" pitchFamily="34" charset="0"/>
              </a:rPr>
              <a:t>Client email, CRM draft, evidence trail.</a:t>
            </a:r>
          </a:p>
        </p:txBody>
      </p:sp>
    </p:spTree>
    <p:extLst>
      <p:ext uri="{BB962C8B-B14F-4D97-AF65-F5344CB8AC3E}">
        <p14:creationId xmlns:p14="http://schemas.microsoft.com/office/powerpoint/2010/main" val="3556160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116893A-F69C-7B08-6658-9136A62D93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7"/>
          </a:solidFill>
          <a:ln w="12700">
            <a:solidFill>
              <a:srgbClr val="F8F7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29B536-3507-FF10-87D1-08A57CFCDEBC}"/>
              </a:ext>
            </a:extLst>
          </p:cNvPr>
          <p:cNvSpPr txBox="1"/>
          <p:nvPr/>
        </p:nvSpPr>
        <p:spPr>
          <a:xfrm>
            <a:off x="685800" y="3810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A6192E"/>
                </a:solidFill>
                <a:latin typeface="Aptos" panose="020B0004020202020204" pitchFamily="34" charset="0"/>
              </a:rPr>
              <a:t>RM DAY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AF5D97-F675-12E5-919F-607C5BEA01F8}"/>
              </a:ext>
            </a:extLst>
          </p:cNvPr>
          <p:cNvSpPr txBox="1"/>
          <p:nvPr/>
        </p:nvSpPr>
        <p:spPr>
          <a:xfrm>
            <a:off x="685800" y="6858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2700" b="1">
                <a:solidFill>
                  <a:srgbClr val="242124"/>
                </a:solidFill>
                <a:latin typeface="Aptos Display" panose="020B0004020202020204" pitchFamily="34" charset="0"/>
              </a:rPr>
              <a:t>The moments that matter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63C99E-FFAF-0156-453B-E53F0B0A4265}"/>
              </a:ext>
            </a:extLst>
          </p:cNvPr>
          <p:cNvSpPr txBox="1"/>
          <p:nvPr/>
        </p:nvSpPr>
        <p:spPr>
          <a:xfrm>
            <a:off x="685800" y="14351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100">
                <a:solidFill>
                  <a:srgbClr val="69646A"/>
                </a:solidFill>
                <a:latin typeface="Aptos" panose="020B0004020202020204" pitchFamily="34" charset="0"/>
              </a:rPr>
              <a:t>A working day moves from signal to governed follow-up.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0B69605-F102-2E0B-37E7-393E0ACD7A9C}"/>
              </a:ext>
            </a:extLst>
          </p:cNvPr>
          <p:cNvCxnSpPr/>
          <p:nvPr/>
        </p:nvCxnSpPr>
        <p:spPr>
          <a:xfrm>
            <a:off x="685800" y="6477000"/>
            <a:ext cx="10820400" cy="0"/>
          </a:xfrm>
          <a:prstGeom prst="line">
            <a:avLst/>
          </a:prstGeom>
          <a:ln>
            <a:solidFill>
              <a:srgbClr val="E3E1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7F4EF62-064B-4580-039B-B31E54708B30}"/>
              </a:ext>
            </a:extLst>
          </p:cNvPr>
          <p:cNvSpPr txBox="1"/>
          <p:nvPr/>
        </p:nvSpPr>
        <p:spPr>
          <a:xfrm>
            <a:off x="685800" y="65659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700" b="1">
                <a:solidFill>
                  <a:srgbClr val="69646A"/>
                </a:solidFill>
                <a:latin typeface="Aptos" panose="020B0004020202020204" pitchFamily="34" charset="0"/>
              </a:rPr>
              <a:t>FRONTIER RM · RM DAY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070BF6-A218-C1AE-8C62-FCBC65C2EF26}"/>
              </a:ext>
            </a:extLst>
          </p:cNvPr>
          <p:cNvSpPr txBox="1"/>
          <p:nvPr/>
        </p:nvSpPr>
        <p:spPr>
          <a:xfrm>
            <a:off x="10985500" y="65659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r"/>
            <a:r>
              <a:rPr lang="en-GB" sz="800" b="1">
                <a:solidFill>
                  <a:srgbClr val="69646A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52B0EC3-5670-F178-FA0D-9E93194199AA}"/>
              </a:ext>
            </a:extLst>
          </p:cNvPr>
          <p:cNvSpPr/>
          <p:nvPr/>
        </p:nvSpPr>
        <p:spPr>
          <a:xfrm>
            <a:off x="685800" y="2857500"/>
            <a:ext cx="1940560" cy="965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619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5ABBC4-2122-D96A-8E74-DF6B35AFE496}"/>
              </a:ext>
            </a:extLst>
          </p:cNvPr>
          <p:cNvSpPr txBox="1"/>
          <p:nvPr/>
        </p:nvSpPr>
        <p:spPr>
          <a:xfrm>
            <a:off x="812800" y="29972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A6192E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8BF101-DBC5-80B8-6FFE-28629DF4570B}"/>
              </a:ext>
            </a:extLst>
          </p:cNvPr>
          <p:cNvSpPr txBox="1"/>
          <p:nvPr/>
        </p:nvSpPr>
        <p:spPr>
          <a:xfrm>
            <a:off x="812800" y="3289300"/>
            <a:ext cx="168656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050" b="1">
                <a:solidFill>
                  <a:srgbClr val="242124"/>
                </a:solidFill>
                <a:latin typeface="Aptos" panose="020B0004020202020204" pitchFamily="34" charset="0"/>
              </a:rPr>
              <a:t>08:30 Triage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B0FC1B-7C16-373B-D114-ECD477B2103C}"/>
              </a:ext>
            </a:extLst>
          </p:cNvPr>
          <p:cNvSpPr txBox="1"/>
          <p:nvPr/>
        </p:nvSpPr>
        <p:spPr>
          <a:xfrm>
            <a:off x="2664460" y="3187700"/>
            <a:ext cx="215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200" b="1">
                <a:solidFill>
                  <a:srgbClr val="69646A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911166F-B33E-1633-4283-9168808CE68F}"/>
              </a:ext>
            </a:extLst>
          </p:cNvPr>
          <p:cNvSpPr/>
          <p:nvPr/>
        </p:nvSpPr>
        <p:spPr>
          <a:xfrm>
            <a:off x="2905760" y="2857500"/>
            <a:ext cx="1940560" cy="965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A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C93C7E-FDBD-81C9-AD71-0247AC507F36}"/>
              </a:ext>
            </a:extLst>
          </p:cNvPr>
          <p:cNvSpPr txBox="1"/>
          <p:nvPr/>
        </p:nvSpPr>
        <p:spPr>
          <a:xfrm>
            <a:off x="3032760" y="29972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007AD2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A1B956-C8CA-D1A7-431E-EB532BD56CC1}"/>
              </a:ext>
            </a:extLst>
          </p:cNvPr>
          <p:cNvSpPr txBox="1"/>
          <p:nvPr/>
        </p:nvSpPr>
        <p:spPr>
          <a:xfrm>
            <a:off x="3032760" y="3289300"/>
            <a:ext cx="168656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050" b="1">
                <a:solidFill>
                  <a:srgbClr val="242124"/>
                </a:solidFill>
                <a:latin typeface="Aptos" panose="020B0004020202020204" pitchFamily="34" charset="0"/>
              </a:rPr>
              <a:t>09:15 Understand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4907B5-80A2-2D80-4268-8E8D4F10AF9B}"/>
              </a:ext>
            </a:extLst>
          </p:cNvPr>
          <p:cNvSpPr txBox="1"/>
          <p:nvPr/>
        </p:nvSpPr>
        <p:spPr>
          <a:xfrm>
            <a:off x="4884420" y="3187700"/>
            <a:ext cx="215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200" b="1">
                <a:solidFill>
                  <a:srgbClr val="69646A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3159D25-7A46-13C1-DB8F-8D069F666E64}"/>
              </a:ext>
            </a:extLst>
          </p:cNvPr>
          <p:cNvSpPr/>
          <p:nvPr/>
        </p:nvSpPr>
        <p:spPr>
          <a:xfrm>
            <a:off x="5125720" y="2857500"/>
            <a:ext cx="1940560" cy="965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0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F7366B-DBBB-3192-5582-44A34F8D34A8}"/>
              </a:ext>
            </a:extLst>
          </p:cNvPr>
          <p:cNvSpPr txBox="1"/>
          <p:nvPr/>
        </p:nvSpPr>
        <p:spPr>
          <a:xfrm>
            <a:off x="5252720" y="29972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008094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9CB4DA-B01D-B50B-09C1-C921705CC196}"/>
              </a:ext>
            </a:extLst>
          </p:cNvPr>
          <p:cNvSpPr txBox="1"/>
          <p:nvPr/>
        </p:nvSpPr>
        <p:spPr>
          <a:xfrm>
            <a:off x="5252720" y="3289300"/>
            <a:ext cx="168656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050" b="1">
                <a:solidFill>
                  <a:srgbClr val="242124"/>
                </a:solidFill>
                <a:latin typeface="Aptos" panose="020B0004020202020204" pitchFamily="34" charset="0"/>
              </a:rPr>
              <a:t>10:00 Prepare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56FF99-36C1-ADDC-3642-3C7E28671828}"/>
              </a:ext>
            </a:extLst>
          </p:cNvPr>
          <p:cNvSpPr txBox="1"/>
          <p:nvPr/>
        </p:nvSpPr>
        <p:spPr>
          <a:xfrm>
            <a:off x="7104380" y="3187700"/>
            <a:ext cx="215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200" b="1">
                <a:solidFill>
                  <a:srgbClr val="69646A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D7D7CC5-B69D-373C-4DE6-BE4390391BA4}"/>
              </a:ext>
            </a:extLst>
          </p:cNvPr>
          <p:cNvSpPr/>
          <p:nvPr/>
        </p:nvSpPr>
        <p:spPr>
          <a:xfrm>
            <a:off x="7345680" y="2857500"/>
            <a:ext cx="1940560" cy="965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437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96CE666-3CCB-4A78-8C69-C66A24269372}"/>
              </a:ext>
            </a:extLst>
          </p:cNvPr>
          <p:cNvSpPr txBox="1"/>
          <p:nvPr/>
        </p:nvSpPr>
        <p:spPr>
          <a:xfrm>
            <a:off x="7472680" y="29972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A437B2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372784E-4694-ADDF-B0F1-DABE7A112A7E}"/>
              </a:ext>
            </a:extLst>
          </p:cNvPr>
          <p:cNvSpPr txBox="1"/>
          <p:nvPr/>
        </p:nvSpPr>
        <p:spPr>
          <a:xfrm>
            <a:off x="7472680" y="3289300"/>
            <a:ext cx="168656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050" b="1">
                <a:solidFill>
                  <a:srgbClr val="242124"/>
                </a:solidFill>
                <a:latin typeface="Aptos" panose="020B0004020202020204" pitchFamily="34" charset="0"/>
              </a:rPr>
              <a:t>11:30 Decide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85A6376-1ED6-BA86-0AF0-26EEDEC9E2F7}"/>
              </a:ext>
            </a:extLst>
          </p:cNvPr>
          <p:cNvSpPr txBox="1"/>
          <p:nvPr/>
        </p:nvSpPr>
        <p:spPr>
          <a:xfrm>
            <a:off x="9324340" y="3187700"/>
            <a:ext cx="215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200" b="1">
                <a:solidFill>
                  <a:srgbClr val="69646A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D4127C3-DBA4-09B7-8BD0-E70F265BD909}"/>
              </a:ext>
            </a:extLst>
          </p:cNvPr>
          <p:cNvSpPr/>
          <p:nvPr/>
        </p:nvSpPr>
        <p:spPr>
          <a:xfrm>
            <a:off x="9565640" y="2857500"/>
            <a:ext cx="1940560" cy="965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7A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A7194E2-6087-97D9-0D5C-AA7A96E0F8D1}"/>
              </a:ext>
            </a:extLst>
          </p:cNvPr>
          <p:cNvSpPr txBox="1"/>
          <p:nvPr/>
        </p:nvSpPr>
        <p:spPr>
          <a:xfrm>
            <a:off x="9692640" y="29972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217A4F"/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AC3BADE-6F8F-25B1-AA7A-335F0049FCEC}"/>
              </a:ext>
            </a:extLst>
          </p:cNvPr>
          <p:cNvSpPr txBox="1"/>
          <p:nvPr/>
        </p:nvSpPr>
        <p:spPr>
          <a:xfrm>
            <a:off x="9692640" y="3289300"/>
            <a:ext cx="168656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050" b="1">
                <a:solidFill>
                  <a:srgbClr val="242124"/>
                </a:solidFill>
                <a:latin typeface="Aptos" panose="020B0004020202020204" pitchFamily="34" charset="0"/>
              </a:rPr>
              <a:t>12:15 Follow up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DF1656B-2344-E50B-3FD2-D4FAE945FDB1}"/>
              </a:ext>
            </a:extLst>
          </p:cNvPr>
          <p:cNvSpPr txBox="1"/>
          <p:nvPr/>
        </p:nvSpPr>
        <p:spPr>
          <a:xfrm>
            <a:off x="2921000" y="46990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600" b="1">
                <a:solidFill>
                  <a:srgbClr val="7D1226"/>
                </a:solidFill>
                <a:latin typeface="Aptos" panose="020B0004020202020204" pitchFamily="34" charset="0"/>
              </a:rPr>
              <a:t>John remains accountable at every transition.</a:t>
            </a:r>
          </a:p>
        </p:txBody>
      </p:sp>
    </p:spTree>
    <p:extLst>
      <p:ext uri="{BB962C8B-B14F-4D97-AF65-F5344CB8AC3E}">
        <p14:creationId xmlns:p14="http://schemas.microsoft.com/office/powerpoint/2010/main" val="3447481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E977F72-ECEF-E21B-DFFE-6279229FD1A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7"/>
          </a:solidFill>
          <a:ln w="12700">
            <a:solidFill>
              <a:srgbClr val="F8F7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6CD6E3-ECB8-3E7B-84D6-2A44044EA596}"/>
              </a:ext>
            </a:extLst>
          </p:cNvPr>
          <p:cNvSpPr txBox="1"/>
          <p:nvPr/>
        </p:nvSpPr>
        <p:spPr>
          <a:xfrm>
            <a:off x="685800" y="3810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A6192E"/>
                </a:solidFill>
                <a:latin typeface="Aptos" panose="020B0004020202020204" pitchFamily="34" charset="0"/>
              </a:rPr>
              <a:t>RM DAY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89A899-E2D6-2EE0-CA53-CAC7021E697D}"/>
              </a:ext>
            </a:extLst>
          </p:cNvPr>
          <p:cNvSpPr txBox="1"/>
          <p:nvPr/>
        </p:nvSpPr>
        <p:spPr>
          <a:xfrm>
            <a:off x="685800" y="6858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2700" b="1">
                <a:solidFill>
                  <a:srgbClr val="242124"/>
                </a:solidFill>
                <a:latin typeface="Aptos Display" panose="020B0004020202020204" pitchFamily="34" charset="0"/>
              </a:rPr>
              <a:t>Start with the Guided Story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F41065-AEC3-C50A-C84E-96A222883BA7}"/>
              </a:ext>
            </a:extLst>
          </p:cNvPr>
          <p:cNvSpPr txBox="1"/>
          <p:nvPr/>
        </p:nvSpPr>
        <p:spPr>
          <a:xfrm>
            <a:off x="685800" y="14351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100">
                <a:solidFill>
                  <a:srgbClr val="69646A"/>
                </a:solidFill>
                <a:latin typeface="Aptos" panose="020B0004020202020204" pitchFamily="34" charset="0"/>
              </a:rPr>
              <a:t>A 60-second executive promise before the working cockpit.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B0865C8-7364-845D-7699-FAE35534D2D0}"/>
              </a:ext>
            </a:extLst>
          </p:cNvPr>
          <p:cNvCxnSpPr/>
          <p:nvPr/>
        </p:nvCxnSpPr>
        <p:spPr>
          <a:xfrm>
            <a:off x="685800" y="6477000"/>
            <a:ext cx="10820400" cy="0"/>
          </a:xfrm>
          <a:prstGeom prst="line">
            <a:avLst/>
          </a:prstGeom>
          <a:ln>
            <a:solidFill>
              <a:srgbClr val="E3E1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5741816-C6E0-F1EF-69D5-30585362F6F7}"/>
              </a:ext>
            </a:extLst>
          </p:cNvPr>
          <p:cNvSpPr txBox="1"/>
          <p:nvPr/>
        </p:nvSpPr>
        <p:spPr>
          <a:xfrm>
            <a:off x="685800" y="65659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700" b="1">
                <a:solidFill>
                  <a:srgbClr val="69646A"/>
                </a:solidFill>
                <a:latin typeface="Aptos" panose="020B0004020202020204" pitchFamily="34" charset="0"/>
              </a:rPr>
              <a:t>FRONTIER RM · RM DAY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AD5424-9BEC-35F1-2029-7D54504ADCCF}"/>
              </a:ext>
            </a:extLst>
          </p:cNvPr>
          <p:cNvSpPr txBox="1"/>
          <p:nvPr/>
        </p:nvSpPr>
        <p:spPr>
          <a:xfrm>
            <a:off x="10985500" y="65659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r"/>
            <a:r>
              <a:rPr lang="en-GB" sz="800" b="1">
                <a:solidFill>
                  <a:srgbClr val="69646A"/>
                </a:solidFill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9" name="SCREENSHOT_ZONE_S06">
            <a:extLst>
              <a:ext uri="{FF2B5EF4-FFF2-40B4-BE49-F238E27FC236}">
                <a16:creationId xmlns:a16="http://schemas.microsoft.com/office/drawing/2014/main" id="{389424E0-5672-1B7A-CD6C-5B991C704E0A}"/>
              </a:ext>
            </a:extLst>
          </p:cNvPr>
          <p:cNvSpPr/>
          <p:nvPr/>
        </p:nvSpPr>
        <p:spPr>
          <a:xfrm>
            <a:off x="685800" y="2095500"/>
            <a:ext cx="7048500" cy="3937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192E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AF9F725-F2E1-0EE3-C8D9-CA61A9F41B16}"/>
              </a:ext>
            </a:extLst>
          </p:cNvPr>
          <p:cNvSpPr/>
          <p:nvPr/>
        </p:nvSpPr>
        <p:spPr>
          <a:xfrm>
            <a:off x="876300" y="2286000"/>
            <a:ext cx="2667000" cy="304800"/>
          </a:xfrm>
          <a:prstGeom prst="roundRect">
            <a:avLst/>
          </a:prstGeom>
          <a:solidFill>
            <a:srgbClr val="A6192E"/>
          </a:solidFill>
          <a:ln w="12700">
            <a:solidFill>
              <a:srgbClr val="A619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195B71-6B47-90C8-551A-03990465ED27}"/>
              </a:ext>
            </a:extLst>
          </p:cNvPr>
          <p:cNvSpPr txBox="1"/>
          <p:nvPr/>
        </p:nvSpPr>
        <p:spPr>
          <a:xfrm>
            <a:off x="965200" y="2349500"/>
            <a:ext cx="2489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800" b="1">
                <a:solidFill>
                  <a:srgbClr val="FFFFFF"/>
                </a:solidFill>
                <a:latin typeface="Aptos" panose="020B0004020202020204" pitchFamily="34" charset="0"/>
              </a:rPr>
              <a:t>IMAGE PLACEHOLDER · GUIDED STORY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17AE0F-82BA-448E-E5B4-FB13F0D63548}"/>
              </a:ext>
            </a:extLst>
          </p:cNvPr>
          <p:cNvSpPr txBox="1"/>
          <p:nvPr/>
        </p:nvSpPr>
        <p:spPr>
          <a:xfrm>
            <a:off x="3956050" y="36195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GB" sz="2400" b="1">
                <a:solidFill>
                  <a:srgbClr val="A6192E"/>
                </a:solidFill>
                <a:latin typeface="Segoe UI Symbol" panose="020B0502040204020203" pitchFamily="34" charset="0"/>
              </a:rPr>
              <a:t>▧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1D8BA9-A07D-3595-5E4B-DA6EECA76756}"/>
              </a:ext>
            </a:extLst>
          </p:cNvPr>
          <p:cNvSpPr txBox="1"/>
          <p:nvPr/>
        </p:nvSpPr>
        <p:spPr>
          <a:xfrm>
            <a:off x="1041400" y="4165600"/>
            <a:ext cx="6337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100" b="1">
                <a:solidFill>
                  <a:srgbClr val="242124"/>
                </a:solidFill>
                <a:latin typeface="Aptos" panose="020B0004020202020204" pitchFamily="34" charset="0"/>
              </a:rPr>
              <a:t>Insert the opening scene or a montage of the seven scenes.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AE6ECE-EB07-0838-1D7A-6DFEA93174AB}"/>
              </a:ext>
            </a:extLst>
          </p:cNvPr>
          <p:cNvSpPr txBox="1"/>
          <p:nvPr/>
        </p:nvSpPr>
        <p:spPr>
          <a:xfrm>
            <a:off x="1003300" y="5588000"/>
            <a:ext cx="6413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800">
                <a:solidFill>
                  <a:srgbClr val="69646A"/>
                </a:solidFill>
                <a:latin typeface="Aptos" panose="020B0004020202020204" pitchFamily="34" charset="0"/>
              </a:rPr>
              <a:t>Replace this zone with your screenshot; retain the slide title and adjacent callouts.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0AD0F24-3DFB-3493-2318-0BD0D96867AC}"/>
              </a:ext>
            </a:extLst>
          </p:cNvPr>
          <p:cNvSpPr/>
          <p:nvPr/>
        </p:nvSpPr>
        <p:spPr>
          <a:xfrm>
            <a:off x="8064500" y="2095500"/>
            <a:ext cx="3441700" cy="187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EF6D1A-6E2E-812A-E01C-041B4B847650}"/>
              </a:ext>
            </a:extLst>
          </p:cNvPr>
          <p:cNvSpPr/>
          <p:nvPr/>
        </p:nvSpPr>
        <p:spPr>
          <a:xfrm>
            <a:off x="8064500" y="2095500"/>
            <a:ext cx="88900" cy="18796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7D33AD-C4E3-593E-BD63-1A7A8EAD072B}"/>
              </a:ext>
            </a:extLst>
          </p:cNvPr>
          <p:cNvSpPr txBox="1"/>
          <p:nvPr/>
        </p:nvSpPr>
        <p:spPr>
          <a:xfrm>
            <a:off x="8305800" y="2286000"/>
            <a:ext cx="3009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A6192E"/>
                </a:solidFill>
                <a:latin typeface="Aptos" panose="020B0004020202020204" pitchFamily="34" charset="0"/>
              </a:rPr>
              <a:t>LIVE HANDOFF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C262D1F-CF80-2E34-DE00-141AD8D04C34}"/>
              </a:ext>
            </a:extLst>
          </p:cNvPr>
          <p:cNvSpPr txBox="1"/>
          <p:nvPr/>
        </p:nvSpPr>
        <p:spPr>
          <a:xfrm>
            <a:off x="8305800" y="2603500"/>
            <a:ext cx="3009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400" b="1">
                <a:solidFill>
                  <a:srgbClr val="242124"/>
                </a:solidFill>
                <a:latin typeface="Aptos Display" panose="020B0004020202020204" pitchFamily="34" charset="0"/>
              </a:rPr>
              <a:t>Seven scenes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4E0845-893E-B509-42CE-6FE0B5453F6E}"/>
              </a:ext>
            </a:extLst>
          </p:cNvPr>
          <p:cNvSpPr txBox="1"/>
          <p:nvPr/>
        </p:nvSpPr>
        <p:spPr>
          <a:xfrm>
            <a:off x="8305800" y="3213100"/>
            <a:ext cx="3009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50">
                <a:solidFill>
                  <a:srgbClr val="69646A"/>
                </a:solidFill>
                <a:latin typeface="Aptos" panose="020B0004020202020204" pitchFamily="34" charset="0"/>
              </a:rPr>
              <a:t>The day begins · sources converge · Client 360 · briefing · recommendations · draft · impact.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9948130-2FC1-1D4B-A600-322CC01F7835}"/>
              </a:ext>
            </a:extLst>
          </p:cNvPr>
          <p:cNvSpPr/>
          <p:nvPr/>
        </p:nvSpPr>
        <p:spPr>
          <a:xfrm>
            <a:off x="8064500" y="4191000"/>
            <a:ext cx="3441700" cy="1841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EDD24B2-8C7A-784F-48A2-E5A413DE7B0D}"/>
              </a:ext>
            </a:extLst>
          </p:cNvPr>
          <p:cNvSpPr/>
          <p:nvPr/>
        </p:nvSpPr>
        <p:spPr>
          <a:xfrm>
            <a:off x="8064500" y="4191000"/>
            <a:ext cx="88900" cy="1841500"/>
          </a:xfrm>
          <a:prstGeom prst="rect">
            <a:avLst/>
          </a:prstGeom>
          <a:solidFill>
            <a:srgbClr val="2E2B30"/>
          </a:solidFill>
          <a:ln w="12700">
            <a:solidFill>
              <a:srgbClr val="2E2B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A4154D4-36E3-F1BD-5FC1-682E981C932D}"/>
              </a:ext>
            </a:extLst>
          </p:cNvPr>
          <p:cNvSpPr txBox="1"/>
          <p:nvPr/>
        </p:nvSpPr>
        <p:spPr>
          <a:xfrm>
            <a:off x="8305800" y="4381500"/>
            <a:ext cx="3009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2E2B30"/>
                </a:solidFill>
                <a:latin typeface="Aptos" panose="020B0004020202020204" pitchFamily="34" charset="0"/>
              </a:rPr>
              <a:t>CONTROL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A99CA93-CCBF-49B9-700E-7A60B527759D}"/>
              </a:ext>
            </a:extLst>
          </p:cNvPr>
          <p:cNvSpPr txBox="1"/>
          <p:nvPr/>
        </p:nvSpPr>
        <p:spPr>
          <a:xfrm>
            <a:off x="8305800" y="4699000"/>
            <a:ext cx="3009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400" b="1">
                <a:solidFill>
                  <a:srgbClr val="242124"/>
                </a:solidFill>
                <a:latin typeface="Aptos Display" panose="020B0004020202020204" pitchFamily="34" charset="0"/>
              </a:rPr>
              <a:t>Presenter-ready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1273988-7A59-1FB1-668E-B46B9BF59630}"/>
              </a:ext>
            </a:extLst>
          </p:cNvPr>
          <p:cNvSpPr txBox="1"/>
          <p:nvPr/>
        </p:nvSpPr>
        <p:spPr>
          <a:xfrm>
            <a:off x="8305800" y="5308600"/>
            <a:ext cx="3009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50">
                <a:solidFill>
                  <a:srgbClr val="69646A"/>
                </a:solidFill>
                <a:latin typeface="Aptos" panose="020B0004020202020204" pitchFamily="34" charset="0"/>
              </a:rPr>
              <a:t>Auto progression, pause, direct scene navigation, and deterministic rehearsal fallback.</a:t>
            </a:r>
          </a:p>
        </p:txBody>
      </p:sp>
    </p:spTree>
    <p:extLst>
      <p:ext uri="{BB962C8B-B14F-4D97-AF65-F5344CB8AC3E}">
        <p14:creationId xmlns:p14="http://schemas.microsoft.com/office/powerpoint/2010/main" val="58949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244EA08-8CF5-2FCD-C734-CF238E0880D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7"/>
          </a:solidFill>
          <a:ln w="12700">
            <a:solidFill>
              <a:srgbClr val="F8F7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41B9AE-B690-28B4-307E-742AF9DD50C3}"/>
              </a:ext>
            </a:extLst>
          </p:cNvPr>
          <p:cNvSpPr txBox="1"/>
          <p:nvPr/>
        </p:nvSpPr>
        <p:spPr>
          <a:xfrm>
            <a:off x="685800" y="3810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A6192E"/>
                </a:solidFill>
                <a:latin typeface="Aptos" panose="020B0004020202020204" pitchFamily="34" charset="0"/>
              </a:rPr>
              <a:t>RM DAY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3ADD3D-FEF9-9EB5-B6ED-1C5A644FC87E}"/>
              </a:ext>
            </a:extLst>
          </p:cNvPr>
          <p:cNvSpPr txBox="1"/>
          <p:nvPr/>
        </p:nvSpPr>
        <p:spPr>
          <a:xfrm>
            <a:off x="685800" y="6858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2700" b="1">
                <a:solidFill>
                  <a:srgbClr val="242124"/>
                </a:solidFill>
                <a:latin typeface="Aptos Display" panose="020B0004020202020204" pitchFamily="34" charset="0"/>
              </a:rPr>
              <a:t>Today: priorities become a working plan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BEF5A1-8040-FFAC-35E6-F3E65EF68512}"/>
              </a:ext>
            </a:extLst>
          </p:cNvPr>
          <p:cNvSpPr txBox="1"/>
          <p:nvPr/>
        </p:nvSpPr>
        <p:spPr>
          <a:xfrm>
            <a:off x="685800" y="14351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100">
                <a:solidFill>
                  <a:srgbClr val="69646A"/>
                </a:solidFill>
                <a:latin typeface="Aptos" panose="020B0004020202020204" pitchFamily="34" charset="0"/>
              </a:rPr>
              <a:t>Portfolio signals, report-style metrics, workflow cards, and action progress share one data contract.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5DA5E44-4009-4DFB-70D1-A3D53F8D5742}"/>
              </a:ext>
            </a:extLst>
          </p:cNvPr>
          <p:cNvCxnSpPr/>
          <p:nvPr/>
        </p:nvCxnSpPr>
        <p:spPr>
          <a:xfrm>
            <a:off x="685800" y="6477000"/>
            <a:ext cx="10820400" cy="0"/>
          </a:xfrm>
          <a:prstGeom prst="line">
            <a:avLst/>
          </a:prstGeom>
          <a:ln>
            <a:solidFill>
              <a:srgbClr val="E3E1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800995A-A415-5980-E1EC-1875476FE475}"/>
              </a:ext>
            </a:extLst>
          </p:cNvPr>
          <p:cNvSpPr txBox="1"/>
          <p:nvPr/>
        </p:nvSpPr>
        <p:spPr>
          <a:xfrm>
            <a:off x="685800" y="65659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700" b="1">
                <a:solidFill>
                  <a:srgbClr val="69646A"/>
                </a:solidFill>
                <a:latin typeface="Aptos" panose="020B0004020202020204" pitchFamily="34" charset="0"/>
              </a:rPr>
              <a:t>FRONTIER RM · RM DAY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2139D5-14FF-24C9-7B88-016AECC08BB7}"/>
              </a:ext>
            </a:extLst>
          </p:cNvPr>
          <p:cNvSpPr txBox="1"/>
          <p:nvPr/>
        </p:nvSpPr>
        <p:spPr>
          <a:xfrm>
            <a:off x="10985500" y="65659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r"/>
            <a:r>
              <a:rPr lang="en-GB" sz="800" b="1">
                <a:solidFill>
                  <a:srgbClr val="69646A"/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9" name="SCREENSHOT_ZONE_S07">
            <a:extLst>
              <a:ext uri="{FF2B5EF4-FFF2-40B4-BE49-F238E27FC236}">
                <a16:creationId xmlns:a16="http://schemas.microsoft.com/office/drawing/2014/main" id="{38201B78-B08D-4384-297A-076DA91AD6DB}"/>
              </a:ext>
            </a:extLst>
          </p:cNvPr>
          <p:cNvSpPr/>
          <p:nvPr/>
        </p:nvSpPr>
        <p:spPr>
          <a:xfrm>
            <a:off x="685800" y="2095500"/>
            <a:ext cx="7620000" cy="3937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192E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671ED2F-538A-CCC7-0798-830FF775A1F2}"/>
              </a:ext>
            </a:extLst>
          </p:cNvPr>
          <p:cNvSpPr/>
          <p:nvPr/>
        </p:nvSpPr>
        <p:spPr>
          <a:xfrm>
            <a:off x="876300" y="2286000"/>
            <a:ext cx="2667000" cy="304800"/>
          </a:xfrm>
          <a:prstGeom prst="roundRect">
            <a:avLst/>
          </a:prstGeom>
          <a:solidFill>
            <a:srgbClr val="A6192E"/>
          </a:solidFill>
          <a:ln w="12700">
            <a:solidFill>
              <a:srgbClr val="A619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0E343C-0106-5B7A-D031-9814B7F06562}"/>
              </a:ext>
            </a:extLst>
          </p:cNvPr>
          <p:cNvSpPr txBox="1"/>
          <p:nvPr/>
        </p:nvSpPr>
        <p:spPr>
          <a:xfrm>
            <a:off x="965200" y="2349500"/>
            <a:ext cx="2489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800" b="1">
                <a:solidFill>
                  <a:srgbClr val="FFFFFF"/>
                </a:solidFill>
                <a:latin typeface="Aptos" panose="020B0004020202020204" pitchFamily="34" charset="0"/>
              </a:rPr>
              <a:t>IMAGE PLACEHOLDER · TODAY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1729BE-F6A5-E63E-D2AB-5B64791753EF}"/>
              </a:ext>
            </a:extLst>
          </p:cNvPr>
          <p:cNvSpPr txBox="1"/>
          <p:nvPr/>
        </p:nvSpPr>
        <p:spPr>
          <a:xfrm>
            <a:off x="4241800" y="36195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GB" sz="2400" b="1">
                <a:solidFill>
                  <a:srgbClr val="A6192E"/>
                </a:solidFill>
                <a:latin typeface="Segoe UI Symbol" panose="020B0502040204020203" pitchFamily="34" charset="0"/>
              </a:rPr>
              <a:t>▧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6DB64F-1B3D-4015-99BE-EAB37916E8BE}"/>
              </a:ext>
            </a:extLst>
          </p:cNvPr>
          <p:cNvSpPr txBox="1"/>
          <p:nvPr/>
        </p:nvSpPr>
        <p:spPr>
          <a:xfrm>
            <a:off x="1041400" y="4165600"/>
            <a:ext cx="6908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100" b="1">
                <a:solidFill>
                  <a:srgbClr val="242124"/>
                </a:solidFill>
                <a:latin typeface="Aptos" panose="020B0004020202020204" pitchFamily="34" charset="0"/>
              </a:rPr>
              <a:t>Insert Today with morning pulse, metrics, workflow cards, and day plan.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43A492-921A-FC4A-3D12-DAF87DB2BB99}"/>
              </a:ext>
            </a:extLst>
          </p:cNvPr>
          <p:cNvSpPr txBox="1"/>
          <p:nvPr/>
        </p:nvSpPr>
        <p:spPr>
          <a:xfrm>
            <a:off x="1003300" y="5588000"/>
            <a:ext cx="698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800">
                <a:solidFill>
                  <a:srgbClr val="69646A"/>
                </a:solidFill>
                <a:latin typeface="Aptos" panose="020B0004020202020204" pitchFamily="34" charset="0"/>
              </a:rPr>
              <a:t>Replace this zone with your screenshot; retain the slide title and adjacent callouts.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6DA9AEA-F1E5-089E-E778-FC96E5835EC1}"/>
              </a:ext>
            </a:extLst>
          </p:cNvPr>
          <p:cNvSpPr/>
          <p:nvPr/>
        </p:nvSpPr>
        <p:spPr>
          <a:xfrm>
            <a:off x="8636000" y="2413000"/>
            <a:ext cx="2870200" cy="2730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B745427-BAF2-D5BF-8605-49ED34710163}"/>
              </a:ext>
            </a:extLst>
          </p:cNvPr>
          <p:cNvSpPr/>
          <p:nvPr/>
        </p:nvSpPr>
        <p:spPr>
          <a:xfrm>
            <a:off x="8636000" y="2413000"/>
            <a:ext cx="88900" cy="27305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61431FB-BDE8-0A1E-C105-7C4FFB7084E1}"/>
              </a:ext>
            </a:extLst>
          </p:cNvPr>
          <p:cNvSpPr txBox="1"/>
          <p:nvPr/>
        </p:nvSpPr>
        <p:spPr>
          <a:xfrm>
            <a:off x="8877300" y="2603500"/>
            <a:ext cx="2438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A6192E"/>
                </a:solidFill>
                <a:latin typeface="Aptos" panose="020B0004020202020204" pitchFamily="34" charset="0"/>
              </a:rPr>
              <a:t>OUTCOME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0A1F103-6C30-F65C-40B9-14580416F3CA}"/>
              </a:ext>
            </a:extLst>
          </p:cNvPr>
          <p:cNvSpPr txBox="1"/>
          <p:nvPr/>
        </p:nvSpPr>
        <p:spPr>
          <a:xfrm>
            <a:off x="8877300" y="2921000"/>
            <a:ext cx="2438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400" b="1">
                <a:solidFill>
                  <a:srgbClr val="242124"/>
                </a:solidFill>
                <a:latin typeface="Aptos Display" panose="020B0004020202020204" pitchFamily="34" charset="0"/>
              </a:rPr>
              <a:t>Actionable, not decorative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D636FA-848E-5BA3-C439-7F62B7B70CF6}"/>
              </a:ext>
            </a:extLst>
          </p:cNvPr>
          <p:cNvSpPr txBox="1"/>
          <p:nvPr/>
        </p:nvSpPr>
        <p:spPr>
          <a:xfrm>
            <a:off x="8877300" y="3530600"/>
            <a:ext cx="2438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50">
                <a:solidFill>
                  <a:srgbClr val="69646A"/>
                </a:solidFill>
                <a:latin typeface="Aptos" panose="020B0004020202020204" pitchFamily="34" charset="0"/>
              </a:rPr>
              <a:t>Metrics drill into clients and actions. Completing work updates session state and coverage.</a:t>
            </a:r>
          </a:p>
        </p:txBody>
      </p:sp>
    </p:spTree>
    <p:extLst>
      <p:ext uri="{BB962C8B-B14F-4D97-AF65-F5344CB8AC3E}">
        <p14:creationId xmlns:p14="http://schemas.microsoft.com/office/powerpoint/2010/main" val="8771087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5A299C6-C457-2972-7F5E-9011F4B78DB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7"/>
          </a:solidFill>
          <a:ln w="12700">
            <a:solidFill>
              <a:srgbClr val="F8F7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C88DFB-6AF0-F9F5-A66C-E53AB9F543DF}"/>
              </a:ext>
            </a:extLst>
          </p:cNvPr>
          <p:cNvSpPr txBox="1"/>
          <p:nvPr/>
        </p:nvSpPr>
        <p:spPr>
          <a:xfrm>
            <a:off x="685800" y="3810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A6192E"/>
                </a:solidFill>
                <a:latin typeface="Aptos" panose="020B0004020202020204" pitchFamily="34" charset="0"/>
              </a:rPr>
              <a:t>RM DAY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6ADEC6-B470-A838-D80F-3964F50653DF}"/>
              </a:ext>
            </a:extLst>
          </p:cNvPr>
          <p:cNvSpPr txBox="1"/>
          <p:nvPr/>
        </p:nvSpPr>
        <p:spPr>
          <a:xfrm>
            <a:off x="685800" y="6858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2700" b="1">
                <a:solidFill>
                  <a:srgbClr val="242124"/>
                </a:solidFill>
                <a:latin typeface="Aptos Display" panose="020B0004020202020204" pitchFamily="34" charset="0"/>
              </a:rPr>
              <a:t>Client 360: governed context before conversation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BA0F14-389D-9DEF-BFBA-02235328F1CD}"/>
              </a:ext>
            </a:extLst>
          </p:cNvPr>
          <p:cNvSpPr txBox="1"/>
          <p:nvPr/>
        </p:nvSpPr>
        <p:spPr>
          <a:xfrm>
            <a:off x="685800" y="14351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100">
                <a:solidFill>
                  <a:srgbClr val="69646A"/>
                </a:solidFill>
                <a:latin typeface="Aptos" panose="020B0004020202020204" pitchFamily="34" charset="0"/>
              </a:rPr>
              <a:t>Daniel's relationship, consent, timeline, profile, and activity evidence in one decision surface.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126F78-039D-8365-3224-D1E18809FBBE}"/>
              </a:ext>
            </a:extLst>
          </p:cNvPr>
          <p:cNvCxnSpPr/>
          <p:nvPr/>
        </p:nvCxnSpPr>
        <p:spPr>
          <a:xfrm>
            <a:off x="685800" y="6477000"/>
            <a:ext cx="10820400" cy="0"/>
          </a:xfrm>
          <a:prstGeom prst="line">
            <a:avLst/>
          </a:prstGeom>
          <a:ln>
            <a:solidFill>
              <a:srgbClr val="E3E1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850C305-57C2-5606-0CC2-948BEF907136}"/>
              </a:ext>
            </a:extLst>
          </p:cNvPr>
          <p:cNvSpPr txBox="1"/>
          <p:nvPr/>
        </p:nvSpPr>
        <p:spPr>
          <a:xfrm>
            <a:off x="685800" y="65659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700" b="1">
                <a:solidFill>
                  <a:srgbClr val="69646A"/>
                </a:solidFill>
                <a:latin typeface="Aptos" panose="020B0004020202020204" pitchFamily="34" charset="0"/>
              </a:rPr>
              <a:t>FRONTIER RM · RM DAY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C623FE-7F3D-65F0-ABAC-9EE27848096F}"/>
              </a:ext>
            </a:extLst>
          </p:cNvPr>
          <p:cNvSpPr txBox="1"/>
          <p:nvPr/>
        </p:nvSpPr>
        <p:spPr>
          <a:xfrm>
            <a:off x="10985500" y="65659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r"/>
            <a:r>
              <a:rPr lang="en-GB" sz="800" b="1">
                <a:solidFill>
                  <a:srgbClr val="69646A"/>
                </a:solidFill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9" name="SCREENSHOT_ZONE_S08">
            <a:extLst>
              <a:ext uri="{FF2B5EF4-FFF2-40B4-BE49-F238E27FC236}">
                <a16:creationId xmlns:a16="http://schemas.microsoft.com/office/drawing/2014/main" id="{BD7777EC-3E8E-CECB-59BC-180452896C59}"/>
              </a:ext>
            </a:extLst>
          </p:cNvPr>
          <p:cNvSpPr/>
          <p:nvPr/>
        </p:nvSpPr>
        <p:spPr>
          <a:xfrm>
            <a:off x="685800" y="2095500"/>
            <a:ext cx="7620000" cy="3937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192E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94DD994-F686-9194-6D04-9E27281F1ABE}"/>
              </a:ext>
            </a:extLst>
          </p:cNvPr>
          <p:cNvSpPr/>
          <p:nvPr/>
        </p:nvSpPr>
        <p:spPr>
          <a:xfrm>
            <a:off x="876300" y="2286000"/>
            <a:ext cx="2667000" cy="304800"/>
          </a:xfrm>
          <a:prstGeom prst="roundRect">
            <a:avLst/>
          </a:prstGeom>
          <a:solidFill>
            <a:srgbClr val="A6192E"/>
          </a:solidFill>
          <a:ln w="12700">
            <a:solidFill>
              <a:srgbClr val="A619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E3C4E7-9170-0534-78D6-6DD0020F1420}"/>
              </a:ext>
            </a:extLst>
          </p:cNvPr>
          <p:cNvSpPr txBox="1"/>
          <p:nvPr/>
        </p:nvSpPr>
        <p:spPr>
          <a:xfrm>
            <a:off x="965200" y="2349500"/>
            <a:ext cx="2489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800" b="1">
                <a:solidFill>
                  <a:srgbClr val="FFFFFF"/>
                </a:solidFill>
                <a:latin typeface="Aptos" panose="020B0004020202020204" pitchFamily="34" charset="0"/>
              </a:rPr>
              <a:t>IMAGE PLACEHOLDER · CLIENT 360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CB6BB5-15D0-0EBE-6C87-7644C9AB94EC}"/>
              </a:ext>
            </a:extLst>
          </p:cNvPr>
          <p:cNvSpPr txBox="1"/>
          <p:nvPr/>
        </p:nvSpPr>
        <p:spPr>
          <a:xfrm>
            <a:off x="4241800" y="36195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GB" sz="2400" b="1">
                <a:solidFill>
                  <a:srgbClr val="A6192E"/>
                </a:solidFill>
                <a:latin typeface="Segoe UI Symbol" panose="020B0502040204020203" pitchFamily="34" charset="0"/>
              </a:rPr>
              <a:t>▧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53BE14-30E2-5930-99F7-3D220A580195}"/>
              </a:ext>
            </a:extLst>
          </p:cNvPr>
          <p:cNvSpPr txBox="1"/>
          <p:nvPr/>
        </p:nvSpPr>
        <p:spPr>
          <a:xfrm>
            <a:off x="1041400" y="4165600"/>
            <a:ext cx="6908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100" b="1">
                <a:solidFill>
                  <a:srgbClr val="242124"/>
                </a:solidFill>
                <a:latin typeface="Aptos" panose="020B0004020202020204" pitchFamily="34" charset="0"/>
              </a:rPr>
              <a:t>Insert Daniel Lim Client 360 with risk and activity evidence visible.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04500A-6B0C-52E0-20D2-702560729B9C}"/>
              </a:ext>
            </a:extLst>
          </p:cNvPr>
          <p:cNvSpPr txBox="1"/>
          <p:nvPr/>
        </p:nvSpPr>
        <p:spPr>
          <a:xfrm>
            <a:off x="1003300" y="5588000"/>
            <a:ext cx="698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800">
                <a:solidFill>
                  <a:srgbClr val="69646A"/>
                </a:solidFill>
                <a:latin typeface="Aptos" panose="020B0004020202020204" pitchFamily="34" charset="0"/>
              </a:rPr>
              <a:t>Replace this zone with your screenshot; retain the slide title and adjacent callouts.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6A7EF54-1704-6AD6-40E6-5103E519F136}"/>
              </a:ext>
            </a:extLst>
          </p:cNvPr>
          <p:cNvSpPr/>
          <p:nvPr/>
        </p:nvSpPr>
        <p:spPr>
          <a:xfrm>
            <a:off x="8636000" y="2413000"/>
            <a:ext cx="2870200" cy="2730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E2EAF0B-AF2F-7875-7FB1-6D31AEF47D82}"/>
              </a:ext>
            </a:extLst>
          </p:cNvPr>
          <p:cNvSpPr/>
          <p:nvPr/>
        </p:nvSpPr>
        <p:spPr>
          <a:xfrm>
            <a:off x="8636000" y="2413000"/>
            <a:ext cx="88900" cy="2730500"/>
          </a:xfrm>
          <a:prstGeom prst="rect">
            <a:avLst/>
          </a:prstGeom>
          <a:solidFill>
            <a:srgbClr val="217A4F"/>
          </a:solidFill>
          <a:ln w="12700">
            <a:solidFill>
              <a:srgbClr val="217A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EB75E1-2095-2334-DA7B-4899AFFE2434}"/>
              </a:ext>
            </a:extLst>
          </p:cNvPr>
          <p:cNvSpPr txBox="1"/>
          <p:nvPr/>
        </p:nvSpPr>
        <p:spPr>
          <a:xfrm>
            <a:off x="8877300" y="2603500"/>
            <a:ext cx="2438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217A4F"/>
                </a:solidFill>
                <a:latin typeface="Aptos" panose="020B0004020202020204" pitchFamily="34" charset="0"/>
              </a:rPr>
              <a:t>CONTROL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EDCF17-7C31-16E3-EFC2-D2C0790E75D5}"/>
              </a:ext>
            </a:extLst>
          </p:cNvPr>
          <p:cNvSpPr txBox="1"/>
          <p:nvPr/>
        </p:nvSpPr>
        <p:spPr>
          <a:xfrm>
            <a:off x="8877300" y="2921000"/>
            <a:ext cx="2438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400" b="1">
                <a:solidFill>
                  <a:srgbClr val="242124"/>
                </a:solidFill>
                <a:latin typeface="Aptos Display" panose="020B0004020202020204" pitchFamily="34" charset="0"/>
              </a:rPr>
              <a:t>Declared ≠ observed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3A3B82-FF72-C64F-F596-D8727EAED3C8}"/>
              </a:ext>
            </a:extLst>
          </p:cNvPr>
          <p:cNvSpPr txBox="1"/>
          <p:nvPr/>
        </p:nvSpPr>
        <p:spPr>
          <a:xfrm>
            <a:off x="8877300" y="3530600"/>
            <a:ext cx="2438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50">
                <a:solidFill>
                  <a:srgbClr val="69646A"/>
                </a:solidFill>
                <a:latin typeface="Aptos" panose="020B0004020202020204" pitchFamily="34" charset="0"/>
              </a:rPr>
              <a:t>Observed activity is review evidence. The client-confirmed profile remains controlled.</a:t>
            </a:r>
          </a:p>
        </p:txBody>
      </p:sp>
    </p:spTree>
    <p:extLst>
      <p:ext uri="{BB962C8B-B14F-4D97-AF65-F5344CB8AC3E}">
        <p14:creationId xmlns:p14="http://schemas.microsoft.com/office/powerpoint/2010/main" val="27152919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633425-13BE-2EFC-7845-CDA47B0EE00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7"/>
          </a:solidFill>
          <a:ln w="12700">
            <a:solidFill>
              <a:srgbClr val="F8F7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704126-2F20-EFB5-C59C-B04B67AE5C3E}"/>
              </a:ext>
            </a:extLst>
          </p:cNvPr>
          <p:cNvSpPr txBox="1"/>
          <p:nvPr/>
        </p:nvSpPr>
        <p:spPr>
          <a:xfrm>
            <a:off x="685800" y="3810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A6192E"/>
                </a:solidFill>
                <a:latin typeface="Aptos" panose="020B0004020202020204" pitchFamily="34" charset="0"/>
              </a:rPr>
              <a:t>RM DAY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757F56-F54A-176A-BD9F-2B9C92711EFF}"/>
              </a:ext>
            </a:extLst>
          </p:cNvPr>
          <p:cNvSpPr txBox="1"/>
          <p:nvPr/>
        </p:nvSpPr>
        <p:spPr>
          <a:xfrm>
            <a:off x="685800" y="6858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2700" b="1">
                <a:solidFill>
                  <a:srgbClr val="242124"/>
                </a:solidFill>
                <a:latin typeface="Aptos Display" panose="020B0004020202020204" pitchFamily="34" charset="0"/>
              </a:rPr>
              <a:t>Three artifacts, one governed progression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B8381E-7BC9-3763-1BDF-AE6F9DEC4EF7}"/>
              </a:ext>
            </a:extLst>
          </p:cNvPr>
          <p:cNvSpPr txBox="1"/>
          <p:nvPr/>
        </p:nvSpPr>
        <p:spPr>
          <a:xfrm>
            <a:off x="685800" y="14351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100">
                <a:solidFill>
                  <a:srgbClr val="69646A"/>
                </a:solidFill>
                <a:latin typeface="Aptos" panose="020B0004020202020204" pitchFamily="34" charset="0"/>
              </a:rPr>
              <a:t>Each stage produces something John can inspect, challenge, and improve.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00FE3CB-5BA8-2B18-95B3-E42A34243AB9}"/>
              </a:ext>
            </a:extLst>
          </p:cNvPr>
          <p:cNvCxnSpPr/>
          <p:nvPr/>
        </p:nvCxnSpPr>
        <p:spPr>
          <a:xfrm>
            <a:off x="685800" y="6477000"/>
            <a:ext cx="10820400" cy="0"/>
          </a:xfrm>
          <a:prstGeom prst="line">
            <a:avLst/>
          </a:prstGeom>
          <a:ln>
            <a:solidFill>
              <a:srgbClr val="E3E1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547891E-FD17-BCE5-5997-403E5126B377}"/>
              </a:ext>
            </a:extLst>
          </p:cNvPr>
          <p:cNvSpPr txBox="1"/>
          <p:nvPr/>
        </p:nvSpPr>
        <p:spPr>
          <a:xfrm>
            <a:off x="685800" y="65659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700" b="1">
                <a:solidFill>
                  <a:srgbClr val="69646A"/>
                </a:solidFill>
                <a:latin typeface="Aptos" panose="020B0004020202020204" pitchFamily="34" charset="0"/>
              </a:rPr>
              <a:t>FRONTIER RM · RM DAY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1F4199-B5D2-8D5F-E656-61B5A7613776}"/>
              </a:ext>
            </a:extLst>
          </p:cNvPr>
          <p:cNvSpPr txBox="1"/>
          <p:nvPr/>
        </p:nvSpPr>
        <p:spPr>
          <a:xfrm>
            <a:off x="10985500" y="65659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r"/>
            <a:r>
              <a:rPr lang="en-GB" sz="800" b="1">
                <a:solidFill>
                  <a:srgbClr val="69646A"/>
                </a:solidFill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947F5FD-E5EF-2686-6CF5-C0D2587F44C8}"/>
              </a:ext>
            </a:extLst>
          </p:cNvPr>
          <p:cNvSpPr/>
          <p:nvPr/>
        </p:nvSpPr>
        <p:spPr>
          <a:xfrm>
            <a:off x="685800" y="2603500"/>
            <a:ext cx="3420533" cy="965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619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9CDD38-1A6B-197F-7790-C5C9215CEE48}"/>
              </a:ext>
            </a:extLst>
          </p:cNvPr>
          <p:cNvSpPr txBox="1"/>
          <p:nvPr/>
        </p:nvSpPr>
        <p:spPr>
          <a:xfrm>
            <a:off x="812800" y="27432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A6192E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324F40-6487-2C6C-CD89-3E293AF7113B}"/>
              </a:ext>
            </a:extLst>
          </p:cNvPr>
          <p:cNvSpPr txBox="1"/>
          <p:nvPr/>
        </p:nvSpPr>
        <p:spPr>
          <a:xfrm>
            <a:off x="812800" y="3035300"/>
            <a:ext cx="3166533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050" b="1">
                <a:solidFill>
                  <a:srgbClr val="242124"/>
                </a:solidFill>
                <a:latin typeface="Aptos" panose="020B0004020202020204" pitchFamily="34" charset="0"/>
              </a:rPr>
              <a:t>Prepare briefing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D7DDAB-5724-C6B2-2AAE-0BE6A612C22C}"/>
              </a:ext>
            </a:extLst>
          </p:cNvPr>
          <p:cNvSpPr txBox="1"/>
          <p:nvPr/>
        </p:nvSpPr>
        <p:spPr>
          <a:xfrm>
            <a:off x="4144433" y="2933700"/>
            <a:ext cx="215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200" b="1">
                <a:solidFill>
                  <a:srgbClr val="69646A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94338E4-89AF-6730-13B1-5855127C2C5F}"/>
              </a:ext>
            </a:extLst>
          </p:cNvPr>
          <p:cNvSpPr/>
          <p:nvPr/>
        </p:nvSpPr>
        <p:spPr>
          <a:xfrm>
            <a:off x="4385733" y="2603500"/>
            <a:ext cx="3420534" cy="965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437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42781B-5BD7-38E9-0996-D0F7FFF0925D}"/>
              </a:ext>
            </a:extLst>
          </p:cNvPr>
          <p:cNvSpPr txBox="1"/>
          <p:nvPr/>
        </p:nvSpPr>
        <p:spPr>
          <a:xfrm>
            <a:off x="4512733" y="27432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A437B2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3A0748-CDDA-D9D3-B7C3-E33D34A85BB9}"/>
              </a:ext>
            </a:extLst>
          </p:cNvPr>
          <p:cNvSpPr txBox="1"/>
          <p:nvPr/>
        </p:nvSpPr>
        <p:spPr>
          <a:xfrm>
            <a:off x="4512733" y="3035300"/>
            <a:ext cx="3166533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050" b="1">
                <a:solidFill>
                  <a:srgbClr val="242124"/>
                </a:solidFill>
                <a:latin typeface="Aptos" panose="020B0004020202020204" pitchFamily="34" charset="0"/>
              </a:rPr>
              <a:t>Custom recommendations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37DE51-9290-68FC-F224-C7CC9BDA9498}"/>
              </a:ext>
            </a:extLst>
          </p:cNvPr>
          <p:cNvSpPr txBox="1"/>
          <p:nvPr/>
        </p:nvSpPr>
        <p:spPr>
          <a:xfrm>
            <a:off x="7844367" y="2933700"/>
            <a:ext cx="215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200" b="1">
                <a:solidFill>
                  <a:srgbClr val="69646A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B561F12-FB4F-F7DD-0D86-919F1E44AF74}"/>
              </a:ext>
            </a:extLst>
          </p:cNvPr>
          <p:cNvSpPr/>
          <p:nvPr/>
        </p:nvSpPr>
        <p:spPr>
          <a:xfrm>
            <a:off x="8085667" y="2603500"/>
            <a:ext cx="3420533" cy="965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7A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C0F1770-A69D-94B1-E2F6-FC84B929FF75}"/>
              </a:ext>
            </a:extLst>
          </p:cNvPr>
          <p:cNvSpPr txBox="1"/>
          <p:nvPr/>
        </p:nvSpPr>
        <p:spPr>
          <a:xfrm>
            <a:off x="8212667" y="27432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217A4F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01DE88-9BD5-92E3-F5E2-A8A062B32D3D}"/>
              </a:ext>
            </a:extLst>
          </p:cNvPr>
          <p:cNvSpPr txBox="1"/>
          <p:nvPr/>
        </p:nvSpPr>
        <p:spPr>
          <a:xfrm>
            <a:off x="8212667" y="3035300"/>
            <a:ext cx="3166533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050" b="1">
                <a:solidFill>
                  <a:srgbClr val="242124"/>
                </a:solidFill>
                <a:latin typeface="Aptos" panose="020B0004020202020204" pitchFamily="34" charset="0"/>
              </a:rPr>
              <a:t>Opportunity draft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3B7FF41-7D72-4161-A048-B9A8CFE6B880}"/>
              </a:ext>
            </a:extLst>
          </p:cNvPr>
          <p:cNvSpPr txBox="1"/>
          <p:nvPr/>
        </p:nvSpPr>
        <p:spPr>
          <a:xfrm>
            <a:off x="1905000" y="4254500"/>
            <a:ext cx="838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GB" sz="1300">
                <a:solidFill>
                  <a:srgbClr val="242124"/>
                </a:solidFill>
                <a:latin typeface="Aptos" panose="020B0004020202020204" pitchFamily="34" charset="0"/>
              </a:rPr>
              <a:t>• Evidence and required checks travel with every artifact</a:t>
            </a:r>
          </a:p>
          <a:p>
            <a:pPr>
              <a:spcAft>
                <a:spcPts val="700"/>
              </a:spcAft>
            </a:pPr>
            <a:r>
              <a:rPr lang="en-GB" sz="1300">
                <a:solidFill>
                  <a:srgbClr val="242124"/>
                </a:solidFill>
                <a:latin typeface="Aptos" panose="020B0004020202020204" pitchFamily="34" charset="0"/>
              </a:rPr>
              <a:t>• Later stages unlock only after earlier context exists</a:t>
            </a:r>
          </a:p>
          <a:p>
            <a:pPr>
              <a:spcAft>
                <a:spcPts val="700"/>
              </a:spcAft>
            </a:pPr>
            <a:r>
              <a:rPr lang="en-GB" sz="1300">
                <a:solidFill>
                  <a:srgbClr val="242124"/>
                </a:solidFill>
                <a:latin typeface="Aptos" panose="020B0004020202020204" pitchFamily="34" charset="0"/>
              </a:rPr>
              <a:t>• John edits and approves; the system never executes</a:t>
            </a:r>
          </a:p>
        </p:txBody>
      </p:sp>
    </p:spTree>
    <p:extLst>
      <p:ext uri="{BB962C8B-B14F-4D97-AF65-F5344CB8AC3E}">
        <p14:creationId xmlns:p14="http://schemas.microsoft.com/office/powerpoint/2010/main" val="31918163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5ABA824-CF58-36C1-C282-29FE2995D9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7"/>
          </a:solidFill>
          <a:ln w="12700">
            <a:solidFill>
              <a:srgbClr val="F8F7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86379A-C978-76C9-7F84-857810FC5520}"/>
              </a:ext>
            </a:extLst>
          </p:cNvPr>
          <p:cNvSpPr txBox="1"/>
          <p:nvPr/>
        </p:nvSpPr>
        <p:spPr>
          <a:xfrm>
            <a:off x="685800" y="3810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A437B2"/>
                </a:solidFill>
                <a:latin typeface="Aptos" panose="020B0004020202020204" pitchFamily="34" charset="0"/>
              </a:rPr>
              <a:t>RM DAY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E14FAF-9A3C-7777-E5C0-8A07EE62C511}"/>
              </a:ext>
            </a:extLst>
          </p:cNvPr>
          <p:cNvSpPr txBox="1"/>
          <p:nvPr/>
        </p:nvSpPr>
        <p:spPr>
          <a:xfrm>
            <a:off x="685800" y="6858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2700" b="1">
                <a:solidFill>
                  <a:srgbClr val="242124"/>
                </a:solidFill>
                <a:latin typeface="Aptos Display" panose="020B0004020202020204" pitchFamily="34" charset="0"/>
              </a:rPr>
              <a:t>Same model. Different grounding.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7A5DD6-94ED-4D72-B0A7-227CB7AA6D03}"/>
              </a:ext>
            </a:extLst>
          </p:cNvPr>
          <p:cNvSpPr txBox="1"/>
          <p:nvPr/>
        </p:nvSpPr>
        <p:spPr>
          <a:xfrm>
            <a:off x="685800" y="14351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100">
                <a:solidFill>
                  <a:srgbClr val="69646A"/>
                </a:solidFill>
                <a:latin typeface="Aptos" panose="020B0004020202020204" pitchFamily="34" charset="0"/>
              </a:rPr>
              <a:t>The Opportunity Studio makes the value of Fabric IQ directly observable.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0AB47E1-0640-F858-58E6-58CBE211EC55}"/>
              </a:ext>
            </a:extLst>
          </p:cNvPr>
          <p:cNvCxnSpPr/>
          <p:nvPr/>
        </p:nvCxnSpPr>
        <p:spPr>
          <a:xfrm>
            <a:off x="685800" y="6477000"/>
            <a:ext cx="10820400" cy="0"/>
          </a:xfrm>
          <a:prstGeom prst="line">
            <a:avLst/>
          </a:prstGeom>
          <a:ln>
            <a:solidFill>
              <a:srgbClr val="E3E1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D9F0056-1B62-3D76-3CB1-D1AFA72C80F8}"/>
              </a:ext>
            </a:extLst>
          </p:cNvPr>
          <p:cNvSpPr txBox="1"/>
          <p:nvPr/>
        </p:nvSpPr>
        <p:spPr>
          <a:xfrm>
            <a:off x="685800" y="65659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700" b="1">
                <a:solidFill>
                  <a:srgbClr val="69646A"/>
                </a:solidFill>
                <a:latin typeface="Aptos" panose="020B0004020202020204" pitchFamily="34" charset="0"/>
              </a:rPr>
              <a:t>FRONTIER RM · RM DAY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E8C6DB-F406-6A05-5F11-03B2C5E92C49}"/>
              </a:ext>
            </a:extLst>
          </p:cNvPr>
          <p:cNvSpPr txBox="1"/>
          <p:nvPr/>
        </p:nvSpPr>
        <p:spPr>
          <a:xfrm>
            <a:off x="10985500" y="65659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r"/>
            <a:r>
              <a:rPr lang="en-GB" sz="800" b="1">
                <a:solidFill>
                  <a:srgbClr val="69646A"/>
                </a:solidFill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9" name="SCREENSHOT_ZONE_S10">
            <a:extLst>
              <a:ext uri="{FF2B5EF4-FFF2-40B4-BE49-F238E27FC236}">
                <a16:creationId xmlns:a16="http://schemas.microsoft.com/office/drawing/2014/main" id="{E90705B8-40B9-7D40-E337-23B7F586C102}"/>
              </a:ext>
            </a:extLst>
          </p:cNvPr>
          <p:cNvSpPr/>
          <p:nvPr/>
        </p:nvSpPr>
        <p:spPr>
          <a:xfrm>
            <a:off x="685800" y="2095500"/>
            <a:ext cx="5080000" cy="3429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9646A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B823BA2-C51D-2AFA-C704-A745A9226C29}"/>
              </a:ext>
            </a:extLst>
          </p:cNvPr>
          <p:cNvSpPr/>
          <p:nvPr/>
        </p:nvSpPr>
        <p:spPr>
          <a:xfrm>
            <a:off x="876300" y="2286000"/>
            <a:ext cx="2667000" cy="304800"/>
          </a:xfrm>
          <a:prstGeom prst="roundRect">
            <a:avLst/>
          </a:prstGeom>
          <a:solidFill>
            <a:srgbClr val="69646A"/>
          </a:solidFill>
          <a:ln w="12700">
            <a:solidFill>
              <a:srgbClr val="6964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71730B-D1B1-1DF9-FAC6-DA79AB879BA3}"/>
              </a:ext>
            </a:extLst>
          </p:cNvPr>
          <p:cNvSpPr txBox="1"/>
          <p:nvPr/>
        </p:nvSpPr>
        <p:spPr>
          <a:xfrm>
            <a:off x="965200" y="2349500"/>
            <a:ext cx="2489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800" b="1">
                <a:solidFill>
                  <a:srgbClr val="FFFFFF"/>
                </a:solidFill>
                <a:latin typeface="Aptos" panose="020B0004020202020204" pitchFamily="34" charset="0"/>
              </a:rPr>
              <a:t>IMAGE PLACEHOLDER · WITHOUT FABRIC IQ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54CBB2-DCBD-0CCC-DC1F-F38BB340ADAC}"/>
              </a:ext>
            </a:extLst>
          </p:cNvPr>
          <p:cNvSpPr txBox="1"/>
          <p:nvPr/>
        </p:nvSpPr>
        <p:spPr>
          <a:xfrm>
            <a:off x="2971800" y="33655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GB" sz="2400" b="1">
                <a:solidFill>
                  <a:srgbClr val="69646A"/>
                </a:solidFill>
                <a:latin typeface="Segoe UI Symbol" panose="020B0502040204020203" pitchFamily="34" charset="0"/>
              </a:rPr>
              <a:t>▧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7C459C-9C00-F881-6F16-C28CA71F514A}"/>
              </a:ext>
            </a:extLst>
          </p:cNvPr>
          <p:cNvSpPr txBox="1"/>
          <p:nvPr/>
        </p:nvSpPr>
        <p:spPr>
          <a:xfrm>
            <a:off x="1041400" y="3911600"/>
            <a:ext cx="4368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100" b="1">
                <a:solidFill>
                  <a:srgbClr val="242124"/>
                </a:solidFill>
                <a:latin typeface="Aptos" panose="020B0004020202020204" pitchFamily="34" charset="0"/>
              </a:rPr>
              <a:t>Insert the General AI draft with no enterprise citations.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FDFF3A-DA0C-AAAF-1DE2-78028DC332A4}"/>
              </a:ext>
            </a:extLst>
          </p:cNvPr>
          <p:cNvSpPr txBox="1"/>
          <p:nvPr/>
        </p:nvSpPr>
        <p:spPr>
          <a:xfrm>
            <a:off x="1003300" y="50800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800">
                <a:solidFill>
                  <a:srgbClr val="69646A"/>
                </a:solidFill>
                <a:latin typeface="Aptos" panose="020B0004020202020204" pitchFamily="34" charset="0"/>
              </a:rPr>
              <a:t>Replace this zone with your screenshot; retain the slide title and adjacent callouts.</a:t>
            </a:r>
          </a:p>
        </p:txBody>
      </p:sp>
      <p:sp>
        <p:nvSpPr>
          <p:cNvPr id="15" name="SCREENSHOT_ZONE_S10">
            <a:extLst>
              <a:ext uri="{FF2B5EF4-FFF2-40B4-BE49-F238E27FC236}">
                <a16:creationId xmlns:a16="http://schemas.microsoft.com/office/drawing/2014/main" id="{FB5EAB9F-F785-B91F-B553-260E1C69E163}"/>
              </a:ext>
            </a:extLst>
          </p:cNvPr>
          <p:cNvSpPr/>
          <p:nvPr/>
        </p:nvSpPr>
        <p:spPr>
          <a:xfrm>
            <a:off x="6426200" y="2095500"/>
            <a:ext cx="5080000" cy="3429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437B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1C8198B-A2B1-9D29-7149-473C68D5567F}"/>
              </a:ext>
            </a:extLst>
          </p:cNvPr>
          <p:cNvSpPr/>
          <p:nvPr/>
        </p:nvSpPr>
        <p:spPr>
          <a:xfrm>
            <a:off x="6616700" y="2286000"/>
            <a:ext cx="2667000" cy="304800"/>
          </a:xfrm>
          <a:prstGeom prst="roundRect">
            <a:avLst/>
          </a:prstGeom>
          <a:solidFill>
            <a:srgbClr val="A437B2"/>
          </a:solidFill>
          <a:ln w="12700">
            <a:solidFill>
              <a:srgbClr val="A437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F451DD-E06A-D22F-0763-64242B06E80E}"/>
              </a:ext>
            </a:extLst>
          </p:cNvPr>
          <p:cNvSpPr txBox="1"/>
          <p:nvPr/>
        </p:nvSpPr>
        <p:spPr>
          <a:xfrm>
            <a:off x="6705600" y="2349500"/>
            <a:ext cx="2489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800" b="1">
                <a:solidFill>
                  <a:srgbClr val="FFFFFF"/>
                </a:solidFill>
                <a:latin typeface="Aptos" panose="020B0004020202020204" pitchFamily="34" charset="0"/>
              </a:rPr>
              <a:t>IMAGE PLACEHOLDER · WITH FABRIC IQ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4FE6E-B8E6-6FAF-1386-E33A2D26D4BE}"/>
              </a:ext>
            </a:extLst>
          </p:cNvPr>
          <p:cNvSpPr txBox="1"/>
          <p:nvPr/>
        </p:nvSpPr>
        <p:spPr>
          <a:xfrm>
            <a:off x="8712200" y="33655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GB" sz="2400" b="1">
                <a:solidFill>
                  <a:srgbClr val="A437B2"/>
                </a:solidFill>
                <a:latin typeface="Segoe UI Symbol" panose="020B0502040204020203" pitchFamily="34" charset="0"/>
              </a:rPr>
              <a:t>▧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8BBCE6E-3BD1-A86D-8C48-C78856EEF648}"/>
              </a:ext>
            </a:extLst>
          </p:cNvPr>
          <p:cNvSpPr txBox="1"/>
          <p:nvPr/>
        </p:nvSpPr>
        <p:spPr>
          <a:xfrm>
            <a:off x="6781800" y="3911600"/>
            <a:ext cx="4368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100" b="1">
                <a:solidFill>
                  <a:srgbClr val="242124"/>
                </a:solidFill>
                <a:latin typeface="Aptos" panose="020B0004020202020204" pitchFamily="34" charset="0"/>
              </a:rPr>
              <a:t>Insert the Fabric IQ grounded artifact with evidence and controls.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65B20EC-E9D8-A2CD-52D2-04D02D54BC1C}"/>
              </a:ext>
            </a:extLst>
          </p:cNvPr>
          <p:cNvSpPr txBox="1"/>
          <p:nvPr/>
        </p:nvSpPr>
        <p:spPr>
          <a:xfrm>
            <a:off x="6743700" y="50800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800">
                <a:solidFill>
                  <a:srgbClr val="69646A"/>
                </a:solidFill>
                <a:latin typeface="Aptos" panose="020B0004020202020204" pitchFamily="34" charset="0"/>
              </a:rPr>
              <a:t>Replace this zone with your screenshot; retain the slide title and adjacent callouts.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BE5884-1B63-2A7F-9EF2-7AB0872B99D1}"/>
              </a:ext>
            </a:extLst>
          </p:cNvPr>
          <p:cNvSpPr txBox="1"/>
          <p:nvPr/>
        </p:nvSpPr>
        <p:spPr>
          <a:xfrm>
            <a:off x="3556000" y="57785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200" b="1">
                <a:solidFill>
                  <a:srgbClr val="A437B2"/>
                </a:solidFill>
                <a:latin typeface="Aptos" panose="020B0004020202020204" pitchFamily="34" charset="0"/>
              </a:rPr>
              <a:t>gpt-4.1-mini · managed identity in both modes</a:t>
            </a:r>
          </a:p>
        </p:txBody>
      </p:sp>
    </p:spTree>
    <p:extLst>
      <p:ext uri="{BB962C8B-B14F-4D97-AF65-F5344CB8AC3E}">
        <p14:creationId xmlns:p14="http://schemas.microsoft.com/office/powerpoint/2010/main" val="713521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B96CA96-5431-C6F9-BD2D-F1903CA10B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7"/>
          </a:solidFill>
          <a:ln w="12700">
            <a:solidFill>
              <a:srgbClr val="F8F7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0067AC-1F09-AC5C-7CCC-C360F28816DC}"/>
              </a:ext>
            </a:extLst>
          </p:cNvPr>
          <p:cNvSpPr txBox="1"/>
          <p:nvPr/>
        </p:nvSpPr>
        <p:spPr>
          <a:xfrm>
            <a:off x="685800" y="3810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238AC6"/>
                </a:solidFill>
                <a:latin typeface="Aptos" panose="020B0004020202020204" pitchFamily="34" charset="0"/>
              </a:rPr>
              <a:t>RM DAY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AAEEEC-E03E-CB53-1D14-952F5D0A2759}"/>
              </a:ext>
            </a:extLst>
          </p:cNvPr>
          <p:cNvSpPr txBox="1"/>
          <p:nvPr/>
        </p:nvSpPr>
        <p:spPr>
          <a:xfrm>
            <a:off x="685800" y="6858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2700" b="1">
                <a:solidFill>
                  <a:srgbClr val="242124"/>
                </a:solidFill>
                <a:latin typeface="Aptos Display" panose="020B0004020202020204" pitchFamily="34" charset="0"/>
              </a:rPr>
              <a:t>Sources and Frontier Copilot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5592A2-B399-F2CE-257E-7215A8A00A14}"/>
              </a:ext>
            </a:extLst>
          </p:cNvPr>
          <p:cNvSpPr txBox="1"/>
          <p:nvPr/>
        </p:nvSpPr>
        <p:spPr>
          <a:xfrm>
            <a:off x="685800" y="14351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100">
                <a:solidFill>
                  <a:srgbClr val="69646A"/>
                </a:solidFill>
                <a:latin typeface="Aptos" panose="020B0004020202020204" pitchFamily="34" charset="0"/>
              </a:rPr>
              <a:t>Client voice and approved knowledge remain available across the workflow.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99BA4E-F24B-C6BA-1FD5-C5DD83358BE3}"/>
              </a:ext>
            </a:extLst>
          </p:cNvPr>
          <p:cNvCxnSpPr/>
          <p:nvPr/>
        </p:nvCxnSpPr>
        <p:spPr>
          <a:xfrm>
            <a:off x="685800" y="6477000"/>
            <a:ext cx="10820400" cy="0"/>
          </a:xfrm>
          <a:prstGeom prst="line">
            <a:avLst/>
          </a:prstGeom>
          <a:ln>
            <a:solidFill>
              <a:srgbClr val="E3E1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1F679F6-E54B-FE0D-2B94-40778C4EDBDA}"/>
              </a:ext>
            </a:extLst>
          </p:cNvPr>
          <p:cNvSpPr txBox="1"/>
          <p:nvPr/>
        </p:nvSpPr>
        <p:spPr>
          <a:xfrm>
            <a:off x="685800" y="65659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700" b="1">
                <a:solidFill>
                  <a:srgbClr val="69646A"/>
                </a:solidFill>
                <a:latin typeface="Aptos" panose="020B0004020202020204" pitchFamily="34" charset="0"/>
              </a:rPr>
              <a:t>FRONTIER RM · RM DAY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C42D49-CFD0-AFCC-E28E-12A82E000F23}"/>
              </a:ext>
            </a:extLst>
          </p:cNvPr>
          <p:cNvSpPr txBox="1"/>
          <p:nvPr/>
        </p:nvSpPr>
        <p:spPr>
          <a:xfrm>
            <a:off x="10985500" y="65659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r"/>
            <a:r>
              <a:rPr lang="en-GB" sz="800" b="1">
                <a:solidFill>
                  <a:srgbClr val="69646A"/>
                </a:solidFill>
                <a:latin typeface="Aptos" panose="020B0004020202020204" pitchFamily="34" charset="0"/>
              </a:rPr>
              <a:t>11</a:t>
            </a:r>
          </a:p>
        </p:txBody>
      </p:sp>
      <p:sp>
        <p:nvSpPr>
          <p:cNvPr id="9" name="SCREENSHOT_ZONE_S11">
            <a:extLst>
              <a:ext uri="{FF2B5EF4-FFF2-40B4-BE49-F238E27FC236}">
                <a16:creationId xmlns:a16="http://schemas.microsoft.com/office/drawing/2014/main" id="{08D192D1-50F6-898C-C3B4-B415B9C5C378}"/>
              </a:ext>
            </a:extLst>
          </p:cNvPr>
          <p:cNvSpPr/>
          <p:nvPr/>
        </p:nvSpPr>
        <p:spPr>
          <a:xfrm>
            <a:off x="685800" y="2095500"/>
            <a:ext cx="5080000" cy="3619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8AC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2C3D8E6-D517-180B-058B-0D06C61476AE}"/>
              </a:ext>
            </a:extLst>
          </p:cNvPr>
          <p:cNvSpPr/>
          <p:nvPr/>
        </p:nvSpPr>
        <p:spPr>
          <a:xfrm>
            <a:off x="876300" y="2286000"/>
            <a:ext cx="2667000" cy="304800"/>
          </a:xfrm>
          <a:prstGeom prst="roundRect">
            <a:avLst/>
          </a:prstGeom>
          <a:solidFill>
            <a:srgbClr val="238AC6"/>
          </a:solidFill>
          <a:ln w="12700">
            <a:solidFill>
              <a:srgbClr val="238A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D38B72-7984-41F8-3D92-4C5151A0E580}"/>
              </a:ext>
            </a:extLst>
          </p:cNvPr>
          <p:cNvSpPr txBox="1"/>
          <p:nvPr/>
        </p:nvSpPr>
        <p:spPr>
          <a:xfrm>
            <a:off x="965200" y="2349500"/>
            <a:ext cx="2489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800" b="1">
                <a:solidFill>
                  <a:srgbClr val="FFFFFF"/>
                </a:solidFill>
                <a:latin typeface="Aptos" panose="020B0004020202020204" pitchFamily="34" charset="0"/>
              </a:rPr>
              <a:t>IMAGE PLACEHOLDER · SOURCES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F64996-A4BF-4AD2-3E0D-DE329651AE7A}"/>
              </a:ext>
            </a:extLst>
          </p:cNvPr>
          <p:cNvSpPr txBox="1"/>
          <p:nvPr/>
        </p:nvSpPr>
        <p:spPr>
          <a:xfrm>
            <a:off x="2971800" y="346075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GB" sz="2400" b="1">
                <a:solidFill>
                  <a:srgbClr val="238AC6"/>
                </a:solidFill>
                <a:latin typeface="Segoe UI Symbol" panose="020B0502040204020203" pitchFamily="34" charset="0"/>
              </a:rPr>
              <a:t>▧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634EF1-550A-7B9B-FB90-22E3AFC92EED}"/>
              </a:ext>
            </a:extLst>
          </p:cNvPr>
          <p:cNvSpPr txBox="1"/>
          <p:nvPr/>
        </p:nvSpPr>
        <p:spPr>
          <a:xfrm>
            <a:off x="1041400" y="4006850"/>
            <a:ext cx="4368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100" b="1">
                <a:solidFill>
                  <a:srgbClr val="242124"/>
                </a:solidFill>
                <a:latin typeface="Aptos" panose="020B0004020202020204" pitchFamily="34" charset="0"/>
              </a:rPr>
              <a:t>Insert an authored Daniel email or advisory document.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4F1104-922F-53CF-ECCB-9E3AA1CCD01E}"/>
              </a:ext>
            </a:extLst>
          </p:cNvPr>
          <p:cNvSpPr txBox="1"/>
          <p:nvPr/>
        </p:nvSpPr>
        <p:spPr>
          <a:xfrm>
            <a:off x="1003300" y="52705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800">
                <a:solidFill>
                  <a:srgbClr val="69646A"/>
                </a:solidFill>
                <a:latin typeface="Aptos" panose="020B0004020202020204" pitchFamily="34" charset="0"/>
              </a:rPr>
              <a:t>Replace this zone with your screenshot; retain the slide title and adjacent callouts.</a:t>
            </a:r>
          </a:p>
        </p:txBody>
      </p:sp>
      <p:sp>
        <p:nvSpPr>
          <p:cNvPr id="15" name="SCREENSHOT_ZONE_S11">
            <a:extLst>
              <a:ext uri="{FF2B5EF4-FFF2-40B4-BE49-F238E27FC236}">
                <a16:creationId xmlns:a16="http://schemas.microsoft.com/office/drawing/2014/main" id="{995CC275-DC71-F119-A662-19A86A8622FE}"/>
              </a:ext>
            </a:extLst>
          </p:cNvPr>
          <p:cNvSpPr/>
          <p:nvPr/>
        </p:nvSpPr>
        <p:spPr>
          <a:xfrm>
            <a:off x="6426200" y="2095500"/>
            <a:ext cx="5080000" cy="3619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21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9725FA5-69B9-F0BF-136D-DA7CD1C0BAB7}"/>
              </a:ext>
            </a:extLst>
          </p:cNvPr>
          <p:cNvSpPr/>
          <p:nvPr/>
        </p:nvSpPr>
        <p:spPr>
          <a:xfrm>
            <a:off x="6616700" y="2286000"/>
            <a:ext cx="2667000" cy="304800"/>
          </a:xfrm>
          <a:prstGeom prst="roundRect">
            <a:avLst/>
          </a:prstGeom>
          <a:solidFill>
            <a:srgbClr val="D97216"/>
          </a:solidFill>
          <a:ln w="12700">
            <a:solidFill>
              <a:srgbClr val="D972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D2C69A-04F8-2FFE-6CCA-927D53FE8D59}"/>
              </a:ext>
            </a:extLst>
          </p:cNvPr>
          <p:cNvSpPr txBox="1"/>
          <p:nvPr/>
        </p:nvSpPr>
        <p:spPr>
          <a:xfrm>
            <a:off x="6705600" y="2349500"/>
            <a:ext cx="2489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800" b="1">
                <a:solidFill>
                  <a:srgbClr val="FFFFFF"/>
                </a:solidFill>
                <a:latin typeface="Aptos" panose="020B0004020202020204" pitchFamily="34" charset="0"/>
              </a:rPr>
              <a:t>IMAGE PLACEHOLDER · FRONTIER COPILOT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4282D2-12E0-7A4A-84B0-6A8640A152C5}"/>
              </a:ext>
            </a:extLst>
          </p:cNvPr>
          <p:cNvSpPr txBox="1"/>
          <p:nvPr/>
        </p:nvSpPr>
        <p:spPr>
          <a:xfrm>
            <a:off x="8712200" y="346075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GB" sz="2400" b="1">
                <a:solidFill>
                  <a:srgbClr val="D97216"/>
                </a:solidFill>
                <a:latin typeface="Segoe UI Symbol" panose="020B0502040204020203" pitchFamily="34" charset="0"/>
              </a:rPr>
              <a:t>▧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D81B83-6551-4459-4BD6-7F20264DA58F}"/>
              </a:ext>
            </a:extLst>
          </p:cNvPr>
          <p:cNvSpPr txBox="1"/>
          <p:nvPr/>
        </p:nvSpPr>
        <p:spPr>
          <a:xfrm>
            <a:off x="6781800" y="4006850"/>
            <a:ext cx="4368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100" b="1">
                <a:solidFill>
                  <a:srgbClr val="242124"/>
                </a:solidFill>
                <a:latin typeface="Aptos" panose="020B0004020202020204" pitchFamily="34" charset="0"/>
              </a:rPr>
              <a:t>Insert the persistent Copilot panel with a cited answer.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8C78729-F0A2-1D30-ED55-B049533876BB}"/>
              </a:ext>
            </a:extLst>
          </p:cNvPr>
          <p:cNvSpPr txBox="1"/>
          <p:nvPr/>
        </p:nvSpPr>
        <p:spPr>
          <a:xfrm>
            <a:off x="6743700" y="52705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800">
                <a:solidFill>
                  <a:srgbClr val="69646A"/>
                </a:solidFill>
                <a:latin typeface="Aptos" panose="020B0004020202020204" pitchFamily="34" charset="0"/>
              </a:rPr>
              <a:t>Replace this zone with your screenshot; retain the slide title and adjacent callouts.</a:t>
            </a:r>
          </a:p>
        </p:txBody>
      </p:sp>
    </p:spTree>
    <p:extLst>
      <p:ext uri="{BB962C8B-B14F-4D97-AF65-F5344CB8AC3E}">
        <p14:creationId xmlns:p14="http://schemas.microsoft.com/office/powerpoint/2010/main" val="29792632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1FFC30-878D-0990-1579-CF7598604C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7"/>
          </a:solidFill>
          <a:ln w="12700">
            <a:solidFill>
              <a:srgbClr val="F8F7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95B03A-4FD5-9E96-569A-8C896E8BEC9B}"/>
              </a:ext>
            </a:extLst>
          </p:cNvPr>
          <p:cNvSpPr txBox="1"/>
          <p:nvPr/>
        </p:nvSpPr>
        <p:spPr>
          <a:xfrm>
            <a:off x="685800" y="3810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A437B2"/>
                </a:solidFill>
                <a:latin typeface="Aptos" panose="020B0004020202020204" pitchFamily="34" charset="0"/>
              </a:rPr>
              <a:t>RM DAY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95EF4B-A6CD-BAF0-0362-21F83C967FF1}"/>
              </a:ext>
            </a:extLst>
          </p:cNvPr>
          <p:cNvSpPr txBox="1"/>
          <p:nvPr/>
        </p:nvSpPr>
        <p:spPr>
          <a:xfrm>
            <a:off x="685800" y="6858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2700" b="1">
                <a:solidFill>
                  <a:srgbClr val="242124"/>
                </a:solidFill>
                <a:latin typeface="Aptos Display" panose="020B0004020202020204" pitchFamily="34" charset="0"/>
              </a:rPr>
              <a:t>CIO Houseview meets client evidence and controls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A1EF34-EF51-4F33-F31A-08B8730A8C3C}"/>
              </a:ext>
            </a:extLst>
          </p:cNvPr>
          <p:cNvSpPr txBox="1"/>
          <p:nvPr/>
        </p:nvSpPr>
        <p:spPr>
          <a:xfrm>
            <a:off x="685800" y="14351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100">
                <a:solidFill>
                  <a:srgbClr val="69646A"/>
                </a:solidFill>
                <a:latin typeface="Aptos" panose="020B0004020202020204" pitchFamily="34" charset="0"/>
              </a:rPr>
              <a:t>The active 19 August 2026 market view is tailored without collapsing research, risk, activity, and controls.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31FB9D-30B8-202B-2F67-BCDA1BD272FD}"/>
              </a:ext>
            </a:extLst>
          </p:cNvPr>
          <p:cNvCxnSpPr/>
          <p:nvPr/>
        </p:nvCxnSpPr>
        <p:spPr>
          <a:xfrm>
            <a:off x="685800" y="6477000"/>
            <a:ext cx="10820400" cy="0"/>
          </a:xfrm>
          <a:prstGeom prst="line">
            <a:avLst/>
          </a:prstGeom>
          <a:ln>
            <a:solidFill>
              <a:srgbClr val="E3E1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9D4FB83-7CF5-AF97-C229-0823A119250B}"/>
              </a:ext>
            </a:extLst>
          </p:cNvPr>
          <p:cNvSpPr txBox="1"/>
          <p:nvPr/>
        </p:nvSpPr>
        <p:spPr>
          <a:xfrm>
            <a:off x="685800" y="65659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700" b="1">
                <a:solidFill>
                  <a:srgbClr val="69646A"/>
                </a:solidFill>
                <a:latin typeface="Aptos" panose="020B0004020202020204" pitchFamily="34" charset="0"/>
              </a:rPr>
              <a:t>FRONTIER RM · RM DAY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299797-ED48-5CC4-66CF-71810AF67E60}"/>
              </a:ext>
            </a:extLst>
          </p:cNvPr>
          <p:cNvSpPr txBox="1"/>
          <p:nvPr/>
        </p:nvSpPr>
        <p:spPr>
          <a:xfrm>
            <a:off x="10985500" y="65659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r"/>
            <a:r>
              <a:rPr lang="en-GB" sz="800" b="1">
                <a:solidFill>
                  <a:srgbClr val="69646A"/>
                </a:solidFill>
                <a:latin typeface="Aptos" panose="020B0004020202020204" pitchFamily="34" charset="0"/>
              </a:rPr>
              <a:t>12</a:t>
            </a:r>
          </a:p>
        </p:txBody>
      </p:sp>
      <p:sp>
        <p:nvSpPr>
          <p:cNvPr id="9" name="SCREENSHOT_ZONE_S12">
            <a:extLst>
              <a:ext uri="{FF2B5EF4-FFF2-40B4-BE49-F238E27FC236}">
                <a16:creationId xmlns:a16="http://schemas.microsoft.com/office/drawing/2014/main" id="{AD7EDDDA-8C29-C317-62B3-94DEF0593E8B}"/>
              </a:ext>
            </a:extLst>
          </p:cNvPr>
          <p:cNvSpPr/>
          <p:nvPr/>
        </p:nvSpPr>
        <p:spPr>
          <a:xfrm>
            <a:off x="685800" y="2095500"/>
            <a:ext cx="7620000" cy="3937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437B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3738B53-9FCE-9413-A3E8-3B6A2BE657E3}"/>
              </a:ext>
            </a:extLst>
          </p:cNvPr>
          <p:cNvSpPr/>
          <p:nvPr/>
        </p:nvSpPr>
        <p:spPr>
          <a:xfrm>
            <a:off x="876300" y="2286000"/>
            <a:ext cx="2667000" cy="304800"/>
          </a:xfrm>
          <a:prstGeom prst="roundRect">
            <a:avLst/>
          </a:prstGeom>
          <a:solidFill>
            <a:srgbClr val="A437B2"/>
          </a:solidFill>
          <a:ln w="12700">
            <a:solidFill>
              <a:srgbClr val="A437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61694F-D6C7-5757-5A0B-6B03C94B4715}"/>
              </a:ext>
            </a:extLst>
          </p:cNvPr>
          <p:cNvSpPr txBox="1"/>
          <p:nvPr/>
        </p:nvSpPr>
        <p:spPr>
          <a:xfrm>
            <a:off x="965200" y="2349500"/>
            <a:ext cx="2489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800" b="1">
                <a:solidFill>
                  <a:srgbClr val="FFFFFF"/>
                </a:solidFill>
                <a:latin typeface="Aptos" panose="020B0004020202020204" pitchFamily="34" charset="0"/>
              </a:rPr>
              <a:t>IMAGE PLACEHOLDER · CIO HOUSEVIEW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AA4D2E-7BCD-8829-4D57-A31DC40E73E6}"/>
              </a:ext>
            </a:extLst>
          </p:cNvPr>
          <p:cNvSpPr txBox="1"/>
          <p:nvPr/>
        </p:nvSpPr>
        <p:spPr>
          <a:xfrm>
            <a:off x="4241800" y="36195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GB" sz="2400" b="1">
                <a:solidFill>
                  <a:srgbClr val="A437B2"/>
                </a:solidFill>
                <a:latin typeface="Segoe UI Symbol" panose="020B0502040204020203" pitchFamily="34" charset="0"/>
              </a:rPr>
              <a:t>▧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6150B7-8224-9E30-2085-A8C25B9C59C2}"/>
              </a:ext>
            </a:extLst>
          </p:cNvPr>
          <p:cNvSpPr txBox="1"/>
          <p:nvPr/>
        </p:nvSpPr>
        <p:spPr>
          <a:xfrm>
            <a:off x="1041400" y="4165600"/>
            <a:ext cx="6908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100" b="1">
                <a:solidFill>
                  <a:srgbClr val="242124"/>
                </a:solidFill>
                <a:latin typeface="Aptos" panose="020B0004020202020204" pitchFamily="34" charset="0"/>
              </a:rPr>
              <a:t>Insert the report reader and selected-client advisory panel.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86CB3A-8C66-32AE-C6D7-EB9E6AC964C7}"/>
              </a:ext>
            </a:extLst>
          </p:cNvPr>
          <p:cNvSpPr txBox="1"/>
          <p:nvPr/>
        </p:nvSpPr>
        <p:spPr>
          <a:xfrm>
            <a:off x="1003300" y="5588000"/>
            <a:ext cx="698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800">
                <a:solidFill>
                  <a:srgbClr val="69646A"/>
                </a:solidFill>
                <a:latin typeface="Aptos" panose="020B0004020202020204" pitchFamily="34" charset="0"/>
              </a:rPr>
              <a:t>Replace this zone with your screenshot; retain the slide title and adjacent callouts.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F20A357-2433-E9B3-C058-7A309345DC83}"/>
              </a:ext>
            </a:extLst>
          </p:cNvPr>
          <p:cNvSpPr/>
          <p:nvPr/>
        </p:nvSpPr>
        <p:spPr>
          <a:xfrm>
            <a:off x="8636000" y="2413000"/>
            <a:ext cx="2870200" cy="2730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1D93747-DC39-9061-6F3B-EC00C711C372}"/>
              </a:ext>
            </a:extLst>
          </p:cNvPr>
          <p:cNvSpPr/>
          <p:nvPr/>
        </p:nvSpPr>
        <p:spPr>
          <a:xfrm>
            <a:off x="8636000" y="2413000"/>
            <a:ext cx="88900" cy="2730500"/>
          </a:xfrm>
          <a:prstGeom prst="rect">
            <a:avLst/>
          </a:prstGeom>
          <a:solidFill>
            <a:srgbClr val="217A4F"/>
          </a:solidFill>
          <a:ln w="12700">
            <a:solidFill>
              <a:srgbClr val="217A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A06EF3-56E9-3640-2A27-176862C14C9B}"/>
              </a:ext>
            </a:extLst>
          </p:cNvPr>
          <p:cNvSpPr txBox="1"/>
          <p:nvPr/>
        </p:nvSpPr>
        <p:spPr>
          <a:xfrm>
            <a:off x="8877300" y="2603500"/>
            <a:ext cx="2438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217A4F"/>
                </a:solidFill>
                <a:latin typeface="Aptos" panose="020B0004020202020204" pitchFamily="34" charset="0"/>
              </a:rPr>
              <a:t>BOUNDARY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A5FB9A-4E7A-5D55-ECB6-6564CA92F75A}"/>
              </a:ext>
            </a:extLst>
          </p:cNvPr>
          <p:cNvSpPr txBox="1"/>
          <p:nvPr/>
        </p:nvSpPr>
        <p:spPr>
          <a:xfrm>
            <a:off x="8877300" y="2921000"/>
            <a:ext cx="2438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400" b="1">
                <a:solidFill>
                  <a:srgbClr val="242124"/>
                </a:solidFill>
                <a:latin typeface="Aptos Display" panose="020B0004020202020204" pitchFamily="34" charset="0"/>
              </a:rPr>
              <a:t>Compliance-aware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826A791-AD90-4218-4EDE-ECBCA7515B1A}"/>
              </a:ext>
            </a:extLst>
          </p:cNvPr>
          <p:cNvSpPr txBox="1"/>
          <p:nvPr/>
        </p:nvSpPr>
        <p:spPr>
          <a:xfrm>
            <a:off x="8877300" y="3530600"/>
            <a:ext cx="2438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50">
                <a:solidFill>
                  <a:srgbClr val="69646A"/>
                </a:solidFill>
                <a:latin typeface="Aptos" panose="020B0004020202020204" pitchFamily="34" charset="0"/>
              </a:rPr>
              <a:t>Retained and suppressed fictional candidates remain explainable. No automatic suitability conclusion.</a:t>
            </a:r>
          </a:p>
        </p:txBody>
      </p:sp>
    </p:spTree>
    <p:extLst>
      <p:ext uri="{BB962C8B-B14F-4D97-AF65-F5344CB8AC3E}">
        <p14:creationId xmlns:p14="http://schemas.microsoft.com/office/powerpoint/2010/main" val="31243833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0334B47-A12D-6AE9-EDC4-0830FDB244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7"/>
          </a:solidFill>
          <a:ln w="12700">
            <a:solidFill>
              <a:srgbClr val="F8F7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61135B-52A1-77BC-C55B-422F1E5C1C31}"/>
              </a:ext>
            </a:extLst>
          </p:cNvPr>
          <p:cNvSpPr txBox="1"/>
          <p:nvPr/>
        </p:nvSpPr>
        <p:spPr>
          <a:xfrm>
            <a:off x="685800" y="3810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D97216"/>
                </a:solidFill>
                <a:latin typeface="Aptos" panose="020B0004020202020204" pitchFamily="34" charset="0"/>
              </a:rPr>
              <a:t>RM DAY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F4880C-AEBA-18D8-BAB0-C77F5D2CC36A}"/>
              </a:ext>
            </a:extLst>
          </p:cNvPr>
          <p:cNvSpPr txBox="1"/>
          <p:nvPr/>
        </p:nvSpPr>
        <p:spPr>
          <a:xfrm>
            <a:off x="685800" y="6858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2700" b="1">
                <a:solidFill>
                  <a:srgbClr val="242124"/>
                </a:solidFill>
                <a:latin typeface="Aptos Display" panose="020B0004020202020204" pitchFamily="34" charset="0"/>
              </a:rPr>
              <a:t>Transparent multi-agent operations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17AFC1-6828-BB70-45AF-4EDE861EB2C5}"/>
              </a:ext>
            </a:extLst>
          </p:cNvPr>
          <p:cNvSpPr txBox="1"/>
          <p:nvPr/>
        </p:nvSpPr>
        <p:spPr>
          <a:xfrm>
            <a:off x="685800" y="14351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100">
                <a:solidFill>
                  <a:srgbClr val="69646A"/>
                </a:solidFill>
                <a:latin typeface="Aptos" panose="020B0004020202020204" pitchFamily="34" charset="0"/>
              </a:rPr>
              <a:t>Service health, synthetic telemetry, and captured agent replay remain visibly distinct.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FFBF7CD-BF06-73EB-6B38-F18188091329}"/>
              </a:ext>
            </a:extLst>
          </p:cNvPr>
          <p:cNvCxnSpPr/>
          <p:nvPr/>
        </p:nvCxnSpPr>
        <p:spPr>
          <a:xfrm>
            <a:off x="685800" y="6477000"/>
            <a:ext cx="10820400" cy="0"/>
          </a:xfrm>
          <a:prstGeom prst="line">
            <a:avLst/>
          </a:prstGeom>
          <a:ln>
            <a:solidFill>
              <a:srgbClr val="E3E1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95A3BD8-24F2-1CE7-ED7F-6ACE76C95313}"/>
              </a:ext>
            </a:extLst>
          </p:cNvPr>
          <p:cNvSpPr txBox="1"/>
          <p:nvPr/>
        </p:nvSpPr>
        <p:spPr>
          <a:xfrm>
            <a:off x="685800" y="65659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700" b="1">
                <a:solidFill>
                  <a:srgbClr val="69646A"/>
                </a:solidFill>
                <a:latin typeface="Aptos" panose="020B0004020202020204" pitchFamily="34" charset="0"/>
              </a:rPr>
              <a:t>FRONTIER RM · RM DAY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DEA5E3-27AE-0DFC-22B1-2FEF1974CEA9}"/>
              </a:ext>
            </a:extLst>
          </p:cNvPr>
          <p:cNvSpPr txBox="1"/>
          <p:nvPr/>
        </p:nvSpPr>
        <p:spPr>
          <a:xfrm>
            <a:off x="10985500" y="65659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r"/>
            <a:r>
              <a:rPr lang="en-GB" sz="800" b="1">
                <a:solidFill>
                  <a:srgbClr val="69646A"/>
                </a:solidFill>
                <a:latin typeface="Aptos" panose="020B0004020202020204" pitchFamily="34" charset="0"/>
              </a:rPr>
              <a:t>13</a:t>
            </a:r>
          </a:p>
        </p:txBody>
      </p:sp>
      <p:sp>
        <p:nvSpPr>
          <p:cNvPr id="9" name="SCREENSHOT_ZONE_S13">
            <a:extLst>
              <a:ext uri="{FF2B5EF4-FFF2-40B4-BE49-F238E27FC236}">
                <a16:creationId xmlns:a16="http://schemas.microsoft.com/office/drawing/2014/main" id="{35EBD42C-53D6-9002-E279-135AD270C0A0}"/>
              </a:ext>
            </a:extLst>
          </p:cNvPr>
          <p:cNvSpPr/>
          <p:nvPr/>
        </p:nvSpPr>
        <p:spPr>
          <a:xfrm>
            <a:off x="685800" y="2095500"/>
            <a:ext cx="7620000" cy="3937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21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6436438-8BD4-3268-E544-5A15C86962D4}"/>
              </a:ext>
            </a:extLst>
          </p:cNvPr>
          <p:cNvSpPr/>
          <p:nvPr/>
        </p:nvSpPr>
        <p:spPr>
          <a:xfrm>
            <a:off x="876300" y="2286000"/>
            <a:ext cx="2667000" cy="304800"/>
          </a:xfrm>
          <a:prstGeom prst="roundRect">
            <a:avLst/>
          </a:prstGeom>
          <a:solidFill>
            <a:srgbClr val="D97216"/>
          </a:solidFill>
          <a:ln w="12700">
            <a:solidFill>
              <a:srgbClr val="D972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E2FF29-5A56-EAD8-5436-DA784CB11237}"/>
              </a:ext>
            </a:extLst>
          </p:cNvPr>
          <p:cNvSpPr txBox="1"/>
          <p:nvPr/>
        </p:nvSpPr>
        <p:spPr>
          <a:xfrm>
            <a:off x="965200" y="2349500"/>
            <a:ext cx="2489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800" b="1">
                <a:solidFill>
                  <a:srgbClr val="FFFFFF"/>
                </a:solidFill>
                <a:latin typeface="Aptos" panose="020B0004020202020204" pitchFamily="34" charset="0"/>
              </a:rPr>
              <a:t>IMAGE PLACEHOLDER · OPERATIONS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1BC940-8EEA-CECE-7EE6-1C3E815D13DC}"/>
              </a:ext>
            </a:extLst>
          </p:cNvPr>
          <p:cNvSpPr txBox="1"/>
          <p:nvPr/>
        </p:nvSpPr>
        <p:spPr>
          <a:xfrm>
            <a:off x="4241800" y="36195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GB" sz="2400" b="1">
                <a:solidFill>
                  <a:srgbClr val="D97216"/>
                </a:solidFill>
                <a:latin typeface="Segoe UI Symbol" panose="020B0502040204020203" pitchFamily="34" charset="0"/>
              </a:rPr>
              <a:t>▧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199ED5-5EB8-A459-19D0-688C9A12AD6E}"/>
              </a:ext>
            </a:extLst>
          </p:cNvPr>
          <p:cNvSpPr txBox="1"/>
          <p:nvPr/>
        </p:nvSpPr>
        <p:spPr>
          <a:xfrm>
            <a:off x="1041400" y="4165600"/>
            <a:ext cx="6908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100" b="1">
                <a:solidFill>
                  <a:srgbClr val="242124"/>
                </a:solidFill>
                <a:latin typeface="Aptos" panose="020B0004020202020204" pitchFamily="34" charset="0"/>
              </a:rPr>
              <a:t>Insert connected services, run selector, agent fleet, event stream, and outcome.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863734-EE37-8F8A-03EF-EE5762FFF087}"/>
              </a:ext>
            </a:extLst>
          </p:cNvPr>
          <p:cNvSpPr txBox="1"/>
          <p:nvPr/>
        </p:nvSpPr>
        <p:spPr>
          <a:xfrm>
            <a:off x="1003300" y="5588000"/>
            <a:ext cx="698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800">
                <a:solidFill>
                  <a:srgbClr val="69646A"/>
                </a:solidFill>
                <a:latin typeface="Aptos" panose="020B0004020202020204" pitchFamily="34" charset="0"/>
              </a:rPr>
              <a:t>Replace this zone with your screenshot; retain the slide title and adjacent callouts.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83F81AD-B3CF-337C-F80E-D2700561175E}"/>
              </a:ext>
            </a:extLst>
          </p:cNvPr>
          <p:cNvSpPr/>
          <p:nvPr/>
        </p:nvSpPr>
        <p:spPr>
          <a:xfrm>
            <a:off x="8636000" y="2413000"/>
            <a:ext cx="2870200" cy="2730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8F8C2C4-7125-912B-9A47-F80E1035FFC8}"/>
              </a:ext>
            </a:extLst>
          </p:cNvPr>
          <p:cNvSpPr/>
          <p:nvPr/>
        </p:nvSpPr>
        <p:spPr>
          <a:xfrm>
            <a:off x="8636000" y="2413000"/>
            <a:ext cx="88900" cy="2730500"/>
          </a:xfrm>
          <a:prstGeom prst="rect">
            <a:avLst/>
          </a:prstGeom>
          <a:solidFill>
            <a:srgbClr val="D97216"/>
          </a:solidFill>
          <a:ln w="12700">
            <a:solidFill>
              <a:srgbClr val="D972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F9224D-1880-028D-8918-48F1CC09B64E}"/>
              </a:ext>
            </a:extLst>
          </p:cNvPr>
          <p:cNvSpPr txBox="1"/>
          <p:nvPr/>
        </p:nvSpPr>
        <p:spPr>
          <a:xfrm>
            <a:off x="8877300" y="2603500"/>
            <a:ext cx="2438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D97216"/>
                </a:solidFill>
                <a:latin typeface="Aptos" panose="020B0004020202020204" pitchFamily="34" charset="0"/>
              </a:rPr>
              <a:t>TRUTH STATES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0596DD-2F99-1F3E-B7F6-6D3D8517076B}"/>
              </a:ext>
            </a:extLst>
          </p:cNvPr>
          <p:cNvSpPr txBox="1"/>
          <p:nvPr/>
        </p:nvSpPr>
        <p:spPr>
          <a:xfrm>
            <a:off x="8877300" y="2921000"/>
            <a:ext cx="2438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400" b="1">
                <a:solidFill>
                  <a:srgbClr val="242124"/>
                </a:solidFill>
                <a:latin typeface="Aptos Display" panose="020B0004020202020204" pitchFamily="34" charset="0"/>
              </a:rPr>
              <a:t>Live ≠ synthetic ≠ replay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FF76E8-702E-5A90-2BEE-00125B95B679}"/>
              </a:ext>
            </a:extLst>
          </p:cNvPr>
          <p:cNvSpPr txBox="1"/>
          <p:nvPr/>
        </p:nvSpPr>
        <p:spPr>
          <a:xfrm>
            <a:off x="8877300" y="3530600"/>
            <a:ext cx="2438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50">
                <a:solidFill>
                  <a:srgbClr val="69646A"/>
                </a:solidFill>
                <a:latin typeface="Aptos" panose="020B0004020202020204" pitchFamily="34" charset="0"/>
              </a:rPr>
              <a:t>Health is deployed state. Motion is demo telemetry. Events are a selected captured run.</a:t>
            </a:r>
          </a:p>
        </p:txBody>
      </p:sp>
    </p:spTree>
    <p:extLst>
      <p:ext uri="{BB962C8B-B14F-4D97-AF65-F5344CB8AC3E}">
        <p14:creationId xmlns:p14="http://schemas.microsoft.com/office/powerpoint/2010/main" val="37036280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8582006-4235-AD38-897A-C78ACC1FF03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7"/>
          </a:solidFill>
          <a:ln w="12700">
            <a:solidFill>
              <a:srgbClr val="F8F7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4546D7-CB44-74F4-3414-B4B41CEB2E3A}"/>
              </a:ext>
            </a:extLst>
          </p:cNvPr>
          <p:cNvSpPr txBox="1"/>
          <p:nvPr/>
        </p:nvSpPr>
        <p:spPr>
          <a:xfrm>
            <a:off x="685800" y="3810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217A4F"/>
                </a:solidFill>
                <a:latin typeface="Aptos" panose="020B0004020202020204" pitchFamily="34" charset="0"/>
              </a:rPr>
              <a:t>RM DAY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DA0A0F-85BB-D3CD-1DAA-F3E1B62D082F}"/>
              </a:ext>
            </a:extLst>
          </p:cNvPr>
          <p:cNvSpPr txBox="1"/>
          <p:nvPr/>
        </p:nvSpPr>
        <p:spPr>
          <a:xfrm>
            <a:off x="685800" y="6858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2700" b="1">
                <a:solidFill>
                  <a:srgbClr val="242124"/>
                </a:solidFill>
                <a:latin typeface="Aptos Display" panose="020B0004020202020204" pitchFamily="34" charset="0"/>
              </a:rPr>
              <a:t>From application navigation to client judgement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B9A2ED-639A-E885-705F-225BA816597D}"/>
              </a:ext>
            </a:extLst>
          </p:cNvPr>
          <p:cNvSpPr txBox="1"/>
          <p:nvPr/>
        </p:nvSpPr>
        <p:spPr>
          <a:xfrm>
            <a:off x="685800" y="14351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100">
                <a:solidFill>
                  <a:srgbClr val="69646A"/>
                </a:solidFill>
                <a:latin typeface="Aptos" panose="020B0004020202020204" pitchFamily="34" charset="0"/>
              </a:rPr>
              <a:t>The system returns attention to the work only the RM can do.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7E61475-EA76-B410-649D-F79CA34386C1}"/>
              </a:ext>
            </a:extLst>
          </p:cNvPr>
          <p:cNvCxnSpPr/>
          <p:nvPr/>
        </p:nvCxnSpPr>
        <p:spPr>
          <a:xfrm>
            <a:off x="685800" y="6477000"/>
            <a:ext cx="10820400" cy="0"/>
          </a:xfrm>
          <a:prstGeom prst="line">
            <a:avLst/>
          </a:prstGeom>
          <a:ln>
            <a:solidFill>
              <a:srgbClr val="E3E1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F93D98C-921F-BD54-AE31-6DD66DA2514D}"/>
              </a:ext>
            </a:extLst>
          </p:cNvPr>
          <p:cNvSpPr txBox="1"/>
          <p:nvPr/>
        </p:nvSpPr>
        <p:spPr>
          <a:xfrm>
            <a:off x="685800" y="65659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700" b="1">
                <a:solidFill>
                  <a:srgbClr val="69646A"/>
                </a:solidFill>
                <a:latin typeface="Aptos" panose="020B0004020202020204" pitchFamily="34" charset="0"/>
              </a:rPr>
              <a:t>FRONTIER RM · RM DAY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B2BAF5-903A-5F8D-8BB0-84D7193E5B7F}"/>
              </a:ext>
            </a:extLst>
          </p:cNvPr>
          <p:cNvSpPr txBox="1"/>
          <p:nvPr/>
        </p:nvSpPr>
        <p:spPr>
          <a:xfrm>
            <a:off x="10985500" y="65659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r"/>
            <a:r>
              <a:rPr lang="en-GB" sz="800" b="1">
                <a:solidFill>
                  <a:srgbClr val="69646A"/>
                </a:solidFill>
                <a:latin typeface="Aptos" panose="020B0004020202020204" pitchFamily="34" charset="0"/>
              </a:rPr>
              <a:t>14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7A2CC0D-6AA3-C341-B12F-446ABA54DED9}"/>
              </a:ext>
            </a:extLst>
          </p:cNvPr>
          <p:cNvSpPr/>
          <p:nvPr/>
        </p:nvSpPr>
        <p:spPr>
          <a:xfrm>
            <a:off x="1143000" y="2413000"/>
            <a:ext cx="4191000" cy="279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EC7614-8BAA-31BE-8F2F-606E2571E0DC}"/>
              </a:ext>
            </a:extLst>
          </p:cNvPr>
          <p:cNvSpPr/>
          <p:nvPr/>
        </p:nvSpPr>
        <p:spPr>
          <a:xfrm>
            <a:off x="1143000" y="2413000"/>
            <a:ext cx="88900" cy="2794000"/>
          </a:xfrm>
          <a:prstGeom prst="rect">
            <a:avLst/>
          </a:prstGeom>
          <a:solidFill>
            <a:srgbClr val="69646A"/>
          </a:solidFill>
          <a:ln w="12700">
            <a:solidFill>
              <a:srgbClr val="6964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5D299E-D331-C1B4-F52D-88A9C0CEE91D}"/>
              </a:ext>
            </a:extLst>
          </p:cNvPr>
          <p:cNvSpPr txBox="1"/>
          <p:nvPr/>
        </p:nvSpPr>
        <p:spPr>
          <a:xfrm>
            <a:off x="1384300" y="2603500"/>
            <a:ext cx="3759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69646A"/>
                </a:solidFill>
                <a:latin typeface="Aptos" panose="020B0004020202020204" pitchFamily="34" charset="0"/>
              </a:rPr>
              <a:t>BEFORE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F39F70-1686-0C24-EA98-B6B4D25C67D3}"/>
              </a:ext>
            </a:extLst>
          </p:cNvPr>
          <p:cNvSpPr txBox="1"/>
          <p:nvPr/>
        </p:nvSpPr>
        <p:spPr>
          <a:xfrm>
            <a:off x="1384300" y="2921000"/>
            <a:ext cx="3759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400" b="1">
                <a:solidFill>
                  <a:srgbClr val="242124"/>
                </a:solidFill>
                <a:latin typeface="Aptos Display" panose="020B0004020202020204" pitchFamily="34" charset="0"/>
              </a:rPr>
              <a:t>Assemble the picture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A8A2AF-A1C8-FE2D-55BC-D6D60BFA7502}"/>
              </a:ext>
            </a:extLst>
          </p:cNvPr>
          <p:cNvSpPr txBox="1"/>
          <p:nvPr/>
        </p:nvSpPr>
        <p:spPr>
          <a:xfrm>
            <a:off x="1384300" y="3530600"/>
            <a:ext cx="3759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50">
                <a:solidFill>
                  <a:srgbClr val="69646A"/>
                </a:solidFill>
                <a:latin typeface="Aptos" panose="020B0004020202020204" pitchFamily="34" charset="0"/>
              </a:rPr>
              <a:t>Search context · reconcile signals · draft from blank · document provenance manually.</a:t>
            </a:r>
          </a:p>
        </p:txBody>
      </p:sp>
      <p:sp>
        <p:nvSpPr>
          <p:cNvPr id="14" name="Arrow: Chevron 13">
            <a:extLst>
              <a:ext uri="{FF2B5EF4-FFF2-40B4-BE49-F238E27FC236}">
                <a16:creationId xmlns:a16="http://schemas.microsoft.com/office/drawing/2014/main" id="{EE8088AA-B5DE-89C9-A258-266535BCB016}"/>
              </a:ext>
            </a:extLst>
          </p:cNvPr>
          <p:cNvSpPr/>
          <p:nvPr/>
        </p:nvSpPr>
        <p:spPr>
          <a:xfrm>
            <a:off x="5651500" y="3175000"/>
            <a:ext cx="889000" cy="952500"/>
          </a:xfrm>
          <a:prstGeom prst="chevron">
            <a:avLst/>
          </a:prstGeom>
          <a:solidFill>
            <a:srgbClr val="A619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F8C3DA1-49E7-A35F-98E1-BA32EE22CD4B}"/>
              </a:ext>
            </a:extLst>
          </p:cNvPr>
          <p:cNvSpPr/>
          <p:nvPr/>
        </p:nvSpPr>
        <p:spPr>
          <a:xfrm>
            <a:off x="6858000" y="2413000"/>
            <a:ext cx="4191000" cy="279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5656EDC-CFBD-2D8C-1732-283BEA062C63}"/>
              </a:ext>
            </a:extLst>
          </p:cNvPr>
          <p:cNvSpPr/>
          <p:nvPr/>
        </p:nvSpPr>
        <p:spPr>
          <a:xfrm>
            <a:off x="6858000" y="2413000"/>
            <a:ext cx="88900" cy="2794000"/>
          </a:xfrm>
          <a:prstGeom prst="rect">
            <a:avLst/>
          </a:prstGeom>
          <a:solidFill>
            <a:srgbClr val="217A4F"/>
          </a:solidFill>
          <a:ln w="12700">
            <a:solidFill>
              <a:srgbClr val="217A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B8EE88-67F8-9D06-7900-23D6A370CE3B}"/>
              </a:ext>
            </a:extLst>
          </p:cNvPr>
          <p:cNvSpPr txBox="1"/>
          <p:nvPr/>
        </p:nvSpPr>
        <p:spPr>
          <a:xfrm>
            <a:off x="7099300" y="2603500"/>
            <a:ext cx="3759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217A4F"/>
                </a:solidFill>
                <a:latin typeface="Aptos" panose="020B0004020202020204" pitchFamily="34" charset="0"/>
              </a:rPr>
              <a:t>WITH FRONTIER RM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5B2434-2380-AF52-C038-A426F106A467}"/>
              </a:ext>
            </a:extLst>
          </p:cNvPr>
          <p:cNvSpPr txBox="1"/>
          <p:nvPr/>
        </p:nvSpPr>
        <p:spPr>
          <a:xfrm>
            <a:off x="7099300" y="2921000"/>
            <a:ext cx="3759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400" b="1">
                <a:solidFill>
                  <a:srgbClr val="242124"/>
                </a:solidFill>
                <a:latin typeface="Aptos Display" panose="020B0004020202020204" pitchFamily="34" charset="0"/>
              </a:rPr>
              <a:t>Start from evidence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E30935B-B8AF-90DB-D0BA-C72A06CB7F4E}"/>
              </a:ext>
            </a:extLst>
          </p:cNvPr>
          <p:cNvSpPr txBox="1"/>
          <p:nvPr/>
        </p:nvSpPr>
        <p:spPr>
          <a:xfrm>
            <a:off x="7099300" y="3530600"/>
            <a:ext cx="3759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50">
                <a:solidFill>
                  <a:srgbClr val="69646A"/>
                </a:solidFill>
                <a:latin typeface="Aptos" panose="020B0004020202020204" pitchFamily="34" charset="0"/>
              </a:rPr>
              <a:t>Priorities sequenced · context connected · artifacts prepared · judgement retained.</a:t>
            </a:r>
          </a:p>
        </p:txBody>
      </p:sp>
    </p:spTree>
    <p:extLst>
      <p:ext uri="{BB962C8B-B14F-4D97-AF65-F5344CB8AC3E}">
        <p14:creationId xmlns:p14="http://schemas.microsoft.com/office/powerpoint/2010/main" val="19974738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8FB5A3-E813-706E-052B-2852A9068AA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E2B30"/>
          </a:solidFill>
          <a:ln w="12700">
            <a:solidFill>
              <a:srgbClr val="2E2B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49844B-6346-16CB-2963-5A9051D1ECBB}"/>
              </a:ext>
            </a:extLst>
          </p:cNvPr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007AD2"/>
          </a:solidFill>
          <a:ln w="12700">
            <a:solidFill>
              <a:srgbClr val="007A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91BDEC3-A6A8-5FE2-4B1C-6027B3B78419}"/>
              </a:ext>
            </a:extLst>
          </p:cNvPr>
          <p:cNvSpPr/>
          <p:nvPr/>
        </p:nvSpPr>
        <p:spPr>
          <a:xfrm>
            <a:off x="787400" y="787400"/>
            <a:ext cx="1905000" cy="304800"/>
          </a:xfrm>
          <a:prstGeom prst="roundRect">
            <a:avLst/>
          </a:prstGeom>
          <a:solidFill>
            <a:srgbClr val="007AD2"/>
          </a:solidFill>
          <a:ln w="12700">
            <a:solidFill>
              <a:srgbClr val="007A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658E6F-5273-AAB5-BB56-1BC2EAFC88C6}"/>
              </a:ext>
            </a:extLst>
          </p:cNvPr>
          <p:cNvSpPr txBox="1"/>
          <p:nvPr/>
        </p:nvSpPr>
        <p:spPr>
          <a:xfrm>
            <a:off x="876300" y="850900"/>
            <a:ext cx="1727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800" b="1">
                <a:solidFill>
                  <a:srgbClr val="FFFFFF"/>
                </a:solidFill>
                <a:latin typeface="Aptos" panose="020B0004020202020204" pitchFamily="34" charset="0"/>
              </a:rPr>
              <a:t>ACT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FAE01A-6CC7-7AB7-8C10-0F822F613F2D}"/>
              </a:ext>
            </a:extLst>
          </p:cNvPr>
          <p:cNvSpPr txBox="1"/>
          <p:nvPr/>
        </p:nvSpPr>
        <p:spPr>
          <a:xfrm>
            <a:off x="787400" y="1968500"/>
            <a:ext cx="1003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3400" b="1">
                <a:solidFill>
                  <a:srgbClr val="FFFFFF"/>
                </a:solidFill>
                <a:latin typeface="Aptos Display" panose="020B0004020202020204" pitchFamily="34" charset="0"/>
              </a:rPr>
              <a:t>From fragmented data to an intelligent data estate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4D19F6-5FDA-E66B-64BA-4B911744F100}"/>
              </a:ext>
            </a:extLst>
          </p:cNvPr>
          <p:cNvSpPr txBox="1"/>
          <p:nvPr/>
        </p:nvSpPr>
        <p:spPr>
          <a:xfrm>
            <a:off x="787400" y="3581400"/>
            <a:ext cx="965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500">
                <a:solidFill>
                  <a:srgbClr val="CFCCD2"/>
                </a:solidFill>
                <a:latin typeface="Aptos" panose="020B0004020202020204" pitchFamily="34" charset="0"/>
              </a:rPr>
              <a:t>Microsoft Data and Azure provide the operational, analytical, and AI-ready foundation.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5976AB-6F4F-7296-60DD-027964479C4E}"/>
              </a:ext>
            </a:extLst>
          </p:cNvPr>
          <p:cNvSpPr txBox="1"/>
          <p:nvPr/>
        </p:nvSpPr>
        <p:spPr>
          <a:xfrm>
            <a:off x="10414000" y="5080000"/>
            <a:ext cx="101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GB" sz="4400" b="1">
                <a:solidFill>
                  <a:srgbClr val="007AD2"/>
                </a:solidFill>
                <a:latin typeface="Aptos Display" panose="020B0004020202020204" pitchFamily="34" charset="0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9136926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1946A55-7295-F337-80B6-8C86BCE8CCE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7"/>
          </a:solidFill>
          <a:ln w="12700">
            <a:solidFill>
              <a:srgbClr val="F8F7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A1A3F6-53A3-8135-A818-721AF8BC8F3D}"/>
              </a:ext>
            </a:extLst>
          </p:cNvPr>
          <p:cNvSpPr txBox="1"/>
          <p:nvPr/>
        </p:nvSpPr>
        <p:spPr>
          <a:xfrm>
            <a:off x="685800" y="3810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007AD2"/>
                </a:solidFill>
                <a:latin typeface="Aptos" panose="020B0004020202020204" pitchFamily="34" charset="0"/>
              </a:rPr>
              <a:t>MICROSOFT DATA + AZURE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1DB8B1-CEC9-4CF1-8668-4BF0A01FBCB0}"/>
              </a:ext>
            </a:extLst>
          </p:cNvPr>
          <p:cNvSpPr txBox="1"/>
          <p:nvPr/>
        </p:nvSpPr>
        <p:spPr>
          <a:xfrm>
            <a:off x="685800" y="6858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2700" b="1">
                <a:solidFill>
                  <a:srgbClr val="242124"/>
                </a:solidFill>
                <a:latin typeface="Aptos Display" panose="020B0004020202020204" pitchFamily="34" charset="0"/>
              </a:rPr>
              <a:t>The Microsoft data-to-AI capability landscape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9CF0A5-91E7-E855-C06C-E6591288C78E}"/>
              </a:ext>
            </a:extLst>
          </p:cNvPr>
          <p:cNvSpPr txBox="1"/>
          <p:nvPr/>
        </p:nvSpPr>
        <p:spPr>
          <a:xfrm>
            <a:off x="685800" y="14351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100">
                <a:solidFill>
                  <a:srgbClr val="69646A"/>
                </a:solidFill>
                <a:latin typeface="Aptos" panose="020B0004020202020204" pitchFamily="34" charset="0"/>
              </a:rPr>
              <a:t>Operational data, analytics, governance, AI, and work experiences form one connected system.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488C100-A98F-2B5A-016C-554B1F32B0D1}"/>
              </a:ext>
            </a:extLst>
          </p:cNvPr>
          <p:cNvCxnSpPr/>
          <p:nvPr/>
        </p:nvCxnSpPr>
        <p:spPr>
          <a:xfrm>
            <a:off x="685800" y="6477000"/>
            <a:ext cx="10820400" cy="0"/>
          </a:xfrm>
          <a:prstGeom prst="line">
            <a:avLst/>
          </a:prstGeom>
          <a:ln>
            <a:solidFill>
              <a:srgbClr val="E3E1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E3BB1AE-8518-E8E8-8BE5-A5272B6C8549}"/>
              </a:ext>
            </a:extLst>
          </p:cNvPr>
          <p:cNvSpPr txBox="1"/>
          <p:nvPr/>
        </p:nvSpPr>
        <p:spPr>
          <a:xfrm>
            <a:off x="685800" y="65659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700" b="1">
                <a:solidFill>
                  <a:srgbClr val="69646A"/>
                </a:solidFill>
                <a:latin typeface="Aptos" panose="020B0004020202020204" pitchFamily="34" charset="0"/>
              </a:rPr>
              <a:t>FRONTIER RM · MICROSOFT DATA + AZURE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34720D-ADE2-2179-A869-7720376D2224}"/>
              </a:ext>
            </a:extLst>
          </p:cNvPr>
          <p:cNvSpPr txBox="1"/>
          <p:nvPr/>
        </p:nvSpPr>
        <p:spPr>
          <a:xfrm>
            <a:off x="10985500" y="65659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r"/>
            <a:r>
              <a:rPr lang="en-GB" sz="800" b="1">
                <a:solidFill>
                  <a:srgbClr val="69646A"/>
                </a:solidFill>
                <a:latin typeface="Aptos" panose="020B0004020202020204" pitchFamily="34" charset="0"/>
              </a:rPr>
              <a:t>16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3879066-DD80-6CD7-8C74-27CEBF6B603B}"/>
              </a:ext>
            </a:extLst>
          </p:cNvPr>
          <p:cNvSpPr/>
          <p:nvPr/>
        </p:nvSpPr>
        <p:spPr>
          <a:xfrm>
            <a:off x="1143000" y="2222500"/>
            <a:ext cx="9906000" cy="571500"/>
          </a:xfrm>
          <a:prstGeom prst="roundRect">
            <a:avLst/>
          </a:prstGeom>
          <a:solidFill>
            <a:srgbClr val="238AC6"/>
          </a:solidFill>
          <a:ln w="12700">
            <a:solidFill>
              <a:srgbClr val="238A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133732-CF85-9DAD-49C3-374601709F1D}"/>
              </a:ext>
            </a:extLst>
          </p:cNvPr>
          <p:cNvSpPr txBox="1"/>
          <p:nvPr/>
        </p:nvSpPr>
        <p:spPr>
          <a:xfrm>
            <a:off x="1397000" y="23368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000" b="1">
                <a:solidFill>
                  <a:srgbClr val="FFFFFF"/>
                </a:solidFill>
                <a:latin typeface="Aptos" panose="020B0004020202020204" pitchFamily="34" charset="0"/>
              </a:rPr>
              <a:t>WORK + ACTION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250F11-FBD5-B51B-0E32-546E1B303875}"/>
              </a:ext>
            </a:extLst>
          </p:cNvPr>
          <p:cNvSpPr txBox="1"/>
          <p:nvPr/>
        </p:nvSpPr>
        <p:spPr>
          <a:xfrm>
            <a:off x="3810000" y="2336800"/>
            <a:ext cx="685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000">
                <a:solidFill>
                  <a:srgbClr val="FFFFFF"/>
                </a:solidFill>
                <a:latin typeface="Aptos" panose="020B0004020202020204" pitchFamily="34" charset="0"/>
              </a:rPr>
              <a:t>Microsoft 365 · Dynamics 365 · Power BI · custom applications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D4CD2A5-860A-93CE-9E81-D86009423348}"/>
              </a:ext>
            </a:extLst>
          </p:cNvPr>
          <p:cNvSpPr/>
          <p:nvPr/>
        </p:nvSpPr>
        <p:spPr>
          <a:xfrm>
            <a:off x="1143000" y="2984500"/>
            <a:ext cx="9906000" cy="571500"/>
          </a:xfrm>
          <a:prstGeom prst="roundRect">
            <a:avLst/>
          </a:prstGeom>
          <a:solidFill>
            <a:srgbClr val="D97216"/>
          </a:solidFill>
          <a:ln w="12700">
            <a:solidFill>
              <a:srgbClr val="D972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73689B-C77D-E98E-1A4C-58ADCEB8830E}"/>
              </a:ext>
            </a:extLst>
          </p:cNvPr>
          <p:cNvSpPr txBox="1"/>
          <p:nvPr/>
        </p:nvSpPr>
        <p:spPr>
          <a:xfrm>
            <a:off x="1397000" y="30988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000" b="1">
                <a:solidFill>
                  <a:srgbClr val="FFFFFF"/>
                </a:solidFill>
                <a:latin typeface="Aptos" panose="020B0004020202020204" pitchFamily="34" charset="0"/>
              </a:rPr>
              <a:t>AI + AGENTS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AA1BB6-A480-E66D-10F8-13097027036F}"/>
              </a:ext>
            </a:extLst>
          </p:cNvPr>
          <p:cNvSpPr txBox="1"/>
          <p:nvPr/>
        </p:nvSpPr>
        <p:spPr>
          <a:xfrm>
            <a:off x="3810000" y="3098800"/>
            <a:ext cx="685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000">
                <a:solidFill>
                  <a:srgbClr val="FFFFFF"/>
                </a:solidFill>
                <a:latin typeface="Aptos" panose="020B0004020202020204" pitchFamily="34" charset="0"/>
              </a:rPr>
              <a:t>Azure AI · Microsoft Foundry · Copilot Studio · Agent 365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D351F0D-5E5E-B1AC-26EC-06D5416AFF11}"/>
              </a:ext>
            </a:extLst>
          </p:cNvPr>
          <p:cNvSpPr/>
          <p:nvPr/>
        </p:nvSpPr>
        <p:spPr>
          <a:xfrm>
            <a:off x="1143000" y="3746500"/>
            <a:ext cx="9906000" cy="571500"/>
          </a:xfrm>
          <a:prstGeom prst="roundRect">
            <a:avLst/>
          </a:prstGeom>
          <a:solidFill>
            <a:srgbClr val="A437B2"/>
          </a:solidFill>
          <a:ln w="12700">
            <a:solidFill>
              <a:srgbClr val="A437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95BDD5-D5C0-BAB9-3502-7F488B6CB78A}"/>
              </a:ext>
            </a:extLst>
          </p:cNvPr>
          <p:cNvSpPr txBox="1"/>
          <p:nvPr/>
        </p:nvSpPr>
        <p:spPr>
          <a:xfrm>
            <a:off x="1397000" y="38608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000" b="1">
                <a:solidFill>
                  <a:srgbClr val="FFFFFF"/>
                </a:solidFill>
                <a:latin typeface="Aptos" panose="020B0004020202020204" pitchFamily="34" charset="0"/>
              </a:rPr>
              <a:t>ANALYTICS + IQ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FAE8C0-11C4-AB55-C105-8B1DBE5E229C}"/>
              </a:ext>
            </a:extLst>
          </p:cNvPr>
          <p:cNvSpPr txBox="1"/>
          <p:nvPr/>
        </p:nvSpPr>
        <p:spPr>
          <a:xfrm>
            <a:off x="3810000" y="3860800"/>
            <a:ext cx="685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000">
                <a:solidFill>
                  <a:srgbClr val="FFFFFF"/>
                </a:solidFill>
                <a:latin typeface="Aptos" panose="020B0004020202020204" pitchFamily="34" charset="0"/>
              </a:rPr>
              <a:t>Microsoft Fabric · Power BI · Real-Time Intelligence · Fabric IQ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7C9E7ED-333A-F4F5-9910-9A1421219894}"/>
              </a:ext>
            </a:extLst>
          </p:cNvPr>
          <p:cNvSpPr/>
          <p:nvPr/>
        </p:nvSpPr>
        <p:spPr>
          <a:xfrm>
            <a:off x="1143000" y="4508500"/>
            <a:ext cx="9906000" cy="571500"/>
          </a:xfrm>
          <a:prstGeom prst="roundRect">
            <a:avLst/>
          </a:prstGeom>
          <a:solidFill>
            <a:srgbClr val="007AD2"/>
          </a:solidFill>
          <a:ln w="12700">
            <a:solidFill>
              <a:srgbClr val="007A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D67362A-7754-0F86-0A50-F7981713AC07}"/>
              </a:ext>
            </a:extLst>
          </p:cNvPr>
          <p:cNvSpPr txBox="1"/>
          <p:nvPr/>
        </p:nvSpPr>
        <p:spPr>
          <a:xfrm>
            <a:off x="1397000" y="46228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000" b="1">
                <a:solidFill>
                  <a:srgbClr val="FFFFFF"/>
                </a:solidFill>
                <a:latin typeface="Aptos" panose="020B0004020202020204" pitchFamily="34" charset="0"/>
              </a:rPr>
              <a:t>OPERATIONAL DATA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00FE9A4-8091-CF66-EAE4-7B56B32D1D27}"/>
              </a:ext>
            </a:extLst>
          </p:cNvPr>
          <p:cNvSpPr txBox="1"/>
          <p:nvPr/>
        </p:nvSpPr>
        <p:spPr>
          <a:xfrm>
            <a:off x="3810000" y="4622800"/>
            <a:ext cx="685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000">
                <a:solidFill>
                  <a:srgbClr val="FFFFFF"/>
                </a:solidFill>
                <a:latin typeface="Aptos" panose="020B0004020202020204" pitchFamily="34" charset="0"/>
              </a:rPr>
              <a:t>Azure SQL · PostgreSQL · Cosmos DB · Event Hubs · open ecosystems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F2C5DCD-49B2-CA88-C520-A10BB2CD8C59}"/>
              </a:ext>
            </a:extLst>
          </p:cNvPr>
          <p:cNvSpPr/>
          <p:nvPr/>
        </p:nvSpPr>
        <p:spPr>
          <a:xfrm>
            <a:off x="1143000" y="5270500"/>
            <a:ext cx="9906000" cy="571500"/>
          </a:xfrm>
          <a:prstGeom prst="roundRect">
            <a:avLst/>
          </a:prstGeom>
          <a:solidFill>
            <a:srgbClr val="217A4F"/>
          </a:solidFill>
          <a:ln w="12700">
            <a:solidFill>
              <a:srgbClr val="217A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84C7B2E-0462-51B9-E016-339302D49AEF}"/>
              </a:ext>
            </a:extLst>
          </p:cNvPr>
          <p:cNvSpPr txBox="1"/>
          <p:nvPr/>
        </p:nvSpPr>
        <p:spPr>
          <a:xfrm>
            <a:off x="1397000" y="53848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000" b="1">
                <a:solidFill>
                  <a:srgbClr val="FFFFFF"/>
                </a:solidFill>
                <a:latin typeface="Aptos" panose="020B0004020202020204" pitchFamily="34" charset="0"/>
              </a:rPr>
              <a:t>SECURITY + GOVERNANCE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F35E24A-CC46-D44D-64A6-072544707665}"/>
              </a:ext>
            </a:extLst>
          </p:cNvPr>
          <p:cNvSpPr txBox="1"/>
          <p:nvPr/>
        </p:nvSpPr>
        <p:spPr>
          <a:xfrm>
            <a:off x="3810000" y="5384800"/>
            <a:ext cx="685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000">
                <a:solidFill>
                  <a:srgbClr val="FFFFFF"/>
                </a:solidFill>
                <a:latin typeface="Aptos" panose="020B0004020202020204" pitchFamily="34" charset="0"/>
              </a:rPr>
              <a:t>Microsoft Entra · Purview · Defender · policy and lineage</a:t>
            </a:r>
          </a:p>
        </p:txBody>
      </p:sp>
    </p:spTree>
    <p:extLst>
      <p:ext uri="{BB962C8B-B14F-4D97-AF65-F5344CB8AC3E}">
        <p14:creationId xmlns:p14="http://schemas.microsoft.com/office/powerpoint/2010/main" val="30543291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B7EC7FE-F29D-35C7-3643-96E90830788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7"/>
          </a:solidFill>
          <a:ln w="12700">
            <a:solidFill>
              <a:srgbClr val="F8F7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66DB07-1D4B-8BFE-C3EA-BFE3EEEBB232}"/>
              </a:ext>
            </a:extLst>
          </p:cNvPr>
          <p:cNvSpPr txBox="1"/>
          <p:nvPr/>
        </p:nvSpPr>
        <p:spPr>
          <a:xfrm>
            <a:off x="685800" y="3810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007AD2"/>
                </a:solidFill>
                <a:latin typeface="Aptos" panose="020B0004020202020204" pitchFamily="34" charset="0"/>
              </a:rPr>
              <a:t>MICROSOFT DATA + AZURE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7BA98E-A1FE-B7FD-6532-4D69BBB506A9}"/>
              </a:ext>
            </a:extLst>
          </p:cNvPr>
          <p:cNvSpPr txBox="1"/>
          <p:nvPr/>
        </p:nvSpPr>
        <p:spPr>
          <a:xfrm>
            <a:off x="685800" y="6858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2700" b="1">
                <a:solidFill>
                  <a:srgbClr val="242124"/>
                </a:solidFill>
                <a:latin typeface="Aptos Display" panose="020B0004020202020204" pitchFamily="34" charset="0"/>
              </a:rPr>
              <a:t>Azure data services: operational, open, and real-time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EA9A5A-B1DC-D741-A4A3-75C115FC7C6E}"/>
              </a:ext>
            </a:extLst>
          </p:cNvPr>
          <p:cNvSpPr txBox="1"/>
          <p:nvPr/>
        </p:nvSpPr>
        <p:spPr>
          <a:xfrm>
            <a:off x="685800" y="14351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100">
                <a:solidFill>
                  <a:srgbClr val="69646A"/>
                </a:solidFill>
                <a:latin typeface="Aptos" panose="020B0004020202020204" pitchFamily="34" charset="0"/>
              </a:rPr>
              <a:t>Choose the right engine while keeping governance, identity, and AI readiness consistent.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449A850-C986-456A-3ECD-0062FA669BCD}"/>
              </a:ext>
            </a:extLst>
          </p:cNvPr>
          <p:cNvCxnSpPr/>
          <p:nvPr/>
        </p:nvCxnSpPr>
        <p:spPr>
          <a:xfrm>
            <a:off x="685800" y="6477000"/>
            <a:ext cx="10820400" cy="0"/>
          </a:xfrm>
          <a:prstGeom prst="line">
            <a:avLst/>
          </a:prstGeom>
          <a:ln>
            <a:solidFill>
              <a:srgbClr val="E3E1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F5126BB-5FF7-6FB4-41B3-F6D531F3E1CE}"/>
              </a:ext>
            </a:extLst>
          </p:cNvPr>
          <p:cNvSpPr txBox="1"/>
          <p:nvPr/>
        </p:nvSpPr>
        <p:spPr>
          <a:xfrm>
            <a:off x="685800" y="65659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700" b="1">
                <a:solidFill>
                  <a:srgbClr val="69646A"/>
                </a:solidFill>
                <a:latin typeface="Aptos" panose="020B0004020202020204" pitchFamily="34" charset="0"/>
              </a:rPr>
              <a:t>FRONTIER RM · MICROSOFT DATA + AZURE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78FA4D-6988-B6C6-113F-7F45BF8E9A11}"/>
              </a:ext>
            </a:extLst>
          </p:cNvPr>
          <p:cNvSpPr txBox="1"/>
          <p:nvPr/>
        </p:nvSpPr>
        <p:spPr>
          <a:xfrm>
            <a:off x="10985500" y="65659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r"/>
            <a:r>
              <a:rPr lang="en-GB" sz="800" b="1">
                <a:solidFill>
                  <a:srgbClr val="69646A"/>
                </a:solidFill>
                <a:latin typeface="Aptos" panose="020B0004020202020204" pitchFamily="34" charset="0"/>
              </a:rPr>
              <a:t>17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90FF433-DA43-F0EF-D6EC-657E71B43C86}"/>
              </a:ext>
            </a:extLst>
          </p:cNvPr>
          <p:cNvSpPr/>
          <p:nvPr/>
        </p:nvSpPr>
        <p:spPr>
          <a:xfrm>
            <a:off x="685800" y="2222500"/>
            <a:ext cx="3302000" cy="292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B1E7A5-4ECB-D9EB-D0D7-B15D0DC1A8F3}"/>
              </a:ext>
            </a:extLst>
          </p:cNvPr>
          <p:cNvSpPr/>
          <p:nvPr/>
        </p:nvSpPr>
        <p:spPr>
          <a:xfrm>
            <a:off x="685800" y="2222500"/>
            <a:ext cx="88900" cy="2921000"/>
          </a:xfrm>
          <a:prstGeom prst="rect">
            <a:avLst/>
          </a:prstGeom>
          <a:solidFill>
            <a:srgbClr val="007AD2"/>
          </a:solidFill>
          <a:ln w="12700">
            <a:solidFill>
              <a:srgbClr val="007A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088E5A-940D-770F-BC2A-82A33A3FB69E}"/>
              </a:ext>
            </a:extLst>
          </p:cNvPr>
          <p:cNvSpPr txBox="1"/>
          <p:nvPr/>
        </p:nvSpPr>
        <p:spPr>
          <a:xfrm>
            <a:off x="927100" y="2413000"/>
            <a:ext cx="287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007AD2"/>
                </a:solidFill>
                <a:latin typeface="Aptos" panose="020B0004020202020204" pitchFamily="34" charset="0"/>
              </a:rPr>
              <a:t>TRANSACTIONAL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694C71-6BB2-9E13-2139-EF5D8883B962}"/>
              </a:ext>
            </a:extLst>
          </p:cNvPr>
          <p:cNvSpPr txBox="1"/>
          <p:nvPr/>
        </p:nvSpPr>
        <p:spPr>
          <a:xfrm>
            <a:off x="927100" y="2730500"/>
            <a:ext cx="287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400" b="1">
                <a:solidFill>
                  <a:srgbClr val="242124"/>
                </a:solidFill>
                <a:latin typeface="Aptos Display" panose="020B0004020202020204" pitchFamily="34" charset="0"/>
              </a:rPr>
              <a:t>Operational data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F86C35-E87A-F1E4-0E52-7E9432E4822C}"/>
              </a:ext>
            </a:extLst>
          </p:cNvPr>
          <p:cNvSpPr txBox="1"/>
          <p:nvPr/>
        </p:nvSpPr>
        <p:spPr>
          <a:xfrm>
            <a:off x="927100" y="3340100"/>
            <a:ext cx="287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50">
                <a:solidFill>
                  <a:srgbClr val="69646A"/>
                </a:solidFill>
                <a:latin typeface="Aptos" panose="020B0004020202020204" pitchFamily="34" charset="0"/>
              </a:rPr>
              <a:t>Azure SQL · PostgreSQL · Cosmos DB for cloud-native and mission-critical applications.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52EA49C-83B5-35BC-CDB9-5C342B136016}"/>
              </a:ext>
            </a:extLst>
          </p:cNvPr>
          <p:cNvSpPr/>
          <p:nvPr/>
        </p:nvSpPr>
        <p:spPr>
          <a:xfrm>
            <a:off x="4445000" y="2222500"/>
            <a:ext cx="3302000" cy="292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248C81C-5DDD-C166-1BBD-9BF7E1C54D35}"/>
              </a:ext>
            </a:extLst>
          </p:cNvPr>
          <p:cNvSpPr/>
          <p:nvPr/>
        </p:nvSpPr>
        <p:spPr>
          <a:xfrm>
            <a:off x="4445000" y="2222500"/>
            <a:ext cx="88900" cy="2921000"/>
          </a:xfrm>
          <a:prstGeom prst="rect">
            <a:avLst/>
          </a:prstGeom>
          <a:solidFill>
            <a:srgbClr val="D97216"/>
          </a:solidFill>
          <a:ln w="12700">
            <a:solidFill>
              <a:srgbClr val="D972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FAA298-9FBC-F88B-6AAB-420436FBE527}"/>
              </a:ext>
            </a:extLst>
          </p:cNvPr>
          <p:cNvSpPr txBox="1"/>
          <p:nvPr/>
        </p:nvSpPr>
        <p:spPr>
          <a:xfrm>
            <a:off x="4686300" y="2413000"/>
            <a:ext cx="287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D97216"/>
                </a:solidFill>
                <a:latin typeface="Aptos" panose="020B0004020202020204" pitchFamily="34" charset="0"/>
              </a:rPr>
              <a:t>STREAMING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CC0084-E5C8-3CAC-4936-47D12E844FA4}"/>
              </a:ext>
            </a:extLst>
          </p:cNvPr>
          <p:cNvSpPr txBox="1"/>
          <p:nvPr/>
        </p:nvSpPr>
        <p:spPr>
          <a:xfrm>
            <a:off x="4686300" y="2730500"/>
            <a:ext cx="287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400" b="1">
                <a:solidFill>
                  <a:srgbClr val="242124"/>
                </a:solidFill>
                <a:latin typeface="Aptos Display" panose="020B0004020202020204" pitchFamily="34" charset="0"/>
              </a:rPr>
              <a:t>Real-time data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ACD43D8-0574-AB4E-5197-23A5DFF022BD}"/>
              </a:ext>
            </a:extLst>
          </p:cNvPr>
          <p:cNvSpPr txBox="1"/>
          <p:nvPr/>
        </p:nvSpPr>
        <p:spPr>
          <a:xfrm>
            <a:off x="4686300" y="3340100"/>
            <a:ext cx="287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50">
                <a:solidFill>
                  <a:srgbClr val="69646A"/>
                </a:solidFill>
                <a:latin typeface="Aptos" panose="020B0004020202020204" pitchFamily="34" charset="0"/>
              </a:rPr>
              <a:t>Event Hubs and streaming patterns bring signals into operational analytics.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2553A75-43CE-B356-3BAA-D301C65FD7D6}"/>
              </a:ext>
            </a:extLst>
          </p:cNvPr>
          <p:cNvSpPr/>
          <p:nvPr/>
        </p:nvSpPr>
        <p:spPr>
          <a:xfrm>
            <a:off x="8204200" y="2222500"/>
            <a:ext cx="3302000" cy="292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09B3E80-9376-773C-5C4F-1D48781022BD}"/>
              </a:ext>
            </a:extLst>
          </p:cNvPr>
          <p:cNvSpPr/>
          <p:nvPr/>
        </p:nvSpPr>
        <p:spPr>
          <a:xfrm>
            <a:off x="8204200" y="2222500"/>
            <a:ext cx="88900" cy="2921000"/>
          </a:xfrm>
          <a:prstGeom prst="rect">
            <a:avLst/>
          </a:prstGeom>
          <a:solidFill>
            <a:srgbClr val="008094"/>
          </a:solidFill>
          <a:ln w="12700">
            <a:solidFill>
              <a:srgbClr val="0080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C00D69-E078-2D07-9D55-71AC5C2761E0}"/>
              </a:ext>
            </a:extLst>
          </p:cNvPr>
          <p:cNvSpPr txBox="1"/>
          <p:nvPr/>
        </p:nvSpPr>
        <p:spPr>
          <a:xfrm>
            <a:off x="8445500" y="2413000"/>
            <a:ext cx="287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008094"/>
                </a:solidFill>
                <a:latin typeface="Aptos" panose="020B0004020202020204" pitchFamily="34" charset="0"/>
              </a:rPr>
              <a:t>OPEN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8F0D4AD-4A98-11B6-9502-75B90D1FBF4A}"/>
              </a:ext>
            </a:extLst>
          </p:cNvPr>
          <p:cNvSpPr txBox="1"/>
          <p:nvPr/>
        </p:nvSpPr>
        <p:spPr>
          <a:xfrm>
            <a:off x="8445500" y="2730500"/>
            <a:ext cx="287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400" b="1">
                <a:solidFill>
                  <a:srgbClr val="242124"/>
                </a:solidFill>
                <a:latin typeface="Aptos Display" panose="020B0004020202020204" pitchFamily="34" charset="0"/>
              </a:rPr>
              <a:t>Lake and ecosystem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D941253-ACCE-90CF-C9E2-DC4C5CEA7A28}"/>
              </a:ext>
            </a:extLst>
          </p:cNvPr>
          <p:cNvSpPr txBox="1"/>
          <p:nvPr/>
        </p:nvSpPr>
        <p:spPr>
          <a:xfrm>
            <a:off x="8445500" y="3340100"/>
            <a:ext cx="287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50">
                <a:solidFill>
                  <a:srgbClr val="69646A"/>
                </a:solidFill>
                <a:latin typeface="Aptos" panose="020B0004020202020204" pitchFamily="34" charset="0"/>
              </a:rPr>
              <a:t>Storage, open formats, shortcuts, and interoperability with partner engines.</a:t>
            </a:r>
          </a:p>
        </p:txBody>
      </p:sp>
    </p:spTree>
    <p:extLst>
      <p:ext uri="{BB962C8B-B14F-4D97-AF65-F5344CB8AC3E}">
        <p14:creationId xmlns:p14="http://schemas.microsoft.com/office/powerpoint/2010/main" val="12715777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C346690-C75D-29A5-9A3D-E4A80467FCF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7"/>
          </a:solidFill>
          <a:ln w="12700">
            <a:solidFill>
              <a:srgbClr val="F8F7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FFA417-4FCB-F2D9-4F8E-6913ACD3EED2}"/>
              </a:ext>
            </a:extLst>
          </p:cNvPr>
          <p:cNvSpPr txBox="1"/>
          <p:nvPr/>
        </p:nvSpPr>
        <p:spPr>
          <a:xfrm>
            <a:off x="685800" y="3810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008094"/>
                </a:solidFill>
                <a:latin typeface="Aptos" panose="020B0004020202020204" pitchFamily="34" charset="0"/>
              </a:rPr>
              <a:t>MICROSOFT DATA + AZURE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195805-33EB-8C92-7EB1-31055AB73036}"/>
              </a:ext>
            </a:extLst>
          </p:cNvPr>
          <p:cNvSpPr txBox="1"/>
          <p:nvPr/>
        </p:nvSpPr>
        <p:spPr>
          <a:xfrm>
            <a:off x="685800" y="6858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2700" b="1">
                <a:solidFill>
                  <a:srgbClr val="242124"/>
                </a:solidFill>
                <a:latin typeface="Aptos Display" panose="020B0004020202020204" pitchFamily="34" charset="0"/>
              </a:rPr>
              <a:t>Microsoft Fabric: unified analytics SaaS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517FA7-7B1D-9A46-635A-7197DEA7FFA5}"/>
              </a:ext>
            </a:extLst>
          </p:cNvPr>
          <p:cNvSpPr txBox="1"/>
          <p:nvPr/>
        </p:nvSpPr>
        <p:spPr>
          <a:xfrm>
            <a:off x="685800" y="14351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100">
                <a:solidFill>
                  <a:srgbClr val="69646A"/>
                </a:solidFill>
                <a:latin typeface="Aptos" panose="020B0004020202020204" pitchFamily="34" charset="0"/>
              </a:rPr>
              <a:t>A complete data platform with shared experiences, governance, Copilot, and OneLake.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AAE01ED-D278-C9A3-675D-FCD3D96F69C4}"/>
              </a:ext>
            </a:extLst>
          </p:cNvPr>
          <p:cNvCxnSpPr/>
          <p:nvPr/>
        </p:nvCxnSpPr>
        <p:spPr>
          <a:xfrm>
            <a:off x="685800" y="6477000"/>
            <a:ext cx="10820400" cy="0"/>
          </a:xfrm>
          <a:prstGeom prst="line">
            <a:avLst/>
          </a:prstGeom>
          <a:ln>
            <a:solidFill>
              <a:srgbClr val="E3E1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61678F6-BA47-1DB0-F2C8-35D6EC468152}"/>
              </a:ext>
            </a:extLst>
          </p:cNvPr>
          <p:cNvSpPr txBox="1"/>
          <p:nvPr/>
        </p:nvSpPr>
        <p:spPr>
          <a:xfrm>
            <a:off x="685800" y="65659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700" b="1">
                <a:solidFill>
                  <a:srgbClr val="69646A"/>
                </a:solidFill>
                <a:latin typeface="Aptos" panose="020B0004020202020204" pitchFamily="34" charset="0"/>
              </a:rPr>
              <a:t>FRONTIER RM · MICROSOFT DATA + AZURE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0BE2AB-B048-8461-4C05-A920E3A1E542}"/>
              </a:ext>
            </a:extLst>
          </p:cNvPr>
          <p:cNvSpPr txBox="1"/>
          <p:nvPr/>
        </p:nvSpPr>
        <p:spPr>
          <a:xfrm>
            <a:off x="10985500" y="65659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r"/>
            <a:r>
              <a:rPr lang="en-GB" sz="800" b="1">
                <a:solidFill>
                  <a:srgbClr val="69646A"/>
                </a:solidFill>
                <a:latin typeface="Aptos" panose="020B0004020202020204" pitchFamily="34" charset="0"/>
              </a:rPr>
              <a:t>18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BD3234A-5CF5-470C-2702-1A99A7B2D573}"/>
              </a:ext>
            </a:extLst>
          </p:cNvPr>
          <p:cNvSpPr/>
          <p:nvPr/>
        </p:nvSpPr>
        <p:spPr>
          <a:xfrm>
            <a:off x="685800" y="2286000"/>
            <a:ext cx="2476500" cy="88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0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F0D483-07D8-6791-9DD6-31B4E8D17255}"/>
              </a:ext>
            </a:extLst>
          </p:cNvPr>
          <p:cNvSpPr txBox="1"/>
          <p:nvPr/>
        </p:nvSpPr>
        <p:spPr>
          <a:xfrm>
            <a:off x="838200" y="2590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100" b="1">
                <a:solidFill>
                  <a:srgbClr val="242124"/>
                </a:solidFill>
                <a:latin typeface="Aptos" panose="020B0004020202020204" pitchFamily="34" charset="0"/>
              </a:rPr>
              <a:t>Data Factory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C430FEA-0BF8-7910-00BF-71A701B1FED8}"/>
              </a:ext>
            </a:extLst>
          </p:cNvPr>
          <p:cNvSpPr/>
          <p:nvPr/>
        </p:nvSpPr>
        <p:spPr>
          <a:xfrm>
            <a:off x="3390900" y="2286000"/>
            <a:ext cx="2476500" cy="88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0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043C19-DA58-1C37-7AFC-A019268F115F}"/>
              </a:ext>
            </a:extLst>
          </p:cNvPr>
          <p:cNvSpPr txBox="1"/>
          <p:nvPr/>
        </p:nvSpPr>
        <p:spPr>
          <a:xfrm>
            <a:off x="3543300" y="2590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100" b="1">
                <a:solidFill>
                  <a:srgbClr val="242124"/>
                </a:solidFill>
                <a:latin typeface="Aptos" panose="020B0004020202020204" pitchFamily="34" charset="0"/>
              </a:rPr>
              <a:t>Data Engineering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835D893-91C8-9811-0F6C-D38FB4D7A1E9}"/>
              </a:ext>
            </a:extLst>
          </p:cNvPr>
          <p:cNvSpPr/>
          <p:nvPr/>
        </p:nvSpPr>
        <p:spPr>
          <a:xfrm>
            <a:off x="6096000" y="2286000"/>
            <a:ext cx="2476500" cy="88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0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DDDB81-3F43-71EB-A6AF-3FAC20FE5657}"/>
              </a:ext>
            </a:extLst>
          </p:cNvPr>
          <p:cNvSpPr txBox="1"/>
          <p:nvPr/>
        </p:nvSpPr>
        <p:spPr>
          <a:xfrm>
            <a:off x="6248400" y="2590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100" b="1">
                <a:solidFill>
                  <a:srgbClr val="242124"/>
                </a:solidFill>
                <a:latin typeface="Aptos" panose="020B0004020202020204" pitchFamily="34" charset="0"/>
              </a:rPr>
              <a:t>Data Science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52A8801-C270-A40F-D72B-64E478409B62}"/>
              </a:ext>
            </a:extLst>
          </p:cNvPr>
          <p:cNvSpPr/>
          <p:nvPr/>
        </p:nvSpPr>
        <p:spPr>
          <a:xfrm>
            <a:off x="8801100" y="2286000"/>
            <a:ext cx="2476500" cy="88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0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8B8CDD-88FC-B20F-B329-051487324728}"/>
              </a:ext>
            </a:extLst>
          </p:cNvPr>
          <p:cNvSpPr txBox="1"/>
          <p:nvPr/>
        </p:nvSpPr>
        <p:spPr>
          <a:xfrm>
            <a:off x="8953500" y="2590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100" b="1">
                <a:solidFill>
                  <a:srgbClr val="242124"/>
                </a:solidFill>
                <a:latin typeface="Aptos" panose="020B0004020202020204" pitchFamily="34" charset="0"/>
              </a:rPr>
              <a:t>Data Warehouse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96074C6-E751-787E-C9E3-499C8939753F}"/>
              </a:ext>
            </a:extLst>
          </p:cNvPr>
          <p:cNvSpPr/>
          <p:nvPr/>
        </p:nvSpPr>
        <p:spPr>
          <a:xfrm>
            <a:off x="685800" y="3429000"/>
            <a:ext cx="2476500" cy="88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0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C1B0BB2-9512-1DBC-ABB1-D41F7C420AE8}"/>
              </a:ext>
            </a:extLst>
          </p:cNvPr>
          <p:cNvSpPr txBox="1"/>
          <p:nvPr/>
        </p:nvSpPr>
        <p:spPr>
          <a:xfrm>
            <a:off x="838200" y="373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100" b="1">
                <a:solidFill>
                  <a:srgbClr val="242124"/>
                </a:solidFill>
                <a:latin typeface="Aptos" panose="020B0004020202020204" pitchFamily="34" charset="0"/>
              </a:rPr>
              <a:t>Real-Time Intelligence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6DB4912-6C79-A356-E235-5011ABC8A14E}"/>
              </a:ext>
            </a:extLst>
          </p:cNvPr>
          <p:cNvSpPr/>
          <p:nvPr/>
        </p:nvSpPr>
        <p:spPr>
          <a:xfrm>
            <a:off x="3390900" y="3429000"/>
            <a:ext cx="2476500" cy="88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0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A77B49-57C3-7AB4-6E8B-A8B5882163E5}"/>
              </a:ext>
            </a:extLst>
          </p:cNvPr>
          <p:cNvSpPr txBox="1"/>
          <p:nvPr/>
        </p:nvSpPr>
        <p:spPr>
          <a:xfrm>
            <a:off x="3543300" y="373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100" b="1">
                <a:solidFill>
                  <a:srgbClr val="242124"/>
                </a:solidFill>
                <a:latin typeface="Aptos" panose="020B0004020202020204" pitchFamily="34" charset="0"/>
              </a:rPr>
              <a:t>Power BI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2E1161F-D4E7-EFB5-99D8-93F02B8A2712}"/>
              </a:ext>
            </a:extLst>
          </p:cNvPr>
          <p:cNvSpPr/>
          <p:nvPr/>
        </p:nvSpPr>
        <p:spPr>
          <a:xfrm>
            <a:off x="6096000" y="3429000"/>
            <a:ext cx="2476500" cy="88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0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F908F19-5647-69B8-5D51-07BA6C2CCE0F}"/>
              </a:ext>
            </a:extLst>
          </p:cNvPr>
          <p:cNvSpPr txBox="1"/>
          <p:nvPr/>
        </p:nvSpPr>
        <p:spPr>
          <a:xfrm>
            <a:off x="6248400" y="373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100" b="1">
                <a:solidFill>
                  <a:srgbClr val="242124"/>
                </a:solidFill>
                <a:latin typeface="Aptos" panose="020B0004020202020204" pitchFamily="34" charset="0"/>
              </a:rPr>
              <a:t>Fabric IQ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6D8E7CE-3EC2-1031-2189-DAAC8EC1871A}"/>
              </a:ext>
            </a:extLst>
          </p:cNvPr>
          <p:cNvSpPr/>
          <p:nvPr/>
        </p:nvSpPr>
        <p:spPr>
          <a:xfrm>
            <a:off x="2032000" y="4953000"/>
            <a:ext cx="8128000" cy="698500"/>
          </a:xfrm>
          <a:prstGeom prst="roundRect">
            <a:avLst/>
          </a:prstGeom>
          <a:solidFill>
            <a:srgbClr val="008094"/>
          </a:solidFill>
          <a:ln w="12700">
            <a:solidFill>
              <a:srgbClr val="0080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3447F13-626A-142C-A027-9B86F46D6BEA}"/>
              </a:ext>
            </a:extLst>
          </p:cNvPr>
          <p:cNvSpPr txBox="1"/>
          <p:nvPr/>
        </p:nvSpPr>
        <p:spPr>
          <a:xfrm>
            <a:off x="2413000" y="5181600"/>
            <a:ext cx="736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200" b="1">
                <a:solidFill>
                  <a:srgbClr val="FFFFFF"/>
                </a:solidFill>
                <a:latin typeface="Aptos" panose="020B0004020202020204" pitchFamily="34" charset="0"/>
              </a:rPr>
              <a:t>ONE LAKE · ONE SECURITY MODEL · ONE SAAS EXPERIENCE</a:t>
            </a:r>
          </a:p>
        </p:txBody>
      </p:sp>
    </p:spTree>
    <p:extLst>
      <p:ext uri="{BB962C8B-B14F-4D97-AF65-F5344CB8AC3E}">
        <p14:creationId xmlns:p14="http://schemas.microsoft.com/office/powerpoint/2010/main" val="18856696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8B24996-CF10-CF86-3896-D43134EAFC2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7"/>
          </a:solidFill>
          <a:ln w="12700">
            <a:solidFill>
              <a:srgbClr val="F8F7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E31931-52BD-ED5E-1B04-E90AE66B8F51}"/>
              </a:ext>
            </a:extLst>
          </p:cNvPr>
          <p:cNvSpPr txBox="1"/>
          <p:nvPr/>
        </p:nvSpPr>
        <p:spPr>
          <a:xfrm>
            <a:off x="685800" y="3810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008094"/>
                </a:solidFill>
                <a:latin typeface="Aptos" panose="020B0004020202020204" pitchFamily="34" charset="0"/>
              </a:rPr>
              <a:t>MICROSOFT DATA + AZURE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447991-F757-6A73-37AE-E622D3CFFC2B}"/>
              </a:ext>
            </a:extLst>
          </p:cNvPr>
          <p:cNvSpPr txBox="1"/>
          <p:nvPr/>
        </p:nvSpPr>
        <p:spPr>
          <a:xfrm>
            <a:off x="685800" y="6858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2700" b="1">
                <a:solidFill>
                  <a:srgbClr val="242124"/>
                </a:solidFill>
                <a:latin typeface="Aptos Display" panose="020B0004020202020204" pitchFamily="34" charset="0"/>
              </a:rPr>
              <a:t>OneLake: one logical data lake for the organization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9B71B0-4ABB-E5BB-4547-CB14F624B6D5}"/>
              </a:ext>
            </a:extLst>
          </p:cNvPr>
          <p:cNvSpPr txBox="1"/>
          <p:nvPr/>
        </p:nvSpPr>
        <p:spPr>
          <a:xfrm>
            <a:off x="685800" y="14351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100">
                <a:solidFill>
                  <a:srgbClr val="69646A"/>
                </a:solidFill>
                <a:latin typeface="Aptos" panose="020B0004020202020204" pitchFamily="34" charset="0"/>
              </a:rPr>
              <a:t>Open formats and shortcuts reduce unnecessary copies while preserving domain ownership.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4FDFB79-0CBA-3F9E-D48A-933A4BFB6FEB}"/>
              </a:ext>
            </a:extLst>
          </p:cNvPr>
          <p:cNvCxnSpPr/>
          <p:nvPr/>
        </p:nvCxnSpPr>
        <p:spPr>
          <a:xfrm>
            <a:off x="685800" y="6477000"/>
            <a:ext cx="10820400" cy="0"/>
          </a:xfrm>
          <a:prstGeom prst="line">
            <a:avLst/>
          </a:prstGeom>
          <a:ln>
            <a:solidFill>
              <a:srgbClr val="E3E1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97177FE-A1D2-59BC-721F-41434567A57A}"/>
              </a:ext>
            </a:extLst>
          </p:cNvPr>
          <p:cNvSpPr txBox="1"/>
          <p:nvPr/>
        </p:nvSpPr>
        <p:spPr>
          <a:xfrm>
            <a:off x="685800" y="65659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700" b="1">
                <a:solidFill>
                  <a:srgbClr val="69646A"/>
                </a:solidFill>
                <a:latin typeface="Aptos" panose="020B0004020202020204" pitchFamily="34" charset="0"/>
              </a:rPr>
              <a:t>FRONTIER RM · MICROSOFT DATA + AZURE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58630C-AED5-D072-46C0-D35A902CBF15}"/>
              </a:ext>
            </a:extLst>
          </p:cNvPr>
          <p:cNvSpPr txBox="1"/>
          <p:nvPr/>
        </p:nvSpPr>
        <p:spPr>
          <a:xfrm>
            <a:off x="10985500" y="65659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r"/>
            <a:r>
              <a:rPr lang="en-GB" sz="800" b="1">
                <a:solidFill>
                  <a:srgbClr val="69646A"/>
                </a:solidFill>
                <a:latin typeface="Aptos" panose="020B0004020202020204" pitchFamily="34" charset="0"/>
              </a:rPr>
              <a:t>19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8B61EED-EA21-CF8D-1956-2E0840C65C7A}"/>
              </a:ext>
            </a:extLst>
          </p:cNvPr>
          <p:cNvSpPr/>
          <p:nvPr/>
        </p:nvSpPr>
        <p:spPr>
          <a:xfrm>
            <a:off x="685800" y="2667000"/>
            <a:ext cx="1940560" cy="965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A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5AB772-3638-1FAC-118F-12EC18F95C9E}"/>
              </a:ext>
            </a:extLst>
          </p:cNvPr>
          <p:cNvSpPr txBox="1"/>
          <p:nvPr/>
        </p:nvSpPr>
        <p:spPr>
          <a:xfrm>
            <a:off x="812800" y="28067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007AD2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1DCA4E-9D5E-9A23-6730-AA7E0795F486}"/>
              </a:ext>
            </a:extLst>
          </p:cNvPr>
          <p:cNvSpPr txBox="1"/>
          <p:nvPr/>
        </p:nvSpPr>
        <p:spPr>
          <a:xfrm>
            <a:off x="812800" y="3098800"/>
            <a:ext cx="168656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050" b="1">
                <a:solidFill>
                  <a:srgbClr val="242124"/>
                </a:solidFill>
                <a:latin typeface="Aptos" panose="020B0004020202020204" pitchFamily="34" charset="0"/>
              </a:rPr>
              <a:t>Cloud + on-prem sources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7A2897-AE3F-695A-4F12-B0ECA35C61F1}"/>
              </a:ext>
            </a:extLst>
          </p:cNvPr>
          <p:cNvSpPr txBox="1"/>
          <p:nvPr/>
        </p:nvSpPr>
        <p:spPr>
          <a:xfrm>
            <a:off x="2664460" y="2997200"/>
            <a:ext cx="215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200" b="1">
                <a:solidFill>
                  <a:srgbClr val="69646A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080A809-3B34-73DA-9DF9-8E52A2523967}"/>
              </a:ext>
            </a:extLst>
          </p:cNvPr>
          <p:cNvSpPr/>
          <p:nvPr/>
        </p:nvSpPr>
        <p:spPr>
          <a:xfrm>
            <a:off x="2905760" y="2667000"/>
            <a:ext cx="1940560" cy="965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2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C3FF93-2CB4-8B2F-8207-0F125EBB70D8}"/>
              </a:ext>
            </a:extLst>
          </p:cNvPr>
          <p:cNvSpPr txBox="1"/>
          <p:nvPr/>
        </p:nvSpPr>
        <p:spPr>
          <a:xfrm>
            <a:off x="3032760" y="28067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D97216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5BC5AB-34F7-9B99-7B05-AA0BFDAE434E}"/>
              </a:ext>
            </a:extLst>
          </p:cNvPr>
          <p:cNvSpPr txBox="1"/>
          <p:nvPr/>
        </p:nvSpPr>
        <p:spPr>
          <a:xfrm>
            <a:off x="3032760" y="3098800"/>
            <a:ext cx="168656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050" b="1">
                <a:solidFill>
                  <a:srgbClr val="242124"/>
                </a:solidFill>
                <a:latin typeface="Aptos" panose="020B0004020202020204" pitchFamily="34" charset="0"/>
              </a:rPr>
              <a:t>Shortcuts / mirroring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F3EF98-7D62-6C58-B5E2-E8415A18A49C}"/>
              </a:ext>
            </a:extLst>
          </p:cNvPr>
          <p:cNvSpPr txBox="1"/>
          <p:nvPr/>
        </p:nvSpPr>
        <p:spPr>
          <a:xfrm>
            <a:off x="4884420" y="2997200"/>
            <a:ext cx="215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200" b="1">
                <a:solidFill>
                  <a:srgbClr val="69646A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18141B6-6D04-7BEB-FAE4-C582A7D913D1}"/>
              </a:ext>
            </a:extLst>
          </p:cNvPr>
          <p:cNvSpPr/>
          <p:nvPr/>
        </p:nvSpPr>
        <p:spPr>
          <a:xfrm>
            <a:off x="5125720" y="2667000"/>
            <a:ext cx="1940560" cy="965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0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0ADDB2-A023-AF87-695C-05CC2A2FD876}"/>
              </a:ext>
            </a:extLst>
          </p:cNvPr>
          <p:cNvSpPr txBox="1"/>
          <p:nvPr/>
        </p:nvSpPr>
        <p:spPr>
          <a:xfrm>
            <a:off x="5252720" y="28067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008094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4C0AF99-A85F-85E5-B0E6-D7ED15F1B9D4}"/>
              </a:ext>
            </a:extLst>
          </p:cNvPr>
          <p:cNvSpPr txBox="1"/>
          <p:nvPr/>
        </p:nvSpPr>
        <p:spPr>
          <a:xfrm>
            <a:off x="5252720" y="3098800"/>
            <a:ext cx="168656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050" b="1">
                <a:solidFill>
                  <a:srgbClr val="242124"/>
                </a:solidFill>
                <a:latin typeface="Aptos" panose="020B0004020202020204" pitchFamily="34" charset="0"/>
              </a:rPr>
              <a:t>OneLake open data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6610D1-EEF0-E62C-65DC-D237F0A889A6}"/>
              </a:ext>
            </a:extLst>
          </p:cNvPr>
          <p:cNvSpPr txBox="1"/>
          <p:nvPr/>
        </p:nvSpPr>
        <p:spPr>
          <a:xfrm>
            <a:off x="7104380" y="2997200"/>
            <a:ext cx="215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200" b="1">
                <a:solidFill>
                  <a:srgbClr val="69646A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9BB1B0B-4332-8E0E-7ABF-DAF06F0401B6}"/>
              </a:ext>
            </a:extLst>
          </p:cNvPr>
          <p:cNvSpPr/>
          <p:nvPr/>
        </p:nvSpPr>
        <p:spPr>
          <a:xfrm>
            <a:off x="7345680" y="2667000"/>
            <a:ext cx="1940560" cy="965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437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40CC491-ACAF-C0C6-42C4-A54F33D0B8F6}"/>
              </a:ext>
            </a:extLst>
          </p:cNvPr>
          <p:cNvSpPr txBox="1"/>
          <p:nvPr/>
        </p:nvSpPr>
        <p:spPr>
          <a:xfrm>
            <a:off x="7472680" y="28067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A437B2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CC1553D-7B46-CF00-0712-2CD320C8A498}"/>
              </a:ext>
            </a:extLst>
          </p:cNvPr>
          <p:cNvSpPr txBox="1"/>
          <p:nvPr/>
        </p:nvSpPr>
        <p:spPr>
          <a:xfrm>
            <a:off x="7472680" y="3098800"/>
            <a:ext cx="168656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050" b="1">
                <a:solidFill>
                  <a:srgbClr val="242124"/>
                </a:solidFill>
                <a:latin typeface="Aptos" panose="020B0004020202020204" pitchFamily="34" charset="0"/>
              </a:rPr>
              <a:t>Fabric workloads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AB64BAC-F7F7-6628-52B1-0066785568E0}"/>
              </a:ext>
            </a:extLst>
          </p:cNvPr>
          <p:cNvSpPr txBox="1"/>
          <p:nvPr/>
        </p:nvSpPr>
        <p:spPr>
          <a:xfrm>
            <a:off x="9324340" y="2997200"/>
            <a:ext cx="215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200" b="1">
                <a:solidFill>
                  <a:srgbClr val="69646A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2BCF39E-FE74-647C-8880-6F02AA97E7D7}"/>
              </a:ext>
            </a:extLst>
          </p:cNvPr>
          <p:cNvSpPr/>
          <p:nvPr/>
        </p:nvSpPr>
        <p:spPr>
          <a:xfrm>
            <a:off x="9565640" y="2667000"/>
            <a:ext cx="1940560" cy="965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7A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E7EF18C-7C89-A15E-2D25-5B42369B1E8F}"/>
              </a:ext>
            </a:extLst>
          </p:cNvPr>
          <p:cNvSpPr txBox="1"/>
          <p:nvPr/>
        </p:nvSpPr>
        <p:spPr>
          <a:xfrm>
            <a:off x="9692640" y="28067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217A4F"/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93EF541-A934-21B7-673A-BA4C9A873BA6}"/>
              </a:ext>
            </a:extLst>
          </p:cNvPr>
          <p:cNvSpPr txBox="1"/>
          <p:nvPr/>
        </p:nvSpPr>
        <p:spPr>
          <a:xfrm>
            <a:off x="9692640" y="3098800"/>
            <a:ext cx="168656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050" b="1">
                <a:solidFill>
                  <a:srgbClr val="242124"/>
                </a:solidFill>
                <a:latin typeface="Aptos" panose="020B0004020202020204" pitchFamily="34" charset="0"/>
              </a:rPr>
              <a:t>Governed consumption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B35E938-0B66-F806-62A6-3252822554EE}"/>
              </a:ext>
            </a:extLst>
          </p:cNvPr>
          <p:cNvSpPr txBox="1"/>
          <p:nvPr/>
        </p:nvSpPr>
        <p:spPr>
          <a:xfrm>
            <a:off x="2413000" y="4318000"/>
            <a:ext cx="736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GB" sz="1300">
                <a:solidFill>
                  <a:srgbClr val="242124"/>
                </a:solidFill>
                <a:latin typeface="Aptos" panose="020B0004020202020204" pitchFamily="34" charset="0"/>
              </a:rPr>
              <a:t>• One logical data lake across Fabric</a:t>
            </a:r>
          </a:p>
          <a:p>
            <a:pPr>
              <a:spcAft>
                <a:spcPts val="700"/>
              </a:spcAft>
            </a:pPr>
            <a:r>
              <a:rPr lang="en-GB" sz="1300">
                <a:solidFill>
                  <a:srgbClr val="242124"/>
                </a:solidFill>
                <a:latin typeface="Aptos" panose="020B0004020202020204" pitchFamily="34" charset="0"/>
              </a:rPr>
              <a:t>• Open table formats and interoperable engines</a:t>
            </a:r>
          </a:p>
          <a:p>
            <a:pPr>
              <a:spcAft>
                <a:spcPts val="700"/>
              </a:spcAft>
            </a:pPr>
            <a:r>
              <a:rPr lang="en-GB" sz="1300">
                <a:solidFill>
                  <a:srgbClr val="242124"/>
                </a:solidFill>
                <a:latin typeface="Aptos" panose="020B0004020202020204" pitchFamily="34" charset="0"/>
              </a:rPr>
              <a:t>• Domain organization, discovery, lineage, and security</a:t>
            </a:r>
          </a:p>
        </p:txBody>
      </p:sp>
    </p:spTree>
    <p:extLst>
      <p:ext uri="{BB962C8B-B14F-4D97-AF65-F5344CB8AC3E}">
        <p14:creationId xmlns:p14="http://schemas.microsoft.com/office/powerpoint/2010/main" val="26485471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BAC7280-B3C2-BEEF-04F8-59D53E8A07A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7"/>
          </a:solidFill>
          <a:ln w="12700">
            <a:solidFill>
              <a:srgbClr val="F8F7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BF6C3C-0188-5320-C914-E9C81321513A}"/>
              </a:ext>
            </a:extLst>
          </p:cNvPr>
          <p:cNvSpPr txBox="1"/>
          <p:nvPr/>
        </p:nvSpPr>
        <p:spPr>
          <a:xfrm>
            <a:off x="685800" y="3810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008094"/>
                </a:solidFill>
                <a:latin typeface="Aptos" panose="020B0004020202020204" pitchFamily="34" charset="0"/>
              </a:rPr>
              <a:t>MICROSOFT DATA + AZURE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F07482-DC03-EBB4-50CF-D0739F7AA68E}"/>
              </a:ext>
            </a:extLst>
          </p:cNvPr>
          <p:cNvSpPr txBox="1"/>
          <p:nvPr/>
        </p:nvSpPr>
        <p:spPr>
          <a:xfrm>
            <a:off x="685800" y="6858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2700" b="1">
                <a:solidFill>
                  <a:srgbClr val="242124"/>
                </a:solidFill>
                <a:latin typeface="Aptos Display" panose="020B0004020202020204" pitchFamily="34" charset="0"/>
              </a:rPr>
              <a:t>Frontier data foundation: Bronze, Silver, Gold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A51B6A-AD93-45F1-AFDE-716423015BCC}"/>
              </a:ext>
            </a:extLst>
          </p:cNvPr>
          <p:cNvSpPr txBox="1"/>
          <p:nvPr/>
        </p:nvSpPr>
        <p:spPr>
          <a:xfrm>
            <a:off x="685800" y="14351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100">
                <a:solidFill>
                  <a:srgbClr val="69646A"/>
                </a:solidFill>
                <a:latin typeface="Aptos" panose="020B0004020202020204" pitchFamily="34" charset="0"/>
              </a:rPr>
              <a:t>A schema-enabled Lakehouse turns deterministic source data into governed RM context.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DFA800C-53FF-E398-718E-1CF466539E96}"/>
              </a:ext>
            </a:extLst>
          </p:cNvPr>
          <p:cNvCxnSpPr/>
          <p:nvPr/>
        </p:nvCxnSpPr>
        <p:spPr>
          <a:xfrm>
            <a:off x="685800" y="6477000"/>
            <a:ext cx="10820400" cy="0"/>
          </a:xfrm>
          <a:prstGeom prst="line">
            <a:avLst/>
          </a:prstGeom>
          <a:ln>
            <a:solidFill>
              <a:srgbClr val="E3E1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E8DC658-B01F-F355-BC0C-CAF64CD4B916}"/>
              </a:ext>
            </a:extLst>
          </p:cNvPr>
          <p:cNvSpPr txBox="1"/>
          <p:nvPr/>
        </p:nvSpPr>
        <p:spPr>
          <a:xfrm>
            <a:off x="685800" y="65659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700" b="1">
                <a:solidFill>
                  <a:srgbClr val="69646A"/>
                </a:solidFill>
                <a:latin typeface="Aptos" panose="020B0004020202020204" pitchFamily="34" charset="0"/>
              </a:rPr>
              <a:t>FRONTIER RM · MICROSOFT DATA + AZURE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C5C9E2-8D6F-F765-CD6A-956AEBB7766D}"/>
              </a:ext>
            </a:extLst>
          </p:cNvPr>
          <p:cNvSpPr txBox="1"/>
          <p:nvPr/>
        </p:nvSpPr>
        <p:spPr>
          <a:xfrm>
            <a:off x="10985500" y="65659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r"/>
            <a:r>
              <a:rPr lang="en-GB" sz="800" b="1">
                <a:solidFill>
                  <a:srgbClr val="69646A"/>
                </a:solidFill>
                <a:latin typeface="Aptos" panose="020B0004020202020204" pitchFamily="34" charset="0"/>
              </a:rPr>
              <a:t>20</a:t>
            </a:r>
          </a:p>
        </p:txBody>
      </p:sp>
      <p:sp>
        <p:nvSpPr>
          <p:cNvPr id="9" name="SCREENSHOT_ZONE_S20">
            <a:extLst>
              <a:ext uri="{FF2B5EF4-FFF2-40B4-BE49-F238E27FC236}">
                <a16:creationId xmlns:a16="http://schemas.microsoft.com/office/drawing/2014/main" id="{2E707D7C-5C75-9196-FBC2-6E79F6D86110}"/>
              </a:ext>
            </a:extLst>
          </p:cNvPr>
          <p:cNvSpPr/>
          <p:nvPr/>
        </p:nvSpPr>
        <p:spPr>
          <a:xfrm>
            <a:off x="685800" y="2095500"/>
            <a:ext cx="6604000" cy="381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094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20EDE09-471C-BB9D-DD6E-3648EDBD44CF}"/>
              </a:ext>
            </a:extLst>
          </p:cNvPr>
          <p:cNvSpPr/>
          <p:nvPr/>
        </p:nvSpPr>
        <p:spPr>
          <a:xfrm>
            <a:off x="876300" y="2286000"/>
            <a:ext cx="2667000" cy="304800"/>
          </a:xfrm>
          <a:prstGeom prst="roundRect">
            <a:avLst/>
          </a:prstGeom>
          <a:solidFill>
            <a:srgbClr val="008094"/>
          </a:solidFill>
          <a:ln w="12700">
            <a:solidFill>
              <a:srgbClr val="0080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DE0DE8-0FE2-3E37-0C49-352FC27AAFB2}"/>
              </a:ext>
            </a:extLst>
          </p:cNvPr>
          <p:cNvSpPr txBox="1"/>
          <p:nvPr/>
        </p:nvSpPr>
        <p:spPr>
          <a:xfrm>
            <a:off x="965200" y="2349500"/>
            <a:ext cx="2489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800" b="1">
                <a:solidFill>
                  <a:srgbClr val="FFFFFF"/>
                </a:solidFill>
                <a:latin typeface="Aptos" panose="020B0004020202020204" pitchFamily="34" charset="0"/>
              </a:rPr>
              <a:t>IMAGE PLACEHOLDER · FABRIC WORKSPACE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F6AFD5-2584-8B14-EECB-5FE66F78C6F8}"/>
              </a:ext>
            </a:extLst>
          </p:cNvPr>
          <p:cNvSpPr txBox="1"/>
          <p:nvPr/>
        </p:nvSpPr>
        <p:spPr>
          <a:xfrm>
            <a:off x="3733800" y="35560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GB" sz="2400" b="1">
                <a:solidFill>
                  <a:srgbClr val="008094"/>
                </a:solidFill>
                <a:latin typeface="Segoe UI Symbol" panose="020B0502040204020203" pitchFamily="34" charset="0"/>
              </a:rPr>
              <a:t>▧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45BCE9-8A6A-E084-0B26-EC07C7033C88}"/>
              </a:ext>
            </a:extLst>
          </p:cNvPr>
          <p:cNvSpPr txBox="1"/>
          <p:nvPr/>
        </p:nvSpPr>
        <p:spPr>
          <a:xfrm>
            <a:off x="1041400" y="4102100"/>
            <a:ext cx="589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100" b="1">
                <a:solidFill>
                  <a:srgbClr val="242124"/>
                </a:solidFill>
                <a:latin typeface="Aptos" panose="020B0004020202020204" pitchFamily="34" charset="0"/>
              </a:rPr>
              <a:t>Insert workspace, Lakehouse, medallion notebook, or tables.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993136-7185-E659-C2C1-88156401051A}"/>
              </a:ext>
            </a:extLst>
          </p:cNvPr>
          <p:cNvSpPr txBox="1"/>
          <p:nvPr/>
        </p:nvSpPr>
        <p:spPr>
          <a:xfrm>
            <a:off x="1003300" y="5461000"/>
            <a:ext cx="596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800">
                <a:solidFill>
                  <a:srgbClr val="69646A"/>
                </a:solidFill>
                <a:latin typeface="Aptos" panose="020B0004020202020204" pitchFamily="34" charset="0"/>
              </a:rPr>
              <a:t>Replace this zone with your screenshot; retain the slide title and adjacent callouts.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FFFCCDD-72E0-9660-CB45-9EAD608C40A7}"/>
              </a:ext>
            </a:extLst>
          </p:cNvPr>
          <p:cNvSpPr/>
          <p:nvPr/>
        </p:nvSpPr>
        <p:spPr>
          <a:xfrm>
            <a:off x="7747000" y="2095500"/>
            <a:ext cx="3759200" cy="104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A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366BA0-3B19-01E1-3A58-4571BBE28D3D}"/>
              </a:ext>
            </a:extLst>
          </p:cNvPr>
          <p:cNvSpPr txBox="1"/>
          <p:nvPr/>
        </p:nvSpPr>
        <p:spPr>
          <a:xfrm>
            <a:off x="7937500" y="22733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007AD2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0A8898-8626-7153-CE63-2A9DFE060881}"/>
              </a:ext>
            </a:extLst>
          </p:cNvPr>
          <p:cNvSpPr txBox="1"/>
          <p:nvPr/>
        </p:nvSpPr>
        <p:spPr>
          <a:xfrm>
            <a:off x="8445500" y="2247900"/>
            <a:ext cx="273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200" b="1">
                <a:solidFill>
                  <a:srgbClr val="242124"/>
                </a:solidFill>
                <a:latin typeface="Aptos" panose="020B0004020202020204" pitchFamily="34" charset="0"/>
              </a:rPr>
              <a:t>21 Bronze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AE1761-BC1F-5B76-14BE-EB14BCD90E19}"/>
              </a:ext>
            </a:extLst>
          </p:cNvPr>
          <p:cNvSpPr txBox="1"/>
          <p:nvPr/>
        </p:nvSpPr>
        <p:spPr>
          <a:xfrm>
            <a:off x="8445500" y="2590800"/>
            <a:ext cx="273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900">
                <a:solidFill>
                  <a:srgbClr val="69646A"/>
                </a:solidFill>
                <a:latin typeface="Aptos" panose="020B0004020202020204" pitchFamily="34" charset="0"/>
              </a:rPr>
              <a:t>Source-aligned landing tables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677C2E6-5276-6050-1741-39F9C5F111C4}"/>
              </a:ext>
            </a:extLst>
          </p:cNvPr>
          <p:cNvSpPr/>
          <p:nvPr/>
        </p:nvSpPr>
        <p:spPr>
          <a:xfrm>
            <a:off x="7747000" y="3302000"/>
            <a:ext cx="3759200" cy="104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0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D098AFC-8BDD-BA3B-582D-D4892D918843}"/>
              </a:ext>
            </a:extLst>
          </p:cNvPr>
          <p:cNvSpPr txBox="1"/>
          <p:nvPr/>
        </p:nvSpPr>
        <p:spPr>
          <a:xfrm>
            <a:off x="7937500" y="34798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008094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E9FFAB-4D2E-7522-07EC-A4D188FA2123}"/>
              </a:ext>
            </a:extLst>
          </p:cNvPr>
          <p:cNvSpPr txBox="1"/>
          <p:nvPr/>
        </p:nvSpPr>
        <p:spPr>
          <a:xfrm>
            <a:off x="8445500" y="3454400"/>
            <a:ext cx="273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200" b="1">
                <a:solidFill>
                  <a:srgbClr val="242124"/>
                </a:solidFill>
                <a:latin typeface="Aptos" panose="020B0004020202020204" pitchFamily="34" charset="0"/>
              </a:rPr>
              <a:t>21 Silver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38EE8D5-7167-BB74-E3B5-F334DED582C0}"/>
              </a:ext>
            </a:extLst>
          </p:cNvPr>
          <p:cNvSpPr txBox="1"/>
          <p:nvPr/>
        </p:nvSpPr>
        <p:spPr>
          <a:xfrm>
            <a:off x="8445500" y="3797300"/>
            <a:ext cx="273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900">
                <a:solidFill>
                  <a:srgbClr val="69646A"/>
                </a:solidFill>
                <a:latin typeface="Aptos" panose="020B0004020202020204" pitchFamily="34" charset="0"/>
              </a:rPr>
              <a:t>Validated, deduplicated domain data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9BFD03B-57C4-9C79-087E-713CA5DB7075}"/>
              </a:ext>
            </a:extLst>
          </p:cNvPr>
          <p:cNvSpPr/>
          <p:nvPr/>
        </p:nvSpPr>
        <p:spPr>
          <a:xfrm>
            <a:off x="7747000" y="4508500"/>
            <a:ext cx="3759200" cy="104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7A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B384C4E-5010-F411-CA1F-D89DFED2F277}"/>
              </a:ext>
            </a:extLst>
          </p:cNvPr>
          <p:cNvSpPr txBox="1"/>
          <p:nvPr/>
        </p:nvSpPr>
        <p:spPr>
          <a:xfrm>
            <a:off x="7937500" y="46863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217A4F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067165-844C-114A-1067-A4AE994F2385}"/>
              </a:ext>
            </a:extLst>
          </p:cNvPr>
          <p:cNvSpPr txBox="1"/>
          <p:nvPr/>
        </p:nvSpPr>
        <p:spPr>
          <a:xfrm>
            <a:off x="8445500" y="4660900"/>
            <a:ext cx="273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200" b="1">
                <a:solidFill>
                  <a:srgbClr val="242124"/>
                </a:solidFill>
                <a:latin typeface="Aptos" panose="020B0004020202020204" pitchFamily="34" charset="0"/>
              </a:rPr>
              <a:t>12 Gold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52725A5-FFBC-E8CE-EB95-6C69D0EDEEDC}"/>
              </a:ext>
            </a:extLst>
          </p:cNvPr>
          <p:cNvSpPr txBox="1"/>
          <p:nvPr/>
        </p:nvSpPr>
        <p:spPr>
          <a:xfrm>
            <a:off x="8445500" y="5003800"/>
            <a:ext cx="273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900">
                <a:solidFill>
                  <a:srgbClr val="69646A"/>
                </a:solidFill>
                <a:latin typeface="Aptos" panose="020B0004020202020204" pitchFamily="34" charset="0"/>
              </a:rPr>
              <a:t>RM-ready business context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D48AD61-0287-9E60-4715-E8796BEB65FD}"/>
              </a:ext>
            </a:extLst>
          </p:cNvPr>
          <p:cNvSpPr txBox="1"/>
          <p:nvPr/>
        </p:nvSpPr>
        <p:spPr>
          <a:xfrm>
            <a:off x="8064500" y="5778500"/>
            <a:ext cx="3124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100" b="1">
                <a:solidFill>
                  <a:srgbClr val="008094"/>
                </a:solidFill>
                <a:latin typeface="Aptos" panose="020B0004020202020204" pitchFamily="34" charset="0"/>
              </a:rPr>
              <a:t>20 fictional clients · 399 rows</a:t>
            </a:r>
          </a:p>
        </p:txBody>
      </p:sp>
    </p:spTree>
    <p:extLst>
      <p:ext uri="{BB962C8B-B14F-4D97-AF65-F5344CB8AC3E}">
        <p14:creationId xmlns:p14="http://schemas.microsoft.com/office/powerpoint/2010/main" val="3081525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1E1322B-FE5A-3F5B-BD46-1A13C02F5ED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7"/>
          </a:solidFill>
          <a:ln w="12700">
            <a:solidFill>
              <a:srgbClr val="F8F7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6DA4D3-DF21-AF11-8EF9-F2E4FA746D4B}"/>
              </a:ext>
            </a:extLst>
          </p:cNvPr>
          <p:cNvSpPr txBox="1"/>
          <p:nvPr/>
        </p:nvSpPr>
        <p:spPr>
          <a:xfrm>
            <a:off x="685800" y="3810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007AD2"/>
                </a:solidFill>
                <a:latin typeface="Aptos" panose="020B0004020202020204" pitchFamily="34" charset="0"/>
              </a:rPr>
              <a:t>MICROSOFT DATA + AZURE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CCED02-5205-892E-ED15-9ED83BD32A8C}"/>
              </a:ext>
            </a:extLst>
          </p:cNvPr>
          <p:cNvSpPr txBox="1"/>
          <p:nvPr/>
        </p:nvSpPr>
        <p:spPr>
          <a:xfrm>
            <a:off x="685800" y="6858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2700" b="1">
                <a:solidFill>
                  <a:srgbClr val="242124"/>
                </a:solidFill>
                <a:latin typeface="Aptos Display" panose="020B0004020202020204" pitchFamily="34" charset="0"/>
              </a:rPr>
              <a:t>Power BI and Direct Lake: business meaning at data speed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F723E8-2E4A-8E83-A61D-4A34917C00CB}"/>
              </a:ext>
            </a:extLst>
          </p:cNvPr>
          <p:cNvSpPr txBox="1"/>
          <p:nvPr/>
        </p:nvSpPr>
        <p:spPr>
          <a:xfrm>
            <a:off x="685800" y="14351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100">
                <a:solidFill>
                  <a:srgbClr val="69646A"/>
                </a:solidFill>
                <a:latin typeface="Aptos" panose="020B0004020202020204" pitchFamily="34" charset="0"/>
              </a:rPr>
              <a:t>Curated measures and relationships ground analytics and AI in trusted business concepts.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B7F834D-B28C-0E8E-7912-E156A9904057}"/>
              </a:ext>
            </a:extLst>
          </p:cNvPr>
          <p:cNvCxnSpPr/>
          <p:nvPr/>
        </p:nvCxnSpPr>
        <p:spPr>
          <a:xfrm>
            <a:off x="685800" y="6477000"/>
            <a:ext cx="10820400" cy="0"/>
          </a:xfrm>
          <a:prstGeom prst="line">
            <a:avLst/>
          </a:prstGeom>
          <a:ln>
            <a:solidFill>
              <a:srgbClr val="E3E1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D7877F7-D5FE-E770-DB15-825798526D21}"/>
              </a:ext>
            </a:extLst>
          </p:cNvPr>
          <p:cNvSpPr txBox="1"/>
          <p:nvPr/>
        </p:nvSpPr>
        <p:spPr>
          <a:xfrm>
            <a:off x="685800" y="65659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700" b="1">
                <a:solidFill>
                  <a:srgbClr val="69646A"/>
                </a:solidFill>
                <a:latin typeface="Aptos" panose="020B0004020202020204" pitchFamily="34" charset="0"/>
              </a:rPr>
              <a:t>FRONTIER RM · MICROSOFT DATA + AZURE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1B7C8C-56BF-549C-2AE0-4C8102325304}"/>
              </a:ext>
            </a:extLst>
          </p:cNvPr>
          <p:cNvSpPr txBox="1"/>
          <p:nvPr/>
        </p:nvSpPr>
        <p:spPr>
          <a:xfrm>
            <a:off x="10985500" y="65659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r"/>
            <a:r>
              <a:rPr lang="en-GB" sz="800" b="1">
                <a:solidFill>
                  <a:srgbClr val="69646A"/>
                </a:solidFill>
                <a:latin typeface="Aptos" panose="020B0004020202020204" pitchFamily="34" charset="0"/>
              </a:rPr>
              <a:t>21</a:t>
            </a:r>
          </a:p>
        </p:txBody>
      </p:sp>
      <p:sp>
        <p:nvSpPr>
          <p:cNvPr id="9" name="SCREENSHOT_ZONE_S21">
            <a:extLst>
              <a:ext uri="{FF2B5EF4-FFF2-40B4-BE49-F238E27FC236}">
                <a16:creationId xmlns:a16="http://schemas.microsoft.com/office/drawing/2014/main" id="{CC1FBF2F-54A1-F35B-ADCE-048DBE080EEF}"/>
              </a:ext>
            </a:extLst>
          </p:cNvPr>
          <p:cNvSpPr/>
          <p:nvPr/>
        </p:nvSpPr>
        <p:spPr>
          <a:xfrm>
            <a:off x="685800" y="2095500"/>
            <a:ext cx="7112000" cy="381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AD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F14F2A6-71E7-0DB5-D0C8-0C75DEA2ABBB}"/>
              </a:ext>
            </a:extLst>
          </p:cNvPr>
          <p:cNvSpPr/>
          <p:nvPr/>
        </p:nvSpPr>
        <p:spPr>
          <a:xfrm>
            <a:off x="876300" y="2286000"/>
            <a:ext cx="2667000" cy="304800"/>
          </a:xfrm>
          <a:prstGeom prst="roundRect">
            <a:avLst/>
          </a:prstGeom>
          <a:solidFill>
            <a:srgbClr val="007AD2"/>
          </a:solidFill>
          <a:ln w="12700">
            <a:solidFill>
              <a:srgbClr val="007A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AEE21D-F9EE-BCBB-8846-7D94DA864DD4}"/>
              </a:ext>
            </a:extLst>
          </p:cNvPr>
          <p:cNvSpPr txBox="1"/>
          <p:nvPr/>
        </p:nvSpPr>
        <p:spPr>
          <a:xfrm>
            <a:off x="965200" y="2349500"/>
            <a:ext cx="2489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800" b="1">
                <a:solidFill>
                  <a:srgbClr val="FFFFFF"/>
                </a:solidFill>
                <a:latin typeface="Aptos" panose="020B0004020202020204" pitchFamily="34" charset="0"/>
              </a:rPr>
              <a:t>IMAGE PLACEHOLDER · SEMANTIC MODEL / POWER BI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14977E-2361-A250-28A9-53AE5292F47A}"/>
              </a:ext>
            </a:extLst>
          </p:cNvPr>
          <p:cNvSpPr txBox="1"/>
          <p:nvPr/>
        </p:nvSpPr>
        <p:spPr>
          <a:xfrm>
            <a:off x="3987800" y="35560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GB" sz="2400" b="1">
                <a:solidFill>
                  <a:srgbClr val="007AD2"/>
                </a:solidFill>
                <a:latin typeface="Segoe UI Symbol" panose="020B0502040204020203" pitchFamily="34" charset="0"/>
              </a:rPr>
              <a:t>▧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B5F123-B25F-7EAC-6647-41A7B4E3D87B}"/>
              </a:ext>
            </a:extLst>
          </p:cNvPr>
          <p:cNvSpPr txBox="1"/>
          <p:nvPr/>
        </p:nvSpPr>
        <p:spPr>
          <a:xfrm>
            <a:off x="1041400" y="4102100"/>
            <a:ext cx="6400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100" b="1">
                <a:solidFill>
                  <a:srgbClr val="242124"/>
                </a:solidFill>
                <a:latin typeface="Aptos" panose="020B0004020202020204" pitchFamily="34" charset="0"/>
              </a:rPr>
              <a:t>Insert model diagram, DAX validation, or Power BI view.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17811C-5069-7976-AFCE-AED1733B0DCA}"/>
              </a:ext>
            </a:extLst>
          </p:cNvPr>
          <p:cNvSpPr txBox="1"/>
          <p:nvPr/>
        </p:nvSpPr>
        <p:spPr>
          <a:xfrm>
            <a:off x="1003300" y="5461000"/>
            <a:ext cx="647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800">
                <a:solidFill>
                  <a:srgbClr val="69646A"/>
                </a:solidFill>
                <a:latin typeface="Aptos" panose="020B0004020202020204" pitchFamily="34" charset="0"/>
              </a:rPr>
              <a:t>Replace this zone with your screenshot; retain the slide title and adjacent callouts.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CEDD08F-171A-73C2-2779-EE175A7CAF2D}"/>
              </a:ext>
            </a:extLst>
          </p:cNvPr>
          <p:cNvSpPr/>
          <p:nvPr/>
        </p:nvSpPr>
        <p:spPr>
          <a:xfrm>
            <a:off x="8191500" y="2286000"/>
            <a:ext cx="3314700" cy="152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0F507D5-2A50-47FD-0C81-A7211407080B}"/>
              </a:ext>
            </a:extLst>
          </p:cNvPr>
          <p:cNvSpPr/>
          <p:nvPr/>
        </p:nvSpPr>
        <p:spPr>
          <a:xfrm>
            <a:off x="8191500" y="2286000"/>
            <a:ext cx="88900" cy="1524000"/>
          </a:xfrm>
          <a:prstGeom prst="rect">
            <a:avLst/>
          </a:prstGeom>
          <a:solidFill>
            <a:srgbClr val="007AD2"/>
          </a:solidFill>
          <a:ln w="12700">
            <a:solidFill>
              <a:srgbClr val="007A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1024A4-352C-67B4-AFDC-5436E3ED976D}"/>
              </a:ext>
            </a:extLst>
          </p:cNvPr>
          <p:cNvSpPr txBox="1"/>
          <p:nvPr/>
        </p:nvSpPr>
        <p:spPr>
          <a:xfrm>
            <a:off x="8432800" y="2476500"/>
            <a:ext cx="2882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007AD2"/>
                </a:solidFill>
                <a:latin typeface="Aptos" panose="020B0004020202020204" pitchFamily="34" charset="0"/>
              </a:rPr>
              <a:t>DIRECT LAKE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65A3A6-D21D-9946-997D-AA5F0DC4466C}"/>
              </a:ext>
            </a:extLst>
          </p:cNvPr>
          <p:cNvSpPr txBox="1"/>
          <p:nvPr/>
        </p:nvSpPr>
        <p:spPr>
          <a:xfrm>
            <a:off x="8432800" y="2794000"/>
            <a:ext cx="2882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400" b="1">
                <a:solidFill>
                  <a:srgbClr val="242124"/>
                </a:solidFill>
                <a:latin typeface="Aptos Display" panose="020B0004020202020204" pitchFamily="34" charset="0"/>
              </a:rPr>
              <a:t>12 tables · 11 measures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3750D64-16D6-2E96-4612-249BBB53BAF8}"/>
              </a:ext>
            </a:extLst>
          </p:cNvPr>
          <p:cNvSpPr txBox="1"/>
          <p:nvPr/>
        </p:nvSpPr>
        <p:spPr>
          <a:xfrm>
            <a:off x="8432800" y="3403600"/>
            <a:ext cx="2882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50">
                <a:solidFill>
                  <a:srgbClr val="69646A"/>
                </a:solidFill>
                <a:latin typeface="Aptos" panose="020B0004020202020204" pitchFamily="34" charset="0"/>
              </a:rPr>
              <a:t>Shared business definitions and relationships without duplicating imported data.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FBE18C2-B27D-AB5C-FE33-2D6AB0D184B2}"/>
              </a:ext>
            </a:extLst>
          </p:cNvPr>
          <p:cNvSpPr/>
          <p:nvPr/>
        </p:nvSpPr>
        <p:spPr>
          <a:xfrm>
            <a:off x="8191500" y="4064000"/>
            <a:ext cx="3314700" cy="152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8E5A7D4-7AE2-339A-D65D-D3AD18546696}"/>
              </a:ext>
            </a:extLst>
          </p:cNvPr>
          <p:cNvSpPr/>
          <p:nvPr/>
        </p:nvSpPr>
        <p:spPr>
          <a:xfrm>
            <a:off x="8191500" y="4064000"/>
            <a:ext cx="88900" cy="1524000"/>
          </a:xfrm>
          <a:prstGeom prst="rect">
            <a:avLst/>
          </a:prstGeom>
          <a:solidFill>
            <a:srgbClr val="217A4F"/>
          </a:solidFill>
          <a:ln w="12700">
            <a:solidFill>
              <a:srgbClr val="217A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02F918D-9538-904A-A129-57959BEE1F3F}"/>
              </a:ext>
            </a:extLst>
          </p:cNvPr>
          <p:cNvSpPr txBox="1"/>
          <p:nvPr/>
        </p:nvSpPr>
        <p:spPr>
          <a:xfrm>
            <a:off x="8432800" y="4254500"/>
            <a:ext cx="2882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217A4F"/>
                </a:solidFill>
                <a:latin typeface="Aptos" panose="020B0004020202020204" pitchFamily="34" charset="0"/>
              </a:rPr>
              <a:t>AUTHORITY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1EC412F-E418-39AA-B534-64A098A45616}"/>
              </a:ext>
            </a:extLst>
          </p:cNvPr>
          <p:cNvSpPr txBox="1"/>
          <p:nvPr/>
        </p:nvSpPr>
        <p:spPr>
          <a:xfrm>
            <a:off x="8432800" y="4572000"/>
            <a:ext cx="2882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400" b="1">
                <a:solidFill>
                  <a:srgbClr val="242124"/>
                </a:solidFill>
                <a:latin typeface="Aptos Display" panose="020B0004020202020204" pitchFamily="34" charset="0"/>
              </a:rPr>
              <a:t>Validated DAX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81CAF61-2EEE-2963-7D18-0588B55789A7}"/>
              </a:ext>
            </a:extLst>
          </p:cNvPr>
          <p:cNvSpPr txBox="1"/>
          <p:nvPr/>
        </p:nvSpPr>
        <p:spPr>
          <a:xfrm>
            <a:off x="8432800" y="5181600"/>
            <a:ext cx="2882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50">
                <a:solidFill>
                  <a:srgbClr val="69646A"/>
                </a:solidFill>
                <a:latin typeface="Aptos" panose="020B0004020202020204" pitchFamily="34" charset="0"/>
              </a:rPr>
              <a:t>Authoritative monetary values and hidden identifiers stay governed.</a:t>
            </a:r>
          </a:p>
        </p:txBody>
      </p:sp>
    </p:spTree>
    <p:extLst>
      <p:ext uri="{BB962C8B-B14F-4D97-AF65-F5344CB8AC3E}">
        <p14:creationId xmlns:p14="http://schemas.microsoft.com/office/powerpoint/2010/main" val="29193164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B4C2D66-6DB0-2552-325E-06A16FD625C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7"/>
          </a:solidFill>
          <a:ln w="12700">
            <a:solidFill>
              <a:srgbClr val="F8F7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A6AC2C-16B6-28B9-59DD-8B5606C99A7E}"/>
              </a:ext>
            </a:extLst>
          </p:cNvPr>
          <p:cNvSpPr txBox="1"/>
          <p:nvPr/>
        </p:nvSpPr>
        <p:spPr>
          <a:xfrm>
            <a:off x="685800" y="3810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007AD2"/>
                </a:solidFill>
                <a:latin typeface="Aptos" panose="020B0004020202020204" pitchFamily="34" charset="0"/>
              </a:rPr>
              <a:t>MICROSOFT DATA + AZURE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861689-CF91-756F-B949-A6A124083665}"/>
              </a:ext>
            </a:extLst>
          </p:cNvPr>
          <p:cNvSpPr txBox="1"/>
          <p:nvPr/>
        </p:nvSpPr>
        <p:spPr>
          <a:xfrm>
            <a:off x="685800" y="6858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2700" b="1">
                <a:solidFill>
                  <a:srgbClr val="242124"/>
                </a:solidFill>
                <a:latin typeface="Aptos Display" panose="020B0004020202020204" pitchFamily="34" charset="0"/>
              </a:rPr>
              <a:t>From data platform to business workflow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532C15-33E1-B56A-A2D6-40F61BE266C1}"/>
              </a:ext>
            </a:extLst>
          </p:cNvPr>
          <p:cNvSpPr txBox="1"/>
          <p:nvPr/>
        </p:nvSpPr>
        <p:spPr>
          <a:xfrm>
            <a:off x="685800" y="14351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100">
                <a:solidFill>
                  <a:srgbClr val="69646A"/>
                </a:solidFill>
                <a:latin typeface="Aptos" panose="020B0004020202020204" pitchFamily="34" charset="0"/>
              </a:rPr>
              <a:t>Data becomes valuable when trusted meaning reaches people, applications, and agents.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3DFD373-C18D-FDBD-286F-E1D37CBDA38F}"/>
              </a:ext>
            </a:extLst>
          </p:cNvPr>
          <p:cNvCxnSpPr/>
          <p:nvPr/>
        </p:nvCxnSpPr>
        <p:spPr>
          <a:xfrm>
            <a:off x="685800" y="6477000"/>
            <a:ext cx="10820400" cy="0"/>
          </a:xfrm>
          <a:prstGeom prst="line">
            <a:avLst/>
          </a:prstGeom>
          <a:ln>
            <a:solidFill>
              <a:srgbClr val="E3E1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FA338B5-6459-1CF4-0B0A-75F514AFA64D}"/>
              </a:ext>
            </a:extLst>
          </p:cNvPr>
          <p:cNvSpPr txBox="1"/>
          <p:nvPr/>
        </p:nvSpPr>
        <p:spPr>
          <a:xfrm>
            <a:off x="685800" y="65659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700" b="1">
                <a:solidFill>
                  <a:srgbClr val="69646A"/>
                </a:solidFill>
                <a:latin typeface="Aptos" panose="020B0004020202020204" pitchFamily="34" charset="0"/>
              </a:rPr>
              <a:t>FRONTIER RM · MICROSOFT DATA + AZURE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F9F6A5-056A-C4FA-7A71-20C11E2D6E3B}"/>
              </a:ext>
            </a:extLst>
          </p:cNvPr>
          <p:cNvSpPr txBox="1"/>
          <p:nvPr/>
        </p:nvSpPr>
        <p:spPr>
          <a:xfrm>
            <a:off x="10985500" y="65659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r"/>
            <a:r>
              <a:rPr lang="en-GB" sz="800" b="1">
                <a:solidFill>
                  <a:srgbClr val="69646A"/>
                </a:solidFill>
                <a:latin typeface="Aptos" panose="020B0004020202020204" pitchFamily="34" charset="0"/>
              </a:rPr>
              <a:t>22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6CCEDEB-59AC-70BD-A4F6-395033DC12FF}"/>
              </a:ext>
            </a:extLst>
          </p:cNvPr>
          <p:cNvSpPr/>
          <p:nvPr/>
        </p:nvSpPr>
        <p:spPr>
          <a:xfrm>
            <a:off x="685800" y="2921000"/>
            <a:ext cx="1940560" cy="965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A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0C9CC7-4488-7B27-7E68-D1B63337A29A}"/>
              </a:ext>
            </a:extLst>
          </p:cNvPr>
          <p:cNvSpPr txBox="1"/>
          <p:nvPr/>
        </p:nvSpPr>
        <p:spPr>
          <a:xfrm>
            <a:off x="812800" y="30607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007AD2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8F65DE-9AC9-AE6C-9308-41ED71828C17}"/>
              </a:ext>
            </a:extLst>
          </p:cNvPr>
          <p:cNvSpPr txBox="1"/>
          <p:nvPr/>
        </p:nvSpPr>
        <p:spPr>
          <a:xfrm>
            <a:off x="812800" y="3352800"/>
            <a:ext cx="168656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 fontScale="92500"/>
          </a:bodyPr>
          <a:lstStyle/>
          <a:p>
            <a:pPr algn="ctr"/>
            <a:r>
              <a:rPr lang="en-GB" sz="1050" b="1">
                <a:solidFill>
                  <a:srgbClr val="242124"/>
                </a:solidFill>
                <a:latin typeface="Aptos" panose="020B0004020202020204" pitchFamily="34" charset="0"/>
              </a:rPr>
              <a:t>Operational + analytical data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9B0E62-A43F-40D8-03B0-DE1D0091AE1D}"/>
              </a:ext>
            </a:extLst>
          </p:cNvPr>
          <p:cNvSpPr txBox="1"/>
          <p:nvPr/>
        </p:nvSpPr>
        <p:spPr>
          <a:xfrm>
            <a:off x="2664460" y="3251200"/>
            <a:ext cx="215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200" b="1">
                <a:solidFill>
                  <a:srgbClr val="69646A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BDCD94A-44DE-D68D-50F5-6F7D8465E6F6}"/>
              </a:ext>
            </a:extLst>
          </p:cNvPr>
          <p:cNvSpPr/>
          <p:nvPr/>
        </p:nvSpPr>
        <p:spPr>
          <a:xfrm>
            <a:off x="2905760" y="2921000"/>
            <a:ext cx="1940560" cy="965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0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D5F972-6F71-AF54-2F36-49F7A3866990}"/>
              </a:ext>
            </a:extLst>
          </p:cNvPr>
          <p:cNvSpPr txBox="1"/>
          <p:nvPr/>
        </p:nvSpPr>
        <p:spPr>
          <a:xfrm>
            <a:off x="3032760" y="30607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008094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B0B588-E99C-64F4-3240-6961FEA30441}"/>
              </a:ext>
            </a:extLst>
          </p:cNvPr>
          <p:cNvSpPr txBox="1"/>
          <p:nvPr/>
        </p:nvSpPr>
        <p:spPr>
          <a:xfrm>
            <a:off x="3032760" y="3352800"/>
            <a:ext cx="168656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050" b="1">
                <a:solidFill>
                  <a:srgbClr val="242124"/>
                </a:solidFill>
                <a:latin typeface="Aptos" panose="020B0004020202020204" pitchFamily="34" charset="0"/>
              </a:rPr>
              <a:t>Shared business meaning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3F4E318-D946-7D55-B4B7-1F2B05172C4B}"/>
              </a:ext>
            </a:extLst>
          </p:cNvPr>
          <p:cNvSpPr txBox="1"/>
          <p:nvPr/>
        </p:nvSpPr>
        <p:spPr>
          <a:xfrm>
            <a:off x="4884420" y="3251200"/>
            <a:ext cx="215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200" b="1">
                <a:solidFill>
                  <a:srgbClr val="69646A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A57B1EE-0D9E-B0DA-C3B3-31211F3820D6}"/>
              </a:ext>
            </a:extLst>
          </p:cNvPr>
          <p:cNvSpPr/>
          <p:nvPr/>
        </p:nvSpPr>
        <p:spPr>
          <a:xfrm>
            <a:off x="5125720" y="2921000"/>
            <a:ext cx="1940560" cy="965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38A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46E47C1-EF79-ADA1-C027-E5CD3A29DB8E}"/>
              </a:ext>
            </a:extLst>
          </p:cNvPr>
          <p:cNvSpPr txBox="1"/>
          <p:nvPr/>
        </p:nvSpPr>
        <p:spPr>
          <a:xfrm>
            <a:off x="5252720" y="30607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238AC6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33237AF-8F07-0799-E7EC-1F6558EE3C80}"/>
              </a:ext>
            </a:extLst>
          </p:cNvPr>
          <p:cNvSpPr txBox="1"/>
          <p:nvPr/>
        </p:nvSpPr>
        <p:spPr>
          <a:xfrm>
            <a:off x="5252720" y="3352800"/>
            <a:ext cx="168656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050" b="1">
                <a:solidFill>
                  <a:srgbClr val="242124"/>
                </a:solidFill>
                <a:latin typeface="Aptos" panose="020B0004020202020204" pitchFamily="34" charset="0"/>
              </a:rPr>
              <a:t>Work context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973583-4D21-7421-60A2-189831F91BA6}"/>
              </a:ext>
            </a:extLst>
          </p:cNvPr>
          <p:cNvSpPr txBox="1"/>
          <p:nvPr/>
        </p:nvSpPr>
        <p:spPr>
          <a:xfrm>
            <a:off x="7104380" y="3251200"/>
            <a:ext cx="215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200" b="1">
                <a:solidFill>
                  <a:srgbClr val="69646A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F8FD406-F4EE-26FC-02F2-E918CC1ACCBE}"/>
              </a:ext>
            </a:extLst>
          </p:cNvPr>
          <p:cNvSpPr/>
          <p:nvPr/>
        </p:nvSpPr>
        <p:spPr>
          <a:xfrm>
            <a:off x="7345680" y="2921000"/>
            <a:ext cx="1940560" cy="965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2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ED76CF-58B8-E128-237C-0C71C57AE795}"/>
              </a:ext>
            </a:extLst>
          </p:cNvPr>
          <p:cNvSpPr txBox="1"/>
          <p:nvPr/>
        </p:nvSpPr>
        <p:spPr>
          <a:xfrm>
            <a:off x="7472680" y="30607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D97216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9B5ED41-6777-90BB-C05B-C6736637AA20}"/>
              </a:ext>
            </a:extLst>
          </p:cNvPr>
          <p:cNvSpPr txBox="1"/>
          <p:nvPr/>
        </p:nvSpPr>
        <p:spPr>
          <a:xfrm>
            <a:off x="7472680" y="3352800"/>
            <a:ext cx="168656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050" b="1">
                <a:solidFill>
                  <a:srgbClr val="242124"/>
                </a:solidFill>
                <a:latin typeface="Aptos" panose="020B0004020202020204" pitchFamily="34" charset="0"/>
              </a:rPr>
              <a:t>Governed agents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3DBE44A-B89F-E383-1B38-BFACE1BA1D54}"/>
              </a:ext>
            </a:extLst>
          </p:cNvPr>
          <p:cNvSpPr txBox="1"/>
          <p:nvPr/>
        </p:nvSpPr>
        <p:spPr>
          <a:xfrm>
            <a:off x="9324340" y="3251200"/>
            <a:ext cx="215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200" b="1">
                <a:solidFill>
                  <a:srgbClr val="69646A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FE8F18B-5E8B-847C-C209-EEAC2FB57370}"/>
              </a:ext>
            </a:extLst>
          </p:cNvPr>
          <p:cNvSpPr/>
          <p:nvPr/>
        </p:nvSpPr>
        <p:spPr>
          <a:xfrm>
            <a:off x="9565640" y="2921000"/>
            <a:ext cx="1940560" cy="965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7A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AA3D24C-907E-0F6A-B4B7-96CAD581C50B}"/>
              </a:ext>
            </a:extLst>
          </p:cNvPr>
          <p:cNvSpPr txBox="1"/>
          <p:nvPr/>
        </p:nvSpPr>
        <p:spPr>
          <a:xfrm>
            <a:off x="9692640" y="30607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217A4F"/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1BE4215-2A14-6104-5AB7-8A819E0E2F79}"/>
              </a:ext>
            </a:extLst>
          </p:cNvPr>
          <p:cNvSpPr txBox="1"/>
          <p:nvPr/>
        </p:nvSpPr>
        <p:spPr>
          <a:xfrm>
            <a:off x="9692640" y="3352800"/>
            <a:ext cx="168656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050" b="1">
                <a:solidFill>
                  <a:srgbClr val="242124"/>
                </a:solidFill>
                <a:latin typeface="Aptos" panose="020B0004020202020204" pitchFamily="34" charset="0"/>
              </a:rPr>
              <a:t>RM action</a:t>
            </a:r>
          </a:p>
        </p:txBody>
      </p:sp>
    </p:spTree>
    <p:extLst>
      <p:ext uri="{BB962C8B-B14F-4D97-AF65-F5344CB8AC3E}">
        <p14:creationId xmlns:p14="http://schemas.microsoft.com/office/powerpoint/2010/main" val="39785340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F45CA3F-3996-F2CD-63FB-C83F2FE66BE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E2B30"/>
          </a:solidFill>
          <a:ln w="12700">
            <a:solidFill>
              <a:srgbClr val="2E2B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26234D-C948-F4BD-A325-9643613B7435}"/>
              </a:ext>
            </a:extLst>
          </p:cNvPr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D97216"/>
          </a:solidFill>
          <a:ln w="12700">
            <a:solidFill>
              <a:srgbClr val="D972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72AB9A1-83C9-CAAD-A7F1-216151CD7E81}"/>
              </a:ext>
            </a:extLst>
          </p:cNvPr>
          <p:cNvSpPr/>
          <p:nvPr/>
        </p:nvSpPr>
        <p:spPr>
          <a:xfrm>
            <a:off x="787400" y="787400"/>
            <a:ext cx="1905000" cy="304800"/>
          </a:xfrm>
          <a:prstGeom prst="roundRect">
            <a:avLst/>
          </a:prstGeom>
          <a:solidFill>
            <a:srgbClr val="D97216"/>
          </a:solidFill>
          <a:ln w="12700">
            <a:solidFill>
              <a:srgbClr val="D972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DD5094-E457-D5CD-95D4-F5A2C2296020}"/>
              </a:ext>
            </a:extLst>
          </p:cNvPr>
          <p:cNvSpPr txBox="1"/>
          <p:nvPr/>
        </p:nvSpPr>
        <p:spPr>
          <a:xfrm>
            <a:off x="876300" y="850900"/>
            <a:ext cx="1727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800" b="1">
                <a:solidFill>
                  <a:srgbClr val="FFFFFF"/>
                </a:solidFill>
                <a:latin typeface="Aptos" panose="020B0004020202020204" pitchFamily="34" charset="0"/>
              </a:rPr>
              <a:t>ACT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5B5B73-CC38-EB92-D4EB-A5886F2A7D73}"/>
              </a:ext>
            </a:extLst>
          </p:cNvPr>
          <p:cNvSpPr txBox="1"/>
          <p:nvPr/>
        </p:nvSpPr>
        <p:spPr>
          <a:xfrm>
            <a:off x="787400" y="1968500"/>
            <a:ext cx="1003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3400" b="1">
                <a:solidFill>
                  <a:srgbClr val="FFFFFF"/>
                </a:solidFill>
                <a:latin typeface="Aptos Display" panose="020B0004020202020204" pitchFamily="34" charset="0"/>
              </a:rPr>
              <a:t>Bring intelligence into the flow of work. Govern agents as a workforce.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081EFE-0BB0-0E23-2248-5B7283793747}"/>
              </a:ext>
            </a:extLst>
          </p:cNvPr>
          <p:cNvSpPr txBox="1"/>
          <p:nvPr/>
        </p:nvSpPr>
        <p:spPr>
          <a:xfrm>
            <a:off x="787400" y="3581400"/>
            <a:ext cx="965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500">
                <a:solidFill>
                  <a:srgbClr val="CFCCD2"/>
                </a:solidFill>
                <a:latin typeface="Aptos" panose="020B0004020202020204" pitchFamily="34" charset="0"/>
              </a:rPr>
              <a:t>Microsoft 365 supplies work context; Agent 365 provides the enterprise control-plane pattern.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D6276B-468C-CFA9-D173-83B6225DE6C5}"/>
              </a:ext>
            </a:extLst>
          </p:cNvPr>
          <p:cNvSpPr txBox="1"/>
          <p:nvPr/>
        </p:nvSpPr>
        <p:spPr>
          <a:xfrm>
            <a:off x="10414000" y="5080000"/>
            <a:ext cx="101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GB" sz="4400" b="1">
                <a:solidFill>
                  <a:srgbClr val="D97216"/>
                </a:solidFill>
                <a:latin typeface="Aptos Display" panose="020B0004020202020204" pitchFamily="34" charset="0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20675915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83645C9-8BA6-CA08-E7B3-722C3402DA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7"/>
          </a:solidFill>
          <a:ln w="12700">
            <a:solidFill>
              <a:srgbClr val="F8F7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2E4ED8-25E8-E13E-0C36-20664177A146}"/>
              </a:ext>
            </a:extLst>
          </p:cNvPr>
          <p:cNvSpPr txBox="1"/>
          <p:nvPr/>
        </p:nvSpPr>
        <p:spPr>
          <a:xfrm>
            <a:off x="685800" y="3810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238AC6"/>
                </a:solidFill>
                <a:latin typeface="Aptos" panose="020B0004020202020204" pitchFamily="34" charset="0"/>
              </a:rPr>
              <a:t>MICROSOFT 365 + AGENT 365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9CD4B3-02B4-E4E8-46AF-4D403F451122}"/>
              </a:ext>
            </a:extLst>
          </p:cNvPr>
          <p:cNvSpPr txBox="1"/>
          <p:nvPr/>
        </p:nvSpPr>
        <p:spPr>
          <a:xfrm>
            <a:off x="685800" y="6858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2700" b="1">
                <a:solidFill>
                  <a:srgbClr val="242124"/>
                </a:solidFill>
                <a:latin typeface="Aptos Display" panose="020B0004020202020204" pitchFamily="34" charset="0"/>
              </a:rPr>
              <a:t>Microsoft 365: where client work happens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920CA6-9945-FD99-66AD-21E4D4F723D0}"/>
              </a:ext>
            </a:extLst>
          </p:cNvPr>
          <p:cNvSpPr txBox="1"/>
          <p:nvPr/>
        </p:nvSpPr>
        <p:spPr>
          <a:xfrm>
            <a:off x="685800" y="14351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100">
                <a:solidFill>
                  <a:srgbClr val="69646A"/>
                </a:solidFill>
                <a:latin typeface="Aptos" panose="020B0004020202020204" pitchFamily="34" charset="0"/>
              </a:rPr>
              <a:t>Communication, content, meetings, collaboration, and Copilot form the everyday work surface.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CA93FD2-33AE-0763-FA5C-867021D98DF9}"/>
              </a:ext>
            </a:extLst>
          </p:cNvPr>
          <p:cNvCxnSpPr/>
          <p:nvPr/>
        </p:nvCxnSpPr>
        <p:spPr>
          <a:xfrm>
            <a:off x="685800" y="6477000"/>
            <a:ext cx="10820400" cy="0"/>
          </a:xfrm>
          <a:prstGeom prst="line">
            <a:avLst/>
          </a:prstGeom>
          <a:ln>
            <a:solidFill>
              <a:srgbClr val="E3E1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2F3BC98-5478-CAC9-B5A7-9B1E2B9BC2DA}"/>
              </a:ext>
            </a:extLst>
          </p:cNvPr>
          <p:cNvSpPr txBox="1"/>
          <p:nvPr/>
        </p:nvSpPr>
        <p:spPr>
          <a:xfrm>
            <a:off x="685800" y="65659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700" b="1">
                <a:solidFill>
                  <a:srgbClr val="69646A"/>
                </a:solidFill>
                <a:latin typeface="Aptos" panose="020B0004020202020204" pitchFamily="34" charset="0"/>
              </a:rPr>
              <a:t>FRONTIER RM · MICROSOFT 365 + AGENT 365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2226FE-9860-D7EE-E2E8-350F2D24B8BC}"/>
              </a:ext>
            </a:extLst>
          </p:cNvPr>
          <p:cNvSpPr txBox="1"/>
          <p:nvPr/>
        </p:nvSpPr>
        <p:spPr>
          <a:xfrm>
            <a:off x="10985500" y="65659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r"/>
            <a:r>
              <a:rPr lang="en-GB" sz="800" b="1">
                <a:solidFill>
                  <a:srgbClr val="69646A"/>
                </a:solidFill>
                <a:latin typeface="Aptos" panose="020B0004020202020204" pitchFamily="34" charset="0"/>
              </a:rPr>
              <a:t>24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BCE6558-189F-BDF2-F204-BA7BE557DC8B}"/>
              </a:ext>
            </a:extLst>
          </p:cNvPr>
          <p:cNvSpPr/>
          <p:nvPr/>
        </p:nvSpPr>
        <p:spPr>
          <a:xfrm>
            <a:off x="685800" y="2286000"/>
            <a:ext cx="3302000" cy="2857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5734F4-1EB9-6EFD-7313-24E942F592A5}"/>
              </a:ext>
            </a:extLst>
          </p:cNvPr>
          <p:cNvSpPr/>
          <p:nvPr/>
        </p:nvSpPr>
        <p:spPr>
          <a:xfrm>
            <a:off x="685800" y="2286000"/>
            <a:ext cx="88900" cy="2857500"/>
          </a:xfrm>
          <a:prstGeom prst="rect">
            <a:avLst/>
          </a:prstGeom>
          <a:solidFill>
            <a:srgbClr val="238AC6"/>
          </a:solidFill>
          <a:ln w="12700">
            <a:solidFill>
              <a:srgbClr val="238A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618EFB-5ABB-32EE-EA8A-F778099F6939}"/>
              </a:ext>
            </a:extLst>
          </p:cNvPr>
          <p:cNvSpPr txBox="1"/>
          <p:nvPr/>
        </p:nvSpPr>
        <p:spPr>
          <a:xfrm>
            <a:off x="927100" y="2476500"/>
            <a:ext cx="287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238AC6"/>
                </a:solidFill>
                <a:latin typeface="Aptos" panose="020B0004020202020204" pitchFamily="34" charset="0"/>
              </a:rPr>
              <a:t>COMMUNICATE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839DE2-34A5-BCE2-B9D8-3A99ADA912F3}"/>
              </a:ext>
            </a:extLst>
          </p:cNvPr>
          <p:cNvSpPr txBox="1"/>
          <p:nvPr/>
        </p:nvSpPr>
        <p:spPr>
          <a:xfrm>
            <a:off x="927100" y="2794000"/>
            <a:ext cx="287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400" b="1">
                <a:solidFill>
                  <a:srgbClr val="242124"/>
                </a:solidFill>
                <a:latin typeface="Aptos Display" panose="020B0004020202020204" pitchFamily="34" charset="0"/>
              </a:rPr>
              <a:t>Outlook + Teams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618C8B-E0CF-651B-F539-3C7268B6D7C5}"/>
              </a:ext>
            </a:extLst>
          </p:cNvPr>
          <p:cNvSpPr txBox="1"/>
          <p:nvPr/>
        </p:nvSpPr>
        <p:spPr>
          <a:xfrm>
            <a:off x="927100" y="3403600"/>
            <a:ext cx="287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950">
                <a:solidFill>
                  <a:srgbClr val="69646A"/>
                </a:solidFill>
                <a:latin typeface="Aptos" panose="020B0004020202020204" pitchFamily="34" charset="0"/>
              </a:rPr>
              <a:t>Client conversations, meetings, calls, and follow-up.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942C27A-7D59-5F7E-9C2A-32BB221A617E}"/>
              </a:ext>
            </a:extLst>
          </p:cNvPr>
          <p:cNvSpPr/>
          <p:nvPr/>
        </p:nvSpPr>
        <p:spPr>
          <a:xfrm>
            <a:off x="4445000" y="2286000"/>
            <a:ext cx="3302000" cy="2857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24DB645-A5AA-5DC0-5562-E1BA7210E56D}"/>
              </a:ext>
            </a:extLst>
          </p:cNvPr>
          <p:cNvSpPr/>
          <p:nvPr/>
        </p:nvSpPr>
        <p:spPr>
          <a:xfrm>
            <a:off x="4445000" y="2286000"/>
            <a:ext cx="88900" cy="2857500"/>
          </a:xfrm>
          <a:prstGeom prst="rect">
            <a:avLst/>
          </a:prstGeom>
          <a:solidFill>
            <a:srgbClr val="008094"/>
          </a:solidFill>
          <a:ln w="12700">
            <a:solidFill>
              <a:srgbClr val="0080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795482-AC35-5A95-0186-AF36F5B41104}"/>
              </a:ext>
            </a:extLst>
          </p:cNvPr>
          <p:cNvSpPr txBox="1"/>
          <p:nvPr/>
        </p:nvSpPr>
        <p:spPr>
          <a:xfrm>
            <a:off x="4686300" y="2476500"/>
            <a:ext cx="287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008094"/>
                </a:solidFill>
                <a:latin typeface="Aptos" panose="020B0004020202020204" pitchFamily="34" charset="0"/>
              </a:rPr>
              <a:t>KNOWLEDGE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4F6EB8-31FC-769C-496A-AC373B48975D}"/>
              </a:ext>
            </a:extLst>
          </p:cNvPr>
          <p:cNvSpPr txBox="1"/>
          <p:nvPr/>
        </p:nvSpPr>
        <p:spPr>
          <a:xfrm>
            <a:off x="4686300" y="2794000"/>
            <a:ext cx="287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400" b="1">
                <a:solidFill>
                  <a:srgbClr val="242124"/>
                </a:solidFill>
                <a:latin typeface="Aptos Display" panose="020B0004020202020204" pitchFamily="34" charset="0"/>
              </a:rPr>
              <a:t>SharePoint + files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A5A601-3CCF-3340-E8F1-B9A3C50283B4}"/>
              </a:ext>
            </a:extLst>
          </p:cNvPr>
          <p:cNvSpPr txBox="1"/>
          <p:nvPr/>
        </p:nvSpPr>
        <p:spPr>
          <a:xfrm>
            <a:off x="4686300" y="3403600"/>
            <a:ext cx="287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50">
                <a:solidFill>
                  <a:srgbClr val="69646A"/>
                </a:solidFill>
                <a:latin typeface="Aptos" panose="020B0004020202020204" pitchFamily="34" charset="0"/>
              </a:rPr>
              <a:t>Authoritative documents, versions, permissions, and collaboration.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F794F9B-F5A1-F62A-1B7B-D63931CF95D8}"/>
              </a:ext>
            </a:extLst>
          </p:cNvPr>
          <p:cNvSpPr/>
          <p:nvPr/>
        </p:nvSpPr>
        <p:spPr>
          <a:xfrm>
            <a:off x="8204200" y="2286000"/>
            <a:ext cx="3302000" cy="2857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169783C-C600-F522-F86A-799791787BDD}"/>
              </a:ext>
            </a:extLst>
          </p:cNvPr>
          <p:cNvSpPr/>
          <p:nvPr/>
        </p:nvSpPr>
        <p:spPr>
          <a:xfrm>
            <a:off x="8204200" y="2286000"/>
            <a:ext cx="88900" cy="2857500"/>
          </a:xfrm>
          <a:prstGeom prst="rect">
            <a:avLst/>
          </a:prstGeom>
          <a:solidFill>
            <a:srgbClr val="D97216"/>
          </a:solidFill>
          <a:ln w="12700">
            <a:solidFill>
              <a:srgbClr val="D972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F13E355-30F6-D6EC-04FE-A737CDE67157}"/>
              </a:ext>
            </a:extLst>
          </p:cNvPr>
          <p:cNvSpPr txBox="1"/>
          <p:nvPr/>
        </p:nvSpPr>
        <p:spPr>
          <a:xfrm>
            <a:off x="8445500" y="2476500"/>
            <a:ext cx="287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D97216"/>
                </a:solidFill>
                <a:latin typeface="Aptos" panose="020B0004020202020204" pitchFamily="34" charset="0"/>
              </a:rPr>
              <a:t>ASSIST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608B3AC-8EC0-9A43-3E05-AC7419DD2C60}"/>
              </a:ext>
            </a:extLst>
          </p:cNvPr>
          <p:cNvSpPr txBox="1"/>
          <p:nvPr/>
        </p:nvSpPr>
        <p:spPr>
          <a:xfrm>
            <a:off x="8445500" y="2794000"/>
            <a:ext cx="287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400" b="1">
                <a:solidFill>
                  <a:srgbClr val="242124"/>
                </a:solidFill>
                <a:latin typeface="Aptos Display" panose="020B0004020202020204" pitchFamily="34" charset="0"/>
              </a:rPr>
              <a:t>Microsoft 365 Copilot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F6F9606-EE82-7A58-4981-2E9867AA7322}"/>
              </a:ext>
            </a:extLst>
          </p:cNvPr>
          <p:cNvSpPr txBox="1"/>
          <p:nvPr/>
        </p:nvSpPr>
        <p:spPr>
          <a:xfrm>
            <a:off x="8445500" y="3403600"/>
            <a:ext cx="287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50">
                <a:solidFill>
                  <a:srgbClr val="69646A"/>
                </a:solidFill>
                <a:latin typeface="Aptos" panose="020B0004020202020204" pitchFamily="34" charset="0"/>
              </a:rPr>
              <a:t>Work-aware assistance across people, content, activity, and workflows.</a:t>
            </a:r>
          </a:p>
        </p:txBody>
      </p:sp>
    </p:spTree>
    <p:extLst>
      <p:ext uri="{BB962C8B-B14F-4D97-AF65-F5344CB8AC3E}">
        <p14:creationId xmlns:p14="http://schemas.microsoft.com/office/powerpoint/2010/main" val="7441935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496A071-662C-BF86-795A-C0E47BB8724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7"/>
          </a:solidFill>
          <a:ln w="12700">
            <a:solidFill>
              <a:srgbClr val="F8F7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756D84-9E53-AD3F-05EF-038F6A0F5170}"/>
              </a:ext>
            </a:extLst>
          </p:cNvPr>
          <p:cNvSpPr txBox="1"/>
          <p:nvPr/>
        </p:nvSpPr>
        <p:spPr>
          <a:xfrm>
            <a:off x="685800" y="3810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238AC6"/>
                </a:solidFill>
                <a:latin typeface="Aptos" panose="020B0004020202020204" pitchFamily="34" charset="0"/>
              </a:rPr>
              <a:t>MICROSOFT 365 + AGENT 365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27793C-B8D2-ECD9-D518-5BAEB2206B8A}"/>
              </a:ext>
            </a:extLst>
          </p:cNvPr>
          <p:cNvSpPr txBox="1"/>
          <p:nvPr/>
        </p:nvSpPr>
        <p:spPr>
          <a:xfrm>
            <a:off x="685800" y="6858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2700" b="1">
                <a:solidFill>
                  <a:srgbClr val="242124"/>
                </a:solidFill>
                <a:latin typeface="Aptos Display" panose="020B0004020202020204" pitchFamily="34" charset="0"/>
              </a:rPr>
              <a:t>Work context is continuous, evolving, and connected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64F779-7600-2DF5-EEDE-8F59C9E18C4A}"/>
              </a:ext>
            </a:extLst>
          </p:cNvPr>
          <p:cNvSpPr txBox="1"/>
          <p:nvPr/>
        </p:nvSpPr>
        <p:spPr>
          <a:xfrm>
            <a:off x="685800" y="14351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100">
                <a:solidFill>
                  <a:srgbClr val="69646A"/>
                </a:solidFill>
                <a:latin typeface="Aptos" panose="020B0004020202020204" pitchFamily="34" charset="0"/>
              </a:rPr>
              <a:t>Snapshots miss the sequence of conversations, content, people, and changing priorities.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1E05D01-F469-3AA7-EB0E-0AB6147E4729}"/>
              </a:ext>
            </a:extLst>
          </p:cNvPr>
          <p:cNvCxnSpPr/>
          <p:nvPr/>
        </p:nvCxnSpPr>
        <p:spPr>
          <a:xfrm>
            <a:off x="685800" y="6477000"/>
            <a:ext cx="10820400" cy="0"/>
          </a:xfrm>
          <a:prstGeom prst="line">
            <a:avLst/>
          </a:prstGeom>
          <a:ln>
            <a:solidFill>
              <a:srgbClr val="E3E1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EB28AA8-9CB0-E05A-7017-81342150289E}"/>
              </a:ext>
            </a:extLst>
          </p:cNvPr>
          <p:cNvSpPr txBox="1"/>
          <p:nvPr/>
        </p:nvSpPr>
        <p:spPr>
          <a:xfrm>
            <a:off x="685800" y="65659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700" b="1">
                <a:solidFill>
                  <a:srgbClr val="69646A"/>
                </a:solidFill>
                <a:latin typeface="Aptos" panose="020B0004020202020204" pitchFamily="34" charset="0"/>
              </a:rPr>
              <a:t>FRONTIER RM · MICROSOFT 365 + AGENT 365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A3CA28-3544-2BE5-FE57-8545A13FA956}"/>
              </a:ext>
            </a:extLst>
          </p:cNvPr>
          <p:cNvSpPr txBox="1"/>
          <p:nvPr/>
        </p:nvSpPr>
        <p:spPr>
          <a:xfrm>
            <a:off x="10985500" y="65659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r"/>
            <a:r>
              <a:rPr lang="en-GB" sz="800" b="1">
                <a:solidFill>
                  <a:srgbClr val="69646A"/>
                </a:solidFill>
                <a:latin typeface="Aptos" panose="020B0004020202020204" pitchFamily="34" charset="0"/>
              </a:rPr>
              <a:t>25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415F637-C343-BCE2-DDBE-14F5778556F7}"/>
              </a:ext>
            </a:extLst>
          </p:cNvPr>
          <p:cNvSpPr/>
          <p:nvPr/>
        </p:nvSpPr>
        <p:spPr>
          <a:xfrm>
            <a:off x="685800" y="2667000"/>
            <a:ext cx="1940560" cy="965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38A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6D5FB2-BB06-5C57-5577-A84CFD8ACEB8}"/>
              </a:ext>
            </a:extLst>
          </p:cNvPr>
          <p:cNvSpPr txBox="1"/>
          <p:nvPr/>
        </p:nvSpPr>
        <p:spPr>
          <a:xfrm>
            <a:off x="812800" y="28067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238AC6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B66392-93CF-FFE3-B9E9-5EFC70D3F4DA}"/>
              </a:ext>
            </a:extLst>
          </p:cNvPr>
          <p:cNvSpPr txBox="1"/>
          <p:nvPr/>
        </p:nvSpPr>
        <p:spPr>
          <a:xfrm>
            <a:off x="812800" y="3098800"/>
            <a:ext cx="168656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050" b="1">
                <a:solidFill>
                  <a:srgbClr val="242124"/>
                </a:solidFill>
                <a:latin typeface="Aptos" panose="020B0004020202020204" pitchFamily="34" charset="0"/>
              </a:rPr>
              <a:t>People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CCE416-8C5D-7246-FDB9-A7146028FD01}"/>
              </a:ext>
            </a:extLst>
          </p:cNvPr>
          <p:cNvSpPr txBox="1"/>
          <p:nvPr/>
        </p:nvSpPr>
        <p:spPr>
          <a:xfrm>
            <a:off x="2664460" y="2997200"/>
            <a:ext cx="215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200" b="1">
                <a:solidFill>
                  <a:srgbClr val="69646A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C1100BF-C5CB-EFE3-C687-0B89BF72C9C7}"/>
              </a:ext>
            </a:extLst>
          </p:cNvPr>
          <p:cNvSpPr/>
          <p:nvPr/>
        </p:nvSpPr>
        <p:spPr>
          <a:xfrm>
            <a:off x="2905760" y="2667000"/>
            <a:ext cx="1940560" cy="965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2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764667-8BC3-8C47-8269-242443B00BEF}"/>
              </a:ext>
            </a:extLst>
          </p:cNvPr>
          <p:cNvSpPr txBox="1"/>
          <p:nvPr/>
        </p:nvSpPr>
        <p:spPr>
          <a:xfrm>
            <a:off x="3032760" y="28067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D97216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116183-F307-879B-9EA8-892A02BAA5B0}"/>
              </a:ext>
            </a:extLst>
          </p:cNvPr>
          <p:cNvSpPr txBox="1"/>
          <p:nvPr/>
        </p:nvSpPr>
        <p:spPr>
          <a:xfrm>
            <a:off x="3032760" y="3098800"/>
            <a:ext cx="168656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050" b="1">
                <a:solidFill>
                  <a:srgbClr val="242124"/>
                </a:solidFill>
                <a:latin typeface="Aptos" panose="020B0004020202020204" pitchFamily="34" charset="0"/>
              </a:rPr>
              <a:t>Messages + meetings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B9F84E1-10FD-6FAA-7C76-901FA05561E5}"/>
              </a:ext>
            </a:extLst>
          </p:cNvPr>
          <p:cNvSpPr txBox="1"/>
          <p:nvPr/>
        </p:nvSpPr>
        <p:spPr>
          <a:xfrm>
            <a:off x="4884420" y="2997200"/>
            <a:ext cx="215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200" b="1">
                <a:solidFill>
                  <a:srgbClr val="69646A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27631AF-9408-DE89-8CE0-509DE766149D}"/>
              </a:ext>
            </a:extLst>
          </p:cNvPr>
          <p:cNvSpPr/>
          <p:nvPr/>
        </p:nvSpPr>
        <p:spPr>
          <a:xfrm>
            <a:off x="5125720" y="2667000"/>
            <a:ext cx="1940560" cy="965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0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16D703-7C61-FD4B-2A37-8B0B1CCD37EA}"/>
              </a:ext>
            </a:extLst>
          </p:cNvPr>
          <p:cNvSpPr txBox="1"/>
          <p:nvPr/>
        </p:nvSpPr>
        <p:spPr>
          <a:xfrm>
            <a:off x="5252720" y="28067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008094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1D40C5C-6A4C-211B-233A-8FCE0FEF1A0B}"/>
              </a:ext>
            </a:extLst>
          </p:cNvPr>
          <p:cNvSpPr txBox="1"/>
          <p:nvPr/>
        </p:nvSpPr>
        <p:spPr>
          <a:xfrm>
            <a:off x="5252720" y="3098800"/>
            <a:ext cx="168656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050" b="1">
                <a:solidFill>
                  <a:srgbClr val="242124"/>
                </a:solidFill>
                <a:latin typeface="Aptos" panose="020B0004020202020204" pitchFamily="34" charset="0"/>
              </a:rPr>
              <a:t>Files + knowledge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7C73551-0F14-FEFF-6307-D3B61CBEFA3D}"/>
              </a:ext>
            </a:extLst>
          </p:cNvPr>
          <p:cNvSpPr txBox="1"/>
          <p:nvPr/>
        </p:nvSpPr>
        <p:spPr>
          <a:xfrm>
            <a:off x="7104380" y="2997200"/>
            <a:ext cx="215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200" b="1">
                <a:solidFill>
                  <a:srgbClr val="69646A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07E8228-3CBF-1439-0224-F97B74C2FA93}"/>
              </a:ext>
            </a:extLst>
          </p:cNvPr>
          <p:cNvSpPr/>
          <p:nvPr/>
        </p:nvSpPr>
        <p:spPr>
          <a:xfrm>
            <a:off x="7345680" y="2667000"/>
            <a:ext cx="1940560" cy="965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437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11DBD47-EB6F-02DF-C751-574970461BB5}"/>
              </a:ext>
            </a:extLst>
          </p:cNvPr>
          <p:cNvSpPr txBox="1"/>
          <p:nvPr/>
        </p:nvSpPr>
        <p:spPr>
          <a:xfrm>
            <a:off x="7472680" y="28067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A437B2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D460933-1B39-F314-8207-36845695DB36}"/>
              </a:ext>
            </a:extLst>
          </p:cNvPr>
          <p:cNvSpPr txBox="1"/>
          <p:nvPr/>
        </p:nvSpPr>
        <p:spPr>
          <a:xfrm>
            <a:off x="7472680" y="3098800"/>
            <a:ext cx="168656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050" b="1">
                <a:solidFill>
                  <a:srgbClr val="242124"/>
                </a:solidFill>
                <a:latin typeface="Aptos" panose="020B0004020202020204" pitchFamily="34" charset="0"/>
              </a:rPr>
              <a:t>Activity + memory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2DC3D76-E65C-8DDB-7ECA-CA9DF2CB1D7E}"/>
              </a:ext>
            </a:extLst>
          </p:cNvPr>
          <p:cNvSpPr txBox="1"/>
          <p:nvPr/>
        </p:nvSpPr>
        <p:spPr>
          <a:xfrm>
            <a:off x="9324340" y="2997200"/>
            <a:ext cx="215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200" b="1">
                <a:solidFill>
                  <a:srgbClr val="69646A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AFB5D0B-BA51-7401-EE34-399736AACE22}"/>
              </a:ext>
            </a:extLst>
          </p:cNvPr>
          <p:cNvSpPr/>
          <p:nvPr/>
        </p:nvSpPr>
        <p:spPr>
          <a:xfrm>
            <a:off x="9565640" y="2667000"/>
            <a:ext cx="1940560" cy="965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7A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40C042C-1AE0-BD1D-697C-8E2BB7BF3DAE}"/>
              </a:ext>
            </a:extLst>
          </p:cNvPr>
          <p:cNvSpPr txBox="1"/>
          <p:nvPr/>
        </p:nvSpPr>
        <p:spPr>
          <a:xfrm>
            <a:off x="9692640" y="28067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217A4F"/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2EDF765-7605-F24B-887A-1F58D509BD42}"/>
              </a:ext>
            </a:extLst>
          </p:cNvPr>
          <p:cNvSpPr txBox="1"/>
          <p:nvPr/>
        </p:nvSpPr>
        <p:spPr>
          <a:xfrm>
            <a:off x="9692640" y="3098800"/>
            <a:ext cx="168656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050" b="1">
                <a:solidFill>
                  <a:srgbClr val="242124"/>
                </a:solidFill>
                <a:latin typeface="Aptos" panose="020B0004020202020204" pitchFamily="34" charset="0"/>
              </a:rPr>
              <a:t>Business change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866400D-4352-C0FC-67B9-A5D7D498CB7C}"/>
              </a:ext>
            </a:extLst>
          </p:cNvPr>
          <p:cNvSpPr txBox="1"/>
          <p:nvPr/>
        </p:nvSpPr>
        <p:spPr>
          <a:xfrm>
            <a:off x="2921000" y="44450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600" b="1">
                <a:solidFill>
                  <a:srgbClr val="238AC6"/>
                </a:solidFill>
                <a:latin typeface="Aptos" panose="020B0004020202020204" pitchFamily="34" charset="0"/>
              </a:rPr>
              <a:t>Work IQ connects context across the flow of work.</a:t>
            </a:r>
          </a:p>
        </p:txBody>
      </p:sp>
    </p:spTree>
    <p:extLst>
      <p:ext uri="{BB962C8B-B14F-4D97-AF65-F5344CB8AC3E}">
        <p14:creationId xmlns:p14="http://schemas.microsoft.com/office/powerpoint/2010/main" val="28204614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C274333-277A-B2CE-CCFF-B2F90A7B55C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7"/>
          </a:solidFill>
          <a:ln w="12700">
            <a:solidFill>
              <a:srgbClr val="F8F7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92A5C1-D121-B875-29A7-15FF958CF648}"/>
              </a:ext>
            </a:extLst>
          </p:cNvPr>
          <p:cNvSpPr txBox="1"/>
          <p:nvPr/>
        </p:nvSpPr>
        <p:spPr>
          <a:xfrm>
            <a:off x="685800" y="3810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238AC6"/>
                </a:solidFill>
                <a:latin typeface="Aptos" panose="020B0004020202020204" pitchFamily="34" charset="0"/>
              </a:rPr>
              <a:t>MICROSOFT 365 + AGENT 365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C57E09-0167-EE0C-1926-45FB920FEF8B}"/>
              </a:ext>
            </a:extLst>
          </p:cNvPr>
          <p:cNvSpPr txBox="1"/>
          <p:nvPr/>
        </p:nvSpPr>
        <p:spPr>
          <a:xfrm>
            <a:off x="685800" y="6858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2700" b="1">
                <a:solidFill>
                  <a:srgbClr val="242124"/>
                </a:solidFill>
                <a:latin typeface="Aptos Display" panose="020B0004020202020204" pitchFamily="34" charset="0"/>
              </a:rPr>
              <a:t>Microsoft 365 patterns in the RM journey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E07266-20EE-8FB1-0B40-584F80AFB64D}"/>
              </a:ext>
            </a:extLst>
          </p:cNvPr>
          <p:cNvSpPr txBox="1"/>
          <p:nvPr/>
        </p:nvSpPr>
        <p:spPr>
          <a:xfrm>
            <a:off x="685800" y="14351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100">
                <a:solidFill>
                  <a:srgbClr val="69646A"/>
                </a:solidFill>
                <a:latin typeface="Aptos" panose="020B0004020202020204" pitchFamily="34" charset="0"/>
              </a:rPr>
              <a:t>Client voice and collaboration can enrich governed data while preserving permissions and provenance.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F01D15-740E-17A5-923C-3AAE3443824C}"/>
              </a:ext>
            </a:extLst>
          </p:cNvPr>
          <p:cNvCxnSpPr/>
          <p:nvPr/>
        </p:nvCxnSpPr>
        <p:spPr>
          <a:xfrm>
            <a:off x="685800" y="6477000"/>
            <a:ext cx="10820400" cy="0"/>
          </a:xfrm>
          <a:prstGeom prst="line">
            <a:avLst/>
          </a:prstGeom>
          <a:ln>
            <a:solidFill>
              <a:srgbClr val="E3E1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D41AA7E-2AAA-DA47-977E-04FC2A1536B6}"/>
              </a:ext>
            </a:extLst>
          </p:cNvPr>
          <p:cNvSpPr txBox="1"/>
          <p:nvPr/>
        </p:nvSpPr>
        <p:spPr>
          <a:xfrm>
            <a:off x="685800" y="65659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700" b="1">
                <a:solidFill>
                  <a:srgbClr val="69646A"/>
                </a:solidFill>
                <a:latin typeface="Aptos" panose="020B0004020202020204" pitchFamily="34" charset="0"/>
              </a:rPr>
              <a:t>FRONTIER RM · MICROSOFT 365 + AGENT 365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8DC8E6-2F00-FF05-7AB9-82EBDC0AA4E1}"/>
              </a:ext>
            </a:extLst>
          </p:cNvPr>
          <p:cNvSpPr txBox="1"/>
          <p:nvPr/>
        </p:nvSpPr>
        <p:spPr>
          <a:xfrm>
            <a:off x="10985500" y="65659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r"/>
            <a:r>
              <a:rPr lang="en-GB" sz="800" b="1">
                <a:solidFill>
                  <a:srgbClr val="69646A"/>
                </a:solidFill>
                <a:latin typeface="Aptos" panose="020B0004020202020204" pitchFamily="34" charset="0"/>
              </a:rPr>
              <a:t>26</a:t>
            </a:r>
          </a:p>
        </p:txBody>
      </p:sp>
      <p:sp>
        <p:nvSpPr>
          <p:cNvPr id="9" name="SCREENSHOT_ZONE_S26">
            <a:extLst>
              <a:ext uri="{FF2B5EF4-FFF2-40B4-BE49-F238E27FC236}">
                <a16:creationId xmlns:a16="http://schemas.microsoft.com/office/drawing/2014/main" id="{7C0AE03C-4D3B-FEBA-F1F4-D8C0A84169D2}"/>
              </a:ext>
            </a:extLst>
          </p:cNvPr>
          <p:cNvSpPr/>
          <p:nvPr/>
        </p:nvSpPr>
        <p:spPr>
          <a:xfrm>
            <a:off x="685800" y="2095500"/>
            <a:ext cx="5080000" cy="3492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8AC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79958B0-2623-D1B7-7A95-5C85F0632F0F}"/>
              </a:ext>
            </a:extLst>
          </p:cNvPr>
          <p:cNvSpPr/>
          <p:nvPr/>
        </p:nvSpPr>
        <p:spPr>
          <a:xfrm>
            <a:off x="876300" y="2286000"/>
            <a:ext cx="2667000" cy="304800"/>
          </a:xfrm>
          <a:prstGeom prst="roundRect">
            <a:avLst/>
          </a:prstGeom>
          <a:solidFill>
            <a:srgbClr val="238AC6"/>
          </a:solidFill>
          <a:ln w="12700">
            <a:solidFill>
              <a:srgbClr val="238A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722C81-D456-069D-8D48-E04C7040F19C}"/>
              </a:ext>
            </a:extLst>
          </p:cNvPr>
          <p:cNvSpPr txBox="1"/>
          <p:nvPr/>
        </p:nvSpPr>
        <p:spPr>
          <a:xfrm>
            <a:off x="965200" y="2349500"/>
            <a:ext cx="2489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800" b="1">
                <a:solidFill>
                  <a:srgbClr val="FFFFFF"/>
                </a:solidFill>
                <a:latin typeface="Aptos" panose="020B0004020202020204" pitchFamily="34" charset="0"/>
              </a:rPr>
              <a:t>IMAGE PLACEHOLDER · OUTLOOK / SHAREPOINT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2606C5-C454-C726-3540-97EE1EC6F833}"/>
              </a:ext>
            </a:extLst>
          </p:cNvPr>
          <p:cNvSpPr txBox="1"/>
          <p:nvPr/>
        </p:nvSpPr>
        <p:spPr>
          <a:xfrm>
            <a:off x="2971800" y="339725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GB" sz="2400" b="1">
                <a:solidFill>
                  <a:srgbClr val="238AC6"/>
                </a:solidFill>
                <a:latin typeface="Segoe UI Symbol" panose="020B0502040204020203" pitchFamily="34" charset="0"/>
              </a:rPr>
              <a:t>▧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601120-5DB1-FFA5-1C6E-78FE3F7E097A}"/>
              </a:ext>
            </a:extLst>
          </p:cNvPr>
          <p:cNvSpPr txBox="1"/>
          <p:nvPr/>
        </p:nvSpPr>
        <p:spPr>
          <a:xfrm>
            <a:off x="1041400" y="3943350"/>
            <a:ext cx="4368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100" b="1">
                <a:solidFill>
                  <a:srgbClr val="242124"/>
                </a:solidFill>
                <a:latin typeface="Aptos" panose="020B0004020202020204" pitchFamily="34" charset="0"/>
              </a:rPr>
              <a:t>Insert M365 source or work-context screenshot.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897DB0-5D7D-BC31-3E7A-8886A49CF1AD}"/>
              </a:ext>
            </a:extLst>
          </p:cNvPr>
          <p:cNvSpPr txBox="1"/>
          <p:nvPr/>
        </p:nvSpPr>
        <p:spPr>
          <a:xfrm>
            <a:off x="1003300" y="51435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800">
                <a:solidFill>
                  <a:srgbClr val="69646A"/>
                </a:solidFill>
                <a:latin typeface="Aptos" panose="020B0004020202020204" pitchFamily="34" charset="0"/>
              </a:rPr>
              <a:t>Replace this zone with your screenshot; retain the slide title and adjacent callouts.</a:t>
            </a:r>
          </a:p>
        </p:txBody>
      </p:sp>
      <p:sp>
        <p:nvSpPr>
          <p:cNvPr id="15" name="SCREENSHOT_ZONE_S26">
            <a:extLst>
              <a:ext uri="{FF2B5EF4-FFF2-40B4-BE49-F238E27FC236}">
                <a16:creationId xmlns:a16="http://schemas.microsoft.com/office/drawing/2014/main" id="{D4545BC2-0998-BDF0-B2CE-95DCB9FFABFB}"/>
              </a:ext>
            </a:extLst>
          </p:cNvPr>
          <p:cNvSpPr/>
          <p:nvPr/>
        </p:nvSpPr>
        <p:spPr>
          <a:xfrm>
            <a:off x="6426200" y="2095500"/>
            <a:ext cx="5080000" cy="3492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21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4AEF129-872C-9478-C5AC-95D0D73A76F4}"/>
              </a:ext>
            </a:extLst>
          </p:cNvPr>
          <p:cNvSpPr/>
          <p:nvPr/>
        </p:nvSpPr>
        <p:spPr>
          <a:xfrm>
            <a:off x="6616700" y="2286000"/>
            <a:ext cx="2667000" cy="304800"/>
          </a:xfrm>
          <a:prstGeom prst="roundRect">
            <a:avLst/>
          </a:prstGeom>
          <a:solidFill>
            <a:srgbClr val="D97216"/>
          </a:solidFill>
          <a:ln w="12700">
            <a:solidFill>
              <a:srgbClr val="D972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2D59B8-86E6-8859-C553-72D2AED84757}"/>
              </a:ext>
            </a:extLst>
          </p:cNvPr>
          <p:cNvSpPr txBox="1"/>
          <p:nvPr/>
        </p:nvSpPr>
        <p:spPr>
          <a:xfrm>
            <a:off x="6705600" y="2349500"/>
            <a:ext cx="2489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800" b="1">
                <a:solidFill>
                  <a:srgbClr val="FFFFFF"/>
                </a:solidFill>
                <a:latin typeface="Aptos" panose="020B0004020202020204" pitchFamily="34" charset="0"/>
              </a:rPr>
              <a:t>IMAGE PLACEHOLDER · TEAMS / COPILOT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F318253-D5C6-4845-30FA-B7E27DA95CE0}"/>
              </a:ext>
            </a:extLst>
          </p:cNvPr>
          <p:cNvSpPr txBox="1"/>
          <p:nvPr/>
        </p:nvSpPr>
        <p:spPr>
          <a:xfrm>
            <a:off x="8712200" y="339725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GB" sz="2400" b="1">
                <a:solidFill>
                  <a:srgbClr val="D97216"/>
                </a:solidFill>
                <a:latin typeface="Segoe UI Symbol" panose="020B0502040204020203" pitchFamily="34" charset="0"/>
              </a:rPr>
              <a:t>▧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3F4CB98-67C5-2134-BA41-66826BE9443B}"/>
              </a:ext>
            </a:extLst>
          </p:cNvPr>
          <p:cNvSpPr txBox="1"/>
          <p:nvPr/>
        </p:nvSpPr>
        <p:spPr>
          <a:xfrm>
            <a:off x="6781800" y="3943350"/>
            <a:ext cx="4368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100" b="1">
                <a:solidFill>
                  <a:srgbClr val="242124"/>
                </a:solidFill>
                <a:latin typeface="Aptos" panose="020B0004020202020204" pitchFamily="34" charset="0"/>
              </a:rPr>
              <a:t>Insert Teams bot or Copilot delivery screenshot.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9091E31-0745-4124-0E0D-E829E2CE535D}"/>
              </a:ext>
            </a:extLst>
          </p:cNvPr>
          <p:cNvSpPr txBox="1"/>
          <p:nvPr/>
        </p:nvSpPr>
        <p:spPr>
          <a:xfrm>
            <a:off x="6743700" y="51435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800">
                <a:solidFill>
                  <a:srgbClr val="69646A"/>
                </a:solidFill>
                <a:latin typeface="Aptos" panose="020B0004020202020204" pitchFamily="34" charset="0"/>
              </a:rPr>
              <a:t>Replace this zone with your screenshot; retain the slide title and adjacent callouts.</a:t>
            </a:r>
          </a:p>
        </p:txBody>
      </p:sp>
    </p:spTree>
    <p:extLst>
      <p:ext uri="{BB962C8B-B14F-4D97-AF65-F5344CB8AC3E}">
        <p14:creationId xmlns:p14="http://schemas.microsoft.com/office/powerpoint/2010/main" val="24467948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7738C6C-3FB9-79B0-40BD-5ABD0888B5A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7"/>
          </a:solidFill>
          <a:ln w="12700">
            <a:solidFill>
              <a:srgbClr val="F8F7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C9218D-EC58-CCA2-5B32-9775BF06FCE4}"/>
              </a:ext>
            </a:extLst>
          </p:cNvPr>
          <p:cNvSpPr txBox="1"/>
          <p:nvPr/>
        </p:nvSpPr>
        <p:spPr>
          <a:xfrm>
            <a:off x="685800" y="3810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D97216"/>
                </a:solidFill>
                <a:latin typeface="Aptos" panose="020B0004020202020204" pitchFamily="34" charset="0"/>
              </a:rPr>
              <a:t>MICROSOFT 365 + AGENT 365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69236A-274D-64CE-902B-B4517E570256}"/>
              </a:ext>
            </a:extLst>
          </p:cNvPr>
          <p:cNvSpPr txBox="1"/>
          <p:nvPr/>
        </p:nvSpPr>
        <p:spPr>
          <a:xfrm>
            <a:off x="685800" y="6858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2700" b="1">
                <a:solidFill>
                  <a:srgbClr val="242124"/>
                </a:solidFill>
                <a:latin typeface="Aptos Display" panose="020B0004020202020204" pitchFamily="34" charset="0"/>
              </a:rPr>
              <a:t>Agent 365: a control plane for enterprise agents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1429E9-EAB3-E704-B694-F2327F5CDFE7}"/>
              </a:ext>
            </a:extLst>
          </p:cNvPr>
          <p:cNvSpPr txBox="1"/>
          <p:nvPr/>
        </p:nvSpPr>
        <p:spPr>
          <a:xfrm>
            <a:off x="685800" y="14351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100">
                <a:solidFill>
                  <a:srgbClr val="69646A"/>
                </a:solidFill>
                <a:latin typeface="Aptos" panose="020B0004020202020204" pitchFamily="34" charset="0"/>
              </a:rPr>
              <a:t>Know every agent, control access and actions, and operate the agent estate through its lifecycle.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D56814D-57A3-60AB-B73B-702AFABA1993}"/>
              </a:ext>
            </a:extLst>
          </p:cNvPr>
          <p:cNvCxnSpPr/>
          <p:nvPr/>
        </p:nvCxnSpPr>
        <p:spPr>
          <a:xfrm>
            <a:off x="685800" y="6477000"/>
            <a:ext cx="10820400" cy="0"/>
          </a:xfrm>
          <a:prstGeom prst="line">
            <a:avLst/>
          </a:prstGeom>
          <a:ln>
            <a:solidFill>
              <a:srgbClr val="E3E1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39878E6-2ED0-97CC-19A3-D88A0EE63D61}"/>
              </a:ext>
            </a:extLst>
          </p:cNvPr>
          <p:cNvSpPr txBox="1"/>
          <p:nvPr/>
        </p:nvSpPr>
        <p:spPr>
          <a:xfrm>
            <a:off x="685800" y="65659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700" b="1">
                <a:solidFill>
                  <a:srgbClr val="69646A"/>
                </a:solidFill>
                <a:latin typeface="Aptos" panose="020B0004020202020204" pitchFamily="34" charset="0"/>
              </a:rPr>
              <a:t>FRONTIER RM · MICROSOFT 365 + AGENT 365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A555DB-8368-C812-1401-85457779602F}"/>
              </a:ext>
            </a:extLst>
          </p:cNvPr>
          <p:cNvSpPr txBox="1"/>
          <p:nvPr/>
        </p:nvSpPr>
        <p:spPr>
          <a:xfrm>
            <a:off x="10985500" y="65659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r"/>
            <a:r>
              <a:rPr lang="en-GB" sz="800" b="1">
                <a:solidFill>
                  <a:srgbClr val="69646A"/>
                </a:solidFill>
                <a:latin typeface="Aptos" panose="020B0004020202020204" pitchFamily="34" charset="0"/>
              </a:rPr>
              <a:t>27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CDABDFD-7840-5F75-F409-109DDC9C0D27}"/>
              </a:ext>
            </a:extLst>
          </p:cNvPr>
          <p:cNvSpPr/>
          <p:nvPr/>
        </p:nvSpPr>
        <p:spPr>
          <a:xfrm>
            <a:off x="685800" y="2286000"/>
            <a:ext cx="3302000" cy="2857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6DFB44-D536-2098-C9B8-1A492BB290F1}"/>
              </a:ext>
            </a:extLst>
          </p:cNvPr>
          <p:cNvSpPr/>
          <p:nvPr/>
        </p:nvSpPr>
        <p:spPr>
          <a:xfrm>
            <a:off x="685800" y="2286000"/>
            <a:ext cx="88900" cy="2857500"/>
          </a:xfrm>
          <a:prstGeom prst="rect">
            <a:avLst/>
          </a:prstGeom>
          <a:solidFill>
            <a:srgbClr val="D97216"/>
          </a:solidFill>
          <a:ln w="12700">
            <a:solidFill>
              <a:srgbClr val="D972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67416B-A5F2-5A64-71FD-76464A4A9A60}"/>
              </a:ext>
            </a:extLst>
          </p:cNvPr>
          <p:cNvSpPr txBox="1"/>
          <p:nvPr/>
        </p:nvSpPr>
        <p:spPr>
          <a:xfrm>
            <a:off x="927100" y="2476500"/>
            <a:ext cx="287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D97216"/>
                </a:solidFill>
                <a:latin typeface="Aptos" panose="020B0004020202020204" pitchFamily="34" charset="0"/>
              </a:rPr>
              <a:t>IDENTITY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C09623-626C-D4FD-7DC0-5F7E62F1E148}"/>
              </a:ext>
            </a:extLst>
          </p:cNvPr>
          <p:cNvSpPr txBox="1"/>
          <p:nvPr/>
        </p:nvSpPr>
        <p:spPr>
          <a:xfrm>
            <a:off x="927100" y="2794000"/>
            <a:ext cx="287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400" b="1">
                <a:solidFill>
                  <a:srgbClr val="242124"/>
                </a:solidFill>
                <a:latin typeface="Aptos Display" panose="020B0004020202020204" pitchFamily="34" charset="0"/>
              </a:rPr>
              <a:t>Know every agent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4E7244-3785-5FB3-E4D9-F3F526D911C2}"/>
              </a:ext>
            </a:extLst>
          </p:cNvPr>
          <p:cNvSpPr txBox="1"/>
          <p:nvPr/>
        </p:nvSpPr>
        <p:spPr>
          <a:xfrm>
            <a:off x="927100" y="3403600"/>
            <a:ext cx="287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50">
                <a:solidFill>
                  <a:srgbClr val="69646A"/>
                </a:solidFill>
                <a:latin typeface="Aptos" panose="020B0004020202020204" pitchFamily="34" charset="0"/>
              </a:rPr>
              <a:t>Unique identity, ownership, purpose, and trust posture.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35D5CBB-D763-F873-FD8D-351F1906DFF9}"/>
              </a:ext>
            </a:extLst>
          </p:cNvPr>
          <p:cNvSpPr/>
          <p:nvPr/>
        </p:nvSpPr>
        <p:spPr>
          <a:xfrm>
            <a:off x="4445000" y="2286000"/>
            <a:ext cx="3302000" cy="2857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F7E1B33-BFFD-EC80-3A08-61D25BDEDA80}"/>
              </a:ext>
            </a:extLst>
          </p:cNvPr>
          <p:cNvSpPr/>
          <p:nvPr/>
        </p:nvSpPr>
        <p:spPr>
          <a:xfrm>
            <a:off x="4445000" y="2286000"/>
            <a:ext cx="88900" cy="2857500"/>
          </a:xfrm>
          <a:prstGeom prst="rect">
            <a:avLst/>
          </a:prstGeom>
          <a:solidFill>
            <a:srgbClr val="217A4F"/>
          </a:solidFill>
          <a:ln w="12700">
            <a:solidFill>
              <a:srgbClr val="217A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17DB93-815F-D941-53C8-CEDEB631AC52}"/>
              </a:ext>
            </a:extLst>
          </p:cNvPr>
          <p:cNvSpPr txBox="1"/>
          <p:nvPr/>
        </p:nvSpPr>
        <p:spPr>
          <a:xfrm>
            <a:off x="4686300" y="2476500"/>
            <a:ext cx="287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217A4F"/>
                </a:solidFill>
                <a:latin typeface="Aptos" panose="020B0004020202020204" pitchFamily="34" charset="0"/>
              </a:rPr>
              <a:t>CONTROL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25695FA-D8D7-F4EB-122F-C5F5BBB8F6AF}"/>
              </a:ext>
            </a:extLst>
          </p:cNvPr>
          <p:cNvSpPr txBox="1"/>
          <p:nvPr/>
        </p:nvSpPr>
        <p:spPr>
          <a:xfrm>
            <a:off x="4686300" y="2794000"/>
            <a:ext cx="287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400" b="1">
                <a:solidFill>
                  <a:srgbClr val="242124"/>
                </a:solidFill>
                <a:latin typeface="Aptos Display" panose="020B0004020202020204" pitchFamily="34" charset="0"/>
              </a:rPr>
              <a:t>Govern access + action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CEBEDBA-EB00-1AF6-BDA2-038EF454862E}"/>
              </a:ext>
            </a:extLst>
          </p:cNvPr>
          <p:cNvSpPr txBox="1"/>
          <p:nvPr/>
        </p:nvSpPr>
        <p:spPr>
          <a:xfrm>
            <a:off x="4686300" y="3403600"/>
            <a:ext cx="287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950">
                <a:solidFill>
                  <a:srgbClr val="69646A"/>
                </a:solidFill>
                <a:latin typeface="Aptos" panose="020B0004020202020204" pitchFamily="34" charset="0"/>
              </a:rPr>
              <a:t>Least privilege, policy, data scope, tools, and approval.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E453917-3C81-31C2-8375-4D0DD8C4BE25}"/>
              </a:ext>
            </a:extLst>
          </p:cNvPr>
          <p:cNvSpPr/>
          <p:nvPr/>
        </p:nvSpPr>
        <p:spPr>
          <a:xfrm>
            <a:off x="8204200" y="2286000"/>
            <a:ext cx="3302000" cy="2857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3C94BA3-2EB1-30B6-50A9-7C0F0595E6EA}"/>
              </a:ext>
            </a:extLst>
          </p:cNvPr>
          <p:cNvSpPr/>
          <p:nvPr/>
        </p:nvSpPr>
        <p:spPr>
          <a:xfrm>
            <a:off x="8204200" y="2286000"/>
            <a:ext cx="88900" cy="2857500"/>
          </a:xfrm>
          <a:prstGeom prst="rect">
            <a:avLst/>
          </a:prstGeom>
          <a:solidFill>
            <a:srgbClr val="A437B2"/>
          </a:solidFill>
          <a:ln w="12700">
            <a:solidFill>
              <a:srgbClr val="A437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947F40-727D-D9F8-D855-DA617920B3F9}"/>
              </a:ext>
            </a:extLst>
          </p:cNvPr>
          <p:cNvSpPr txBox="1"/>
          <p:nvPr/>
        </p:nvSpPr>
        <p:spPr>
          <a:xfrm>
            <a:off x="8445500" y="2476500"/>
            <a:ext cx="287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A437B2"/>
                </a:solidFill>
                <a:latin typeface="Aptos" panose="020B0004020202020204" pitchFamily="34" charset="0"/>
              </a:rPr>
              <a:t>OPERATE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37DBD5E-2B41-6680-1575-0E793E4E0222}"/>
              </a:ext>
            </a:extLst>
          </p:cNvPr>
          <p:cNvSpPr txBox="1"/>
          <p:nvPr/>
        </p:nvSpPr>
        <p:spPr>
          <a:xfrm>
            <a:off x="8445500" y="2794000"/>
            <a:ext cx="287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400" b="1">
                <a:solidFill>
                  <a:srgbClr val="242124"/>
                </a:solidFill>
                <a:latin typeface="Aptos Display" panose="020B0004020202020204" pitchFamily="34" charset="0"/>
              </a:rPr>
              <a:t>Observe the lifecycle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5BDB3C-0EA1-5597-0F35-82BD020BAD47}"/>
              </a:ext>
            </a:extLst>
          </p:cNvPr>
          <p:cNvSpPr txBox="1"/>
          <p:nvPr/>
        </p:nvSpPr>
        <p:spPr>
          <a:xfrm>
            <a:off x="8445500" y="3403600"/>
            <a:ext cx="287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50">
                <a:solidFill>
                  <a:srgbClr val="69646A"/>
                </a:solidFill>
                <a:latin typeface="Aptos" panose="020B0004020202020204" pitchFamily="34" charset="0"/>
              </a:rPr>
              <a:t>Inventory, health, evaluation, incidents, versions, and retirement.</a:t>
            </a:r>
          </a:p>
        </p:txBody>
      </p:sp>
    </p:spTree>
    <p:extLst>
      <p:ext uri="{BB962C8B-B14F-4D97-AF65-F5344CB8AC3E}">
        <p14:creationId xmlns:p14="http://schemas.microsoft.com/office/powerpoint/2010/main" val="20689721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8B88BA0-E99A-F020-D3F5-406D10C056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7"/>
          </a:solidFill>
          <a:ln w="12700">
            <a:solidFill>
              <a:srgbClr val="F8F7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452355-C599-64EB-A464-03174C7281D0}"/>
              </a:ext>
            </a:extLst>
          </p:cNvPr>
          <p:cNvSpPr txBox="1"/>
          <p:nvPr/>
        </p:nvSpPr>
        <p:spPr>
          <a:xfrm>
            <a:off x="685800" y="3810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D97216"/>
                </a:solidFill>
                <a:latin typeface="Aptos" panose="020B0004020202020204" pitchFamily="34" charset="0"/>
              </a:rPr>
              <a:t>MICROSOFT 365 + AGENT 365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1BE681-557A-9945-16CA-EF1130269140}"/>
              </a:ext>
            </a:extLst>
          </p:cNvPr>
          <p:cNvSpPr txBox="1"/>
          <p:nvPr/>
        </p:nvSpPr>
        <p:spPr>
          <a:xfrm>
            <a:off x="685800" y="6858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2700" b="1">
                <a:solidFill>
                  <a:srgbClr val="242124"/>
                </a:solidFill>
                <a:latin typeface="Aptos Display" panose="020B0004020202020204" pitchFamily="34" charset="0"/>
              </a:rPr>
              <a:t>Know every agent: identity and registry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026B24-6D03-8A90-663E-BA0E89E87E2D}"/>
              </a:ext>
            </a:extLst>
          </p:cNvPr>
          <p:cNvSpPr txBox="1"/>
          <p:nvPr/>
        </p:nvSpPr>
        <p:spPr>
          <a:xfrm>
            <a:off x="685800" y="14351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100">
                <a:solidFill>
                  <a:srgbClr val="69646A"/>
                </a:solidFill>
                <a:latin typeface="Aptos" panose="020B0004020202020204" pitchFamily="34" charset="0"/>
              </a:rPr>
              <a:t>An enterprise agent estate needs ownership and discovery before it can be governed.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D5C174D-1C1D-75B8-F3CD-F0630D391796}"/>
              </a:ext>
            </a:extLst>
          </p:cNvPr>
          <p:cNvCxnSpPr/>
          <p:nvPr/>
        </p:nvCxnSpPr>
        <p:spPr>
          <a:xfrm>
            <a:off x="685800" y="6477000"/>
            <a:ext cx="10820400" cy="0"/>
          </a:xfrm>
          <a:prstGeom prst="line">
            <a:avLst/>
          </a:prstGeom>
          <a:ln>
            <a:solidFill>
              <a:srgbClr val="E3E1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DCE1394-888F-56DD-09C5-264B228EA14C}"/>
              </a:ext>
            </a:extLst>
          </p:cNvPr>
          <p:cNvSpPr txBox="1"/>
          <p:nvPr/>
        </p:nvSpPr>
        <p:spPr>
          <a:xfrm>
            <a:off x="685800" y="65659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700" b="1">
                <a:solidFill>
                  <a:srgbClr val="69646A"/>
                </a:solidFill>
                <a:latin typeface="Aptos" panose="020B0004020202020204" pitchFamily="34" charset="0"/>
              </a:rPr>
              <a:t>FRONTIER RM · MICROSOFT 365 + AGENT 365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26DAE7-E23D-C075-007B-0A0D31AA9D7A}"/>
              </a:ext>
            </a:extLst>
          </p:cNvPr>
          <p:cNvSpPr txBox="1"/>
          <p:nvPr/>
        </p:nvSpPr>
        <p:spPr>
          <a:xfrm>
            <a:off x="10985500" y="65659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r"/>
            <a:r>
              <a:rPr lang="en-GB" sz="800" b="1">
                <a:solidFill>
                  <a:srgbClr val="69646A"/>
                </a:solidFill>
                <a:latin typeface="Aptos" panose="020B0004020202020204" pitchFamily="34" charset="0"/>
              </a:rPr>
              <a:t>28</a:t>
            </a:r>
          </a:p>
        </p:txBody>
      </p:sp>
      <p:sp>
        <p:nvSpPr>
          <p:cNvPr id="9" name="SCREENSHOT_ZONE_S28">
            <a:extLst>
              <a:ext uri="{FF2B5EF4-FFF2-40B4-BE49-F238E27FC236}">
                <a16:creationId xmlns:a16="http://schemas.microsoft.com/office/drawing/2014/main" id="{24DEF756-36A5-7398-EA5A-59530D1A2896}"/>
              </a:ext>
            </a:extLst>
          </p:cNvPr>
          <p:cNvSpPr/>
          <p:nvPr/>
        </p:nvSpPr>
        <p:spPr>
          <a:xfrm>
            <a:off x="685800" y="2095500"/>
            <a:ext cx="7112000" cy="3746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21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7239100-60E6-8DD4-FB5E-D32B70E6899D}"/>
              </a:ext>
            </a:extLst>
          </p:cNvPr>
          <p:cNvSpPr/>
          <p:nvPr/>
        </p:nvSpPr>
        <p:spPr>
          <a:xfrm>
            <a:off x="876300" y="2286000"/>
            <a:ext cx="2667000" cy="304800"/>
          </a:xfrm>
          <a:prstGeom prst="roundRect">
            <a:avLst/>
          </a:prstGeom>
          <a:solidFill>
            <a:srgbClr val="D97216"/>
          </a:solidFill>
          <a:ln w="12700">
            <a:solidFill>
              <a:srgbClr val="D972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50C7DF-F96E-F76D-D8C7-12A8A00A4EA3}"/>
              </a:ext>
            </a:extLst>
          </p:cNvPr>
          <p:cNvSpPr txBox="1"/>
          <p:nvPr/>
        </p:nvSpPr>
        <p:spPr>
          <a:xfrm>
            <a:off x="965200" y="2349500"/>
            <a:ext cx="2489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800" b="1">
                <a:solidFill>
                  <a:srgbClr val="FFFFFF"/>
                </a:solidFill>
                <a:latin typeface="Aptos" panose="020B0004020202020204" pitchFamily="34" charset="0"/>
              </a:rPr>
              <a:t>IMAGE PLACEHOLDER · AGENT 365 REGISTRY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D98547-09FC-1E62-6276-2B6384F82F17}"/>
              </a:ext>
            </a:extLst>
          </p:cNvPr>
          <p:cNvSpPr txBox="1"/>
          <p:nvPr/>
        </p:nvSpPr>
        <p:spPr>
          <a:xfrm>
            <a:off x="3987800" y="352425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GB" sz="2400" b="1">
                <a:solidFill>
                  <a:srgbClr val="D97216"/>
                </a:solidFill>
                <a:latin typeface="Segoe UI Symbol" panose="020B0502040204020203" pitchFamily="34" charset="0"/>
              </a:rPr>
              <a:t>▧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1DF1DF-9DC2-DC80-415D-0D1391E1719F}"/>
              </a:ext>
            </a:extLst>
          </p:cNvPr>
          <p:cNvSpPr txBox="1"/>
          <p:nvPr/>
        </p:nvSpPr>
        <p:spPr>
          <a:xfrm>
            <a:off x="1041400" y="4070350"/>
            <a:ext cx="6400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100" b="1">
                <a:solidFill>
                  <a:srgbClr val="242124"/>
                </a:solidFill>
                <a:latin typeface="Aptos" panose="020B0004020202020204" pitchFamily="34" charset="0"/>
              </a:rPr>
              <a:t>Insert registered-agent inventory or identity screenshot.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61AC2D-1F8D-5FB9-BFFA-A3B861E4CA44}"/>
              </a:ext>
            </a:extLst>
          </p:cNvPr>
          <p:cNvSpPr txBox="1"/>
          <p:nvPr/>
        </p:nvSpPr>
        <p:spPr>
          <a:xfrm>
            <a:off x="1003300" y="5397500"/>
            <a:ext cx="647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800">
                <a:solidFill>
                  <a:srgbClr val="69646A"/>
                </a:solidFill>
                <a:latin typeface="Aptos" panose="020B0004020202020204" pitchFamily="34" charset="0"/>
              </a:rPr>
              <a:t>Replace this zone with your screenshot; retain the slide title and adjacent callouts.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D67C89D-9149-2DC2-25FB-6008DF6A8BA2}"/>
              </a:ext>
            </a:extLst>
          </p:cNvPr>
          <p:cNvSpPr/>
          <p:nvPr/>
        </p:nvSpPr>
        <p:spPr>
          <a:xfrm>
            <a:off x="8191500" y="2413000"/>
            <a:ext cx="3314700" cy="25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0E7FEED-7EC1-6CE3-347E-52231A9A5893}"/>
              </a:ext>
            </a:extLst>
          </p:cNvPr>
          <p:cNvSpPr/>
          <p:nvPr/>
        </p:nvSpPr>
        <p:spPr>
          <a:xfrm>
            <a:off x="8191500" y="2413000"/>
            <a:ext cx="88900" cy="2540000"/>
          </a:xfrm>
          <a:prstGeom prst="rect">
            <a:avLst/>
          </a:prstGeom>
          <a:solidFill>
            <a:srgbClr val="D97216"/>
          </a:solidFill>
          <a:ln w="12700">
            <a:solidFill>
              <a:srgbClr val="D972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87A823-DA96-B469-B9BB-681E9654A1DB}"/>
              </a:ext>
            </a:extLst>
          </p:cNvPr>
          <p:cNvSpPr txBox="1"/>
          <p:nvPr/>
        </p:nvSpPr>
        <p:spPr>
          <a:xfrm>
            <a:off x="8432800" y="2603500"/>
            <a:ext cx="2882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D97216"/>
                </a:solidFill>
                <a:latin typeface="Aptos" panose="020B0004020202020204" pitchFamily="34" charset="0"/>
              </a:rPr>
              <a:t>STATUS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DB04BCE-F883-861C-0309-5B3CD8533421}"/>
              </a:ext>
            </a:extLst>
          </p:cNvPr>
          <p:cNvSpPr txBox="1"/>
          <p:nvPr/>
        </p:nvSpPr>
        <p:spPr>
          <a:xfrm>
            <a:off x="8432800" y="2921000"/>
            <a:ext cx="2882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400" b="1">
                <a:solidFill>
                  <a:srgbClr val="242124"/>
                </a:solidFill>
                <a:latin typeface="Aptos Display" panose="020B0004020202020204" pitchFamily="34" charset="0"/>
              </a:rPr>
              <a:t>Evidence pending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D086C4C-2FDD-D3FD-6932-83395B8FB564}"/>
              </a:ext>
            </a:extLst>
          </p:cNvPr>
          <p:cNvSpPr txBox="1"/>
          <p:nvPr/>
        </p:nvSpPr>
        <p:spPr>
          <a:xfrm>
            <a:off x="8432800" y="3530600"/>
            <a:ext cx="2882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50">
                <a:solidFill>
                  <a:srgbClr val="69646A"/>
                </a:solidFill>
                <a:latin typeface="Aptos" panose="020B0004020202020204" pitchFamily="34" charset="0"/>
              </a:rPr>
              <a:t>Do not mark Agent 365 registration as verified until supporting details are supplied.</a:t>
            </a:r>
          </a:p>
        </p:txBody>
      </p:sp>
    </p:spTree>
    <p:extLst>
      <p:ext uri="{BB962C8B-B14F-4D97-AF65-F5344CB8AC3E}">
        <p14:creationId xmlns:p14="http://schemas.microsoft.com/office/powerpoint/2010/main" val="10483658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A6A221C-1953-2FA9-4696-7484FBE5695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7"/>
          </a:solidFill>
          <a:ln w="12700">
            <a:solidFill>
              <a:srgbClr val="F8F7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FC9FDB-9063-4BE9-98D8-9DC5FDDB5A61}"/>
              </a:ext>
            </a:extLst>
          </p:cNvPr>
          <p:cNvSpPr txBox="1"/>
          <p:nvPr/>
        </p:nvSpPr>
        <p:spPr>
          <a:xfrm>
            <a:off x="685800" y="3810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217A4F"/>
                </a:solidFill>
                <a:latin typeface="Aptos" panose="020B0004020202020204" pitchFamily="34" charset="0"/>
              </a:rPr>
              <a:t>MICROSOFT 365 + AGENT 365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003DF6-B660-4EE1-0FB6-D296D235AE40}"/>
              </a:ext>
            </a:extLst>
          </p:cNvPr>
          <p:cNvSpPr txBox="1"/>
          <p:nvPr/>
        </p:nvSpPr>
        <p:spPr>
          <a:xfrm>
            <a:off x="685800" y="6858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2700" b="1">
                <a:solidFill>
                  <a:srgbClr val="242124"/>
                </a:solidFill>
                <a:latin typeface="Aptos Display" panose="020B0004020202020204" pitchFamily="34" charset="0"/>
              </a:rPr>
              <a:t>Control what agents can access and do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0099CF-8509-47A9-4B59-E8F98BD8B098}"/>
              </a:ext>
            </a:extLst>
          </p:cNvPr>
          <p:cNvSpPr txBox="1"/>
          <p:nvPr/>
        </p:nvSpPr>
        <p:spPr>
          <a:xfrm>
            <a:off x="685800" y="14351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100">
                <a:solidFill>
                  <a:srgbClr val="69646A"/>
                </a:solidFill>
                <a:latin typeface="Aptos" panose="020B0004020202020204" pitchFamily="34" charset="0"/>
              </a:rPr>
              <a:t>Agent identity is useful only when paired with least privilege, policy, and human approval.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40E9F23-B772-2DBE-187D-8B0EFF17ED92}"/>
              </a:ext>
            </a:extLst>
          </p:cNvPr>
          <p:cNvCxnSpPr/>
          <p:nvPr/>
        </p:nvCxnSpPr>
        <p:spPr>
          <a:xfrm>
            <a:off x="685800" y="6477000"/>
            <a:ext cx="10820400" cy="0"/>
          </a:xfrm>
          <a:prstGeom prst="line">
            <a:avLst/>
          </a:prstGeom>
          <a:ln>
            <a:solidFill>
              <a:srgbClr val="E3E1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3AB2354-16DB-02B5-7C30-21A98469663A}"/>
              </a:ext>
            </a:extLst>
          </p:cNvPr>
          <p:cNvSpPr txBox="1"/>
          <p:nvPr/>
        </p:nvSpPr>
        <p:spPr>
          <a:xfrm>
            <a:off x="685800" y="65659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700" b="1">
                <a:solidFill>
                  <a:srgbClr val="69646A"/>
                </a:solidFill>
                <a:latin typeface="Aptos" panose="020B0004020202020204" pitchFamily="34" charset="0"/>
              </a:rPr>
              <a:t>FRONTIER RM · MICROSOFT 365 + AGENT 365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43C935-B9FE-EA4F-9319-1EAAD5E4EB75}"/>
              </a:ext>
            </a:extLst>
          </p:cNvPr>
          <p:cNvSpPr txBox="1"/>
          <p:nvPr/>
        </p:nvSpPr>
        <p:spPr>
          <a:xfrm>
            <a:off x="10985500" y="65659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r"/>
            <a:r>
              <a:rPr lang="en-GB" sz="800" b="1">
                <a:solidFill>
                  <a:srgbClr val="69646A"/>
                </a:solidFill>
                <a:latin typeface="Aptos" panose="020B0004020202020204" pitchFamily="34" charset="0"/>
              </a:rPr>
              <a:t>29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37A4BA2-1FA6-B87E-1869-74B205D2E65B}"/>
              </a:ext>
            </a:extLst>
          </p:cNvPr>
          <p:cNvSpPr/>
          <p:nvPr/>
        </p:nvSpPr>
        <p:spPr>
          <a:xfrm>
            <a:off x="685800" y="2730500"/>
            <a:ext cx="1940560" cy="965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2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F68B62-BFF5-6C88-3108-422EC5A3EE61}"/>
              </a:ext>
            </a:extLst>
          </p:cNvPr>
          <p:cNvSpPr txBox="1"/>
          <p:nvPr/>
        </p:nvSpPr>
        <p:spPr>
          <a:xfrm>
            <a:off x="812800" y="28702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D97216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A229F0-4DE0-F92C-FB0D-18C2710F6DB6}"/>
              </a:ext>
            </a:extLst>
          </p:cNvPr>
          <p:cNvSpPr txBox="1"/>
          <p:nvPr/>
        </p:nvSpPr>
        <p:spPr>
          <a:xfrm>
            <a:off x="812800" y="3162300"/>
            <a:ext cx="168656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050" b="1">
                <a:solidFill>
                  <a:srgbClr val="242124"/>
                </a:solidFill>
                <a:latin typeface="Aptos" panose="020B0004020202020204" pitchFamily="34" charset="0"/>
              </a:rPr>
              <a:t>Agent identity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A479BA-7170-4B40-3B7F-429BE6D0E707}"/>
              </a:ext>
            </a:extLst>
          </p:cNvPr>
          <p:cNvSpPr txBox="1"/>
          <p:nvPr/>
        </p:nvSpPr>
        <p:spPr>
          <a:xfrm>
            <a:off x="2664460" y="3060700"/>
            <a:ext cx="215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200" b="1">
                <a:solidFill>
                  <a:srgbClr val="69646A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0C65BC2-E72A-8D7E-7C29-B93018388C91}"/>
              </a:ext>
            </a:extLst>
          </p:cNvPr>
          <p:cNvSpPr/>
          <p:nvPr/>
        </p:nvSpPr>
        <p:spPr>
          <a:xfrm>
            <a:off x="2905760" y="2730500"/>
            <a:ext cx="1940560" cy="965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A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C067C1-D892-669D-07B6-5CEA2D0D64BA}"/>
              </a:ext>
            </a:extLst>
          </p:cNvPr>
          <p:cNvSpPr txBox="1"/>
          <p:nvPr/>
        </p:nvSpPr>
        <p:spPr>
          <a:xfrm>
            <a:off x="3032760" y="28702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007AD2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88003B-735A-6D2B-68DE-2AF7C032F790}"/>
              </a:ext>
            </a:extLst>
          </p:cNvPr>
          <p:cNvSpPr txBox="1"/>
          <p:nvPr/>
        </p:nvSpPr>
        <p:spPr>
          <a:xfrm>
            <a:off x="3032760" y="3162300"/>
            <a:ext cx="168656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050" b="1">
                <a:solidFill>
                  <a:srgbClr val="242124"/>
                </a:solidFill>
                <a:latin typeface="Aptos" panose="020B0004020202020204" pitchFamily="34" charset="0"/>
              </a:rPr>
              <a:t>Data + tool scope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2FDDDDF-DEC7-50FD-C826-DF6949780469}"/>
              </a:ext>
            </a:extLst>
          </p:cNvPr>
          <p:cNvSpPr txBox="1"/>
          <p:nvPr/>
        </p:nvSpPr>
        <p:spPr>
          <a:xfrm>
            <a:off x="4884420" y="3060700"/>
            <a:ext cx="215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200" b="1">
                <a:solidFill>
                  <a:srgbClr val="69646A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41FCAE9-026E-FCAF-21B1-725E56BFA139}"/>
              </a:ext>
            </a:extLst>
          </p:cNvPr>
          <p:cNvSpPr/>
          <p:nvPr/>
        </p:nvSpPr>
        <p:spPr>
          <a:xfrm>
            <a:off x="5125720" y="2730500"/>
            <a:ext cx="1940560" cy="965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7A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B2F68E-01A1-FA3C-E716-A12AE6B4ACD0}"/>
              </a:ext>
            </a:extLst>
          </p:cNvPr>
          <p:cNvSpPr txBox="1"/>
          <p:nvPr/>
        </p:nvSpPr>
        <p:spPr>
          <a:xfrm>
            <a:off x="5252720" y="28702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217A4F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0D71542-E439-EC45-D819-9DAF6A6CA101}"/>
              </a:ext>
            </a:extLst>
          </p:cNvPr>
          <p:cNvSpPr txBox="1"/>
          <p:nvPr/>
        </p:nvSpPr>
        <p:spPr>
          <a:xfrm>
            <a:off x="5252720" y="3162300"/>
            <a:ext cx="168656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050" b="1">
                <a:solidFill>
                  <a:srgbClr val="242124"/>
                </a:solidFill>
                <a:latin typeface="Aptos" panose="020B0004020202020204" pitchFamily="34" charset="0"/>
              </a:rPr>
              <a:t>Policy evaluation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FEB7FEB-DCED-9CF5-79DF-DBC919083C63}"/>
              </a:ext>
            </a:extLst>
          </p:cNvPr>
          <p:cNvSpPr txBox="1"/>
          <p:nvPr/>
        </p:nvSpPr>
        <p:spPr>
          <a:xfrm>
            <a:off x="7104380" y="3060700"/>
            <a:ext cx="215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200" b="1">
                <a:solidFill>
                  <a:srgbClr val="69646A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3CDADAA-8F4C-94E8-0569-3E43AD977E2D}"/>
              </a:ext>
            </a:extLst>
          </p:cNvPr>
          <p:cNvSpPr/>
          <p:nvPr/>
        </p:nvSpPr>
        <p:spPr>
          <a:xfrm>
            <a:off x="7345680" y="2730500"/>
            <a:ext cx="1940560" cy="965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619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C1B3B62-470A-B2B2-DF4B-DE6314A5C921}"/>
              </a:ext>
            </a:extLst>
          </p:cNvPr>
          <p:cNvSpPr txBox="1"/>
          <p:nvPr/>
        </p:nvSpPr>
        <p:spPr>
          <a:xfrm>
            <a:off x="7472680" y="28702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A6192E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7299E43-ACCC-36B2-C08E-8E1237CD76A9}"/>
              </a:ext>
            </a:extLst>
          </p:cNvPr>
          <p:cNvSpPr txBox="1"/>
          <p:nvPr/>
        </p:nvSpPr>
        <p:spPr>
          <a:xfrm>
            <a:off x="7472680" y="3162300"/>
            <a:ext cx="168656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050" b="1">
                <a:solidFill>
                  <a:srgbClr val="242124"/>
                </a:solidFill>
                <a:latin typeface="Aptos" panose="020B0004020202020204" pitchFamily="34" charset="0"/>
              </a:rPr>
              <a:t>Approval boundary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6B84304-3F8D-753E-4122-0B495CDB9A8B}"/>
              </a:ext>
            </a:extLst>
          </p:cNvPr>
          <p:cNvSpPr txBox="1"/>
          <p:nvPr/>
        </p:nvSpPr>
        <p:spPr>
          <a:xfrm>
            <a:off x="9324340" y="3060700"/>
            <a:ext cx="215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200" b="1">
                <a:solidFill>
                  <a:srgbClr val="69646A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5E0FEAE-9633-7DF2-58AF-13A64880A46A}"/>
              </a:ext>
            </a:extLst>
          </p:cNvPr>
          <p:cNvSpPr/>
          <p:nvPr/>
        </p:nvSpPr>
        <p:spPr>
          <a:xfrm>
            <a:off x="9565640" y="2730500"/>
            <a:ext cx="1940560" cy="965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437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C411CBF-723E-BC3F-01D7-46CB598A43DB}"/>
              </a:ext>
            </a:extLst>
          </p:cNvPr>
          <p:cNvSpPr txBox="1"/>
          <p:nvPr/>
        </p:nvSpPr>
        <p:spPr>
          <a:xfrm>
            <a:off x="9692640" y="28702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A437B2"/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7022D34-61D7-63F0-87AD-EB6EE7874895}"/>
              </a:ext>
            </a:extLst>
          </p:cNvPr>
          <p:cNvSpPr txBox="1"/>
          <p:nvPr/>
        </p:nvSpPr>
        <p:spPr>
          <a:xfrm>
            <a:off x="9692640" y="3162300"/>
            <a:ext cx="168656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050" b="1">
                <a:solidFill>
                  <a:srgbClr val="242124"/>
                </a:solidFill>
                <a:latin typeface="Aptos" panose="020B0004020202020204" pitchFamily="34" charset="0"/>
              </a:rPr>
              <a:t>Auditable action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43074D3-D8CE-3158-5670-FF364010868B}"/>
              </a:ext>
            </a:extLst>
          </p:cNvPr>
          <p:cNvSpPr txBox="1"/>
          <p:nvPr/>
        </p:nvSpPr>
        <p:spPr>
          <a:xfrm>
            <a:off x="2413000" y="4318000"/>
            <a:ext cx="736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GB" sz="1300">
                <a:solidFill>
                  <a:srgbClr val="242124"/>
                </a:solidFill>
                <a:latin typeface="Aptos" panose="020B0004020202020204" pitchFamily="34" charset="0"/>
              </a:rPr>
              <a:t>• Separate read, draft, and execute permissions</a:t>
            </a:r>
          </a:p>
          <a:p>
            <a:pPr>
              <a:spcAft>
                <a:spcPts val="700"/>
              </a:spcAft>
            </a:pPr>
            <a:r>
              <a:rPr lang="en-GB" sz="1300">
                <a:solidFill>
                  <a:srgbClr val="242124"/>
                </a:solidFill>
                <a:latin typeface="Aptos" panose="020B0004020202020204" pitchFamily="34" charset="0"/>
              </a:rPr>
              <a:t>• Preserve source-level authorization and provenance</a:t>
            </a:r>
          </a:p>
          <a:p>
            <a:pPr>
              <a:spcAft>
                <a:spcPts val="700"/>
              </a:spcAft>
            </a:pPr>
            <a:r>
              <a:rPr lang="en-GB" sz="1300">
                <a:solidFill>
                  <a:srgbClr val="242124"/>
                </a:solidFill>
                <a:latin typeface="Aptos" panose="020B0004020202020204" pitchFamily="34" charset="0"/>
              </a:rPr>
              <a:t>• Require explicit approval for consequential actions</a:t>
            </a:r>
          </a:p>
        </p:txBody>
      </p:sp>
    </p:spTree>
    <p:extLst>
      <p:ext uri="{BB962C8B-B14F-4D97-AF65-F5344CB8AC3E}">
        <p14:creationId xmlns:p14="http://schemas.microsoft.com/office/powerpoint/2010/main" val="7771407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D879A4-C025-1A5D-59FA-A995B267C17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7"/>
          </a:solidFill>
          <a:ln w="12700">
            <a:solidFill>
              <a:srgbClr val="F8F7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905800-7A0F-290A-F391-8C1BF049186A}"/>
              </a:ext>
            </a:extLst>
          </p:cNvPr>
          <p:cNvSpPr txBox="1"/>
          <p:nvPr/>
        </p:nvSpPr>
        <p:spPr>
          <a:xfrm>
            <a:off x="685800" y="3810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D97216"/>
                </a:solidFill>
                <a:latin typeface="Aptos" panose="020B0004020202020204" pitchFamily="34" charset="0"/>
              </a:rPr>
              <a:t>MICROSOFT 365 + AGENT 365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8F5089-CB9C-ADB2-725C-C57E4F3BE1BF}"/>
              </a:ext>
            </a:extLst>
          </p:cNvPr>
          <p:cNvSpPr txBox="1"/>
          <p:nvPr/>
        </p:nvSpPr>
        <p:spPr>
          <a:xfrm>
            <a:off x="685800" y="6858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2700" b="1">
                <a:solidFill>
                  <a:srgbClr val="242124"/>
                </a:solidFill>
                <a:latin typeface="Aptos Display" panose="020B0004020202020204" pitchFamily="34" charset="0"/>
              </a:rPr>
              <a:t>Operate agents with observability and lifecycle controls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C198B8-563C-2B85-56DC-12C8974EA8E5}"/>
              </a:ext>
            </a:extLst>
          </p:cNvPr>
          <p:cNvSpPr txBox="1"/>
          <p:nvPr/>
        </p:nvSpPr>
        <p:spPr>
          <a:xfrm>
            <a:off x="685800" y="14351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100">
                <a:solidFill>
                  <a:srgbClr val="69646A"/>
                </a:solidFill>
                <a:latin typeface="Aptos" panose="020B0004020202020204" pitchFamily="34" charset="0"/>
              </a:rPr>
              <a:t>Health, evaluations, versions, incidents, and retirement turn individual agents into a managed estate.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F93E57D-3A65-B9A8-C2F4-03ADD611DA5C}"/>
              </a:ext>
            </a:extLst>
          </p:cNvPr>
          <p:cNvCxnSpPr/>
          <p:nvPr/>
        </p:nvCxnSpPr>
        <p:spPr>
          <a:xfrm>
            <a:off x="685800" y="6477000"/>
            <a:ext cx="10820400" cy="0"/>
          </a:xfrm>
          <a:prstGeom prst="line">
            <a:avLst/>
          </a:prstGeom>
          <a:ln>
            <a:solidFill>
              <a:srgbClr val="E3E1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53F4DA6-05AD-AA28-0CA6-5646C7631DC8}"/>
              </a:ext>
            </a:extLst>
          </p:cNvPr>
          <p:cNvSpPr txBox="1"/>
          <p:nvPr/>
        </p:nvSpPr>
        <p:spPr>
          <a:xfrm>
            <a:off x="685800" y="65659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700" b="1">
                <a:solidFill>
                  <a:srgbClr val="69646A"/>
                </a:solidFill>
                <a:latin typeface="Aptos" panose="020B0004020202020204" pitchFamily="34" charset="0"/>
              </a:rPr>
              <a:t>FRONTIER RM · MICROSOFT 365 + AGENT 365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C12B5F-1B5F-AD11-6F08-19168058BD99}"/>
              </a:ext>
            </a:extLst>
          </p:cNvPr>
          <p:cNvSpPr txBox="1"/>
          <p:nvPr/>
        </p:nvSpPr>
        <p:spPr>
          <a:xfrm>
            <a:off x="10985500" y="65659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r"/>
            <a:r>
              <a:rPr lang="en-GB" sz="800" b="1">
                <a:solidFill>
                  <a:srgbClr val="69646A"/>
                </a:solidFill>
                <a:latin typeface="Aptos" panose="020B0004020202020204" pitchFamily="34" charset="0"/>
              </a:rPr>
              <a:t>30</a:t>
            </a:r>
          </a:p>
        </p:txBody>
      </p:sp>
      <p:sp>
        <p:nvSpPr>
          <p:cNvPr id="9" name="SCREENSHOT_ZONE_S30">
            <a:extLst>
              <a:ext uri="{FF2B5EF4-FFF2-40B4-BE49-F238E27FC236}">
                <a16:creationId xmlns:a16="http://schemas.microsoft.com/office/drawing/2014/main" id="{9FF9B1AA-9EB3-1927-D64D-7CED6EDD3C09}"/>
              </a:ext>
            </a:extLst>
          </p:cNvPr>
          <p:cNvSpPr/>
          <p:nvPr/>
        </p:nvSpPr>
        <p:spPr>
          <a:xfrm>
            <a:off x="685800" y="2095500"/>
            <a:ext cx="7112000" cy="3746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21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9588B52-F716-53EF-1430-892EB3746917}"/>
              </a:ext>
            </a:extLst>
          </p:cNvPr>
          <p:cNvSpPr/>
          <p:nvPr/>
        </p:nvSpPr>
        <p:spPr>
          <a:xfrm>
            <a:off x="876300" y="2286000"/>
            <a:ext cx="2667000" cy="304800"/>
          </a:xfrm>
          <a:prstGeom prst="roundRect">
            <a:avLst/>
          </a:prstGeom>
          <a:solidFill>
            <a:srgbClr val="D97216"/>
          </a:solidFill>
          <a:ln w="12700">
            <a:solidFill>
              <a:srgbClr val="D972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560BB2-9D88-8863-46AE-40195F3625EF}"/>
              </a:ext>
            </a:extLst>
          </p:cNvPr>
          <p:cNvSpPr txBox="1"/>
          <p:nvPr/>
        </p:nvSpPr>
        <p:spPr>
          <a:xfrm>
            <a:off x="965200" y="2349500"/>
            <a:ext cx="2489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800" b="1">
                <a:solidFill>
                  <a:srgbClr val="FFFFFF"/>
                </a:solidFill>
                <a:latin typeface="Aptos" panose="020B0004020202020204" pitchFamily="34" charset="0"/>
              </a:rPr>
              <a:t>IMAGE PLACEHOLDER · AGENT 365 OPERATIONS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3FF38A-C300-A88A-1516-15861EE0CDBA}"/>
              </a:ext>
            </a:extLst>
          </p:cNvPr>
          <p:cNvSpPr txBox="1"/>
          <p:nvPr/>
        </p:nvSpPr>
        <p:spPr>
          <a:xfrm>
            <a:off x="3987800" y="352425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GB" sz="2400" b="1">
                <a:solidFill>
                  <a:srgbClr val="D97216"/>
                </a:solidFill>
                <a:latin typeface="Segoe UI Symbol" panose="020B0502040204020203" pitchFamily="34" charset="0"/>
              </a:rPr>
              <a:t>▧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45AFF8-9E16-A456-33C3-508E1EE6789A}"/>
              </a:ext>
            </a:extLst>
          </p:cNvPr>
          <p:cNvSpPr txBox="1"/>
          <p:nvPr/>
        </p:nvSpPr>
        <p:spPr>
          <a:xfrm>
            <a:off x="1041400" y="4070350"/>
            <a:ext cx="6400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100" b="1">
                <a:solidFill>
                  <a:srgbClr val="242124"/>
                </a:solidFill>
                <a:latin typeface="Aptos" panose="020B0004020202020204" pitchFamily="34" charset="0"/>
              </a:rPr>
              <a:t>Insert observability, evaluation, lifecycle, or incident view.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9B9E57-4FCD-7E48-E5BF-A19607546FEC}"/>
              </a:ext>
            </a:extLst>
          </p:cNvPr>
          <p:cNvSpPr txBox="1"/>
          <p:nvPr/>
        </p:nvSpPr>
        <p:spPr>
          <a:xfrm>
            <a:off x="1003300" y="5397500"/>
            <a:ext cx="647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800">
                <a:solidFill>
                  <a:srgbClr val="69646A"/>
                </a:solidFill>
                <a:latin typeface="Aptos" panose="020B0004020202020204" pitchFamily="34" charset="0"/>
              </a:rPr>
              <a:t>Replace this zone with your screenshot; retain the slide title and adjacent callouts.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3D555EB-C437-FED6-E237-E977E978D65D}"/>
              </a:ext>
            </a:extLst>
          </p:cNvPr>
          <p:cNvSpPr/>
          <p:nvPr/>
        </p:nvSpPr>
        <p:spPr>
          <a:xfrm>
            <a:off x="8191500" y="2413000"/>
            <a:ext cx="3314700" cy="25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0E4D484-BBD8-C229-C89D-58DB8AB88E57}"/>
              </a:ext>
            </a:extLst>
          </p:cNvPr>
          <p:cNvSpPr/>
          <p:nvPr/>
        </p:nvSpPr>
        <p:spPr>
          <a:xfrm>
            <a:off x="8191500" y="2413000"/>
            <a:ext cx="88900" cy="2540000"/>
          </a:xfrm>
          <a:prstGeom prst="rect">
            <a:avLst/>
          </a:prstGeom>
          <a:solidFill>
            <a:srgbClr val="A437B2"/>
          </a:solidFill>
          <a:ln w="12700">
            <a:solidFill>
              <a:srgbClr val="A437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95A183-780C-3E58-159A-80CDBD5F05D2}"/>
              </a:ext>
            </a:extLst>
          </p:cNvPr>
          <p:cNvSpPr txBox="1"/>
          <p:nvPr/>
        </p:nvSpPr>
        <p:spPr>
          <a:xfrm>
            <a:off x="8432800" y="2603500"/>
            <a:ext cx="2882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A437B2"/>
                </a:solidFill>
                <a:latin typeface="Aptos" panose="020B0004020202020204" pitchFamily="34" charset="0"/>
              </a:rPr>
              <a:t>LIFECYCLE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BE0B38-9E64-EF83-15B1-A376D0439658}"/>
              </a:ext>
            </a:extLst>
          </p:cNvPr>
          <p:cNvSpPr txBox="1"/>
          <p:nvPr/>
        </p:nvSpPr>
        <p:spPr>
          <a:xfrm>
            <a:off x="8432800" y="2921000"/>
            <a:ext cx="2882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400" b="1">
                <a:solidFill>
                  <a:srgbClr val="242124"/>
                </a:solidFill>
                <a:latin typeface="Aptos Display" panose="020B0004020202020204" pitchFamily="34" charset="0"/>
              </a:rPr>
              <a:t>Build → evaluate → deploy → observe → improve → retire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D924EC-42B4-4E27-2EC7-6C672CB49B4F}"/>
              </a:ext>
            </a:extLst>
          </p:cNvPr>
          <p:cNvSpPr txBox="1"/>
          <p:nvPr/>
        </p:nvSpPr>
        <p:spPr>
          <a:xfrm>
            <a:off x="8432800" y="3530600"/>
            <a:ext cx="2882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50">
                <a:solidFill>
                  <a:srgbClr val="69646A"/>
                </a:solidFill>
                <a:latin typeface="Aptos" panose="020B0004020202020204" pitchFamily="34" charset="0"/>
              </a:rPr>
              <a:t>Use explicit owners, versions, policies, and evidence throughout.</a:t>
            </a:r>
          </a:p>
        </p:txBody>
      </p:sp>
    </p:spTree>
    <p:extLst>
      <p:ext uri="{BB962C8B-B14F-4D97-AF65-F5344CB8AC3E}">
        <p14:creationId xmlns:p14="http://schemas.microsoft.com/office/powerpoint/2010/main" val="6434644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6952EB1-4258-8117-E64F-8F6EABB858E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7"/>
          </a:solidFill>
          <a:ln w="12700">
            <a:solidFill>
              <a:srgbClr val="F8F7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6CC996-2786-4ECA-FF6A-1DEE3C95C35E}"/>
              </a:ext>
            </a:extLst>
          </p:cNvPr>
          <p:cNvSpPr txBox="1"/>
          <p:nvPr/>
        </p:nvSpPr>
        <p:spPr>
          <a:xfrm>
            <a:off x="685800" y="3810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D97216"/>
                </a:solidFill>
                <a:latin typeface="Aptos" panose="020B0004020202020204" pitchFamily="34" charset="0"/>
              </a:rPr>
              <a:t>MICROSOFT 365 + AGENT 365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535F89-D596-D467-AF0C-56C19546D5A3}"/>
              </a:ext>
            </a:extLst>
          </p:cNvPr>
          <p:cNvSpPr txBox="1"/>
          <p:nvPr/>
        </p:nvSpPr>
        <p:spPr>
          <a:xfrm>
            <a:off x="685800" y="6858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2700" b="1">
                <a:solidFill>
                  <a:srgbClr val="242124"/>
                </a:solidFill>
                <a:latin typeface="Aptos Display" panose="020B0004020202020204" pitchFamily="34" charset="0"/>
              </a:rPr>
              <a:t>Frontier agent estate mapped to Agent 365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32D033-EE03-2AF1-466C-18C86E977150}"/>
              </a:ext>
            </a:extLst>
          </p:cNvPr>
          <p:cNvSpPr txBox="1"/>
          <p:nvPr/>
        </p:nvSpPr>
        <p:spPr>
          <a:xfrm>
            <a:off x="685800" y="14351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100">
                <a:solidFill>
                  <a:srgbClr val="69646A"/>
                </a:solidFill>
                <a:latin typeface="Aptos" panose="020B0004020202020204" pitchFamily="34" charset="0"/>
              </a:rPr>
              <a:t>A transparent inventory makes the target registration and governance work concrete.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6203CEB-AB65-6FFD-D9BF-76B120765968}"/>
              </a:ext>
            </a:extLst>
          </p:cNvPr>
          <p:cNvCxnSpPr/>
          <p:nvPr/>
        </p:nvCxnSpPr>
        <p:spPr>
          <a:xfrm>
            <a:off x="685800" y="6477000"/>
            <a:ext cx="10820400" cy="0"/>
          </a:xfrm>
          <a:prstGeom prst="line">
            <a:avLst/>
          </a:prstGeom>
          <a:ln>
            <a:solidFill>
              <a:srgbClr val="E3E1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581891F-7910-41F7-06F3-A5BF3F522FBD}"/>
              </a:ext>
            </a:extLst>
          </p:cNvPr>
          <p:cNvSpPr txBox="1"/>
          <p:nvPr/>
        </p:nvSpPr>
        <p:spPr>
          <a:xfrm>
            <a:off x="685800" y="65659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700" b="1">
                <a:solidFill>
                  <a:srgbClr val="69646A"/>
                </a:solidFill>
                <a:latin typeface="Aptos" panose="020B0004020202020204" pitchFamily="34" charset="0"/>
              </a:rPr>
              <a:t>FRONTIER RM · MICROSOFT 365 + AGENT 365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2D3465-9334-9D9D-698F-7E85213172AC}"/>
              </a:ext>
            </a:extLst>
          </p:cNvPr>
          <p:cNvSpPr txBox="1"/>
          <p:nvPr/>
        </p:nvSpPr>
        <p:spPr>
          <a:xfrm>
            <a:off x="10985500" y="65659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r"/>
            <a:r>
              <a:rPr lang="en-GB" sz="800" b="1">
                <a:solidFill>
                  <a:srgbClr val="69646A"/>
                </a:solidFill>
                <a:latin typeface="Aptos" panose="020B0004020202020204" pitchFamily="34" charset="0"/>
              </a:rPr>
              <a:t>31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94D6CF4-E441-E7A2-AD8F-4AEF763409C0}"/>
              </a:ext>
            </a:extLst>
          </p:cNvPr>
          <p:cNvSpPr/>
          <p:nvPr/>
        </p:nvSpPr>
        <p:spPr>
          <a:xfrm>
            <a:off x="1143000" y="2159000"/>
            <a:ext cx="9906000" cy="482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F484D4-DBE9-7FD8-5B3E-6A2ABC3AD3D2}"/>
              </a:ext>
            </a:extLst>
          </p:cNvPr>
          <p:cNvSpPr txBox="1"/>
          <p:nvPr/>
        </p:nvSpPr>
        <p:spPr>
          <a:xfrm>
            <a:off x="1397000" y="22860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000" b="1">
                <a:solidFill>
                  <a:srgbClr val="242124"/>
                </a:solidFill>
                <a:latin typeface="Aptos" panose="020B0004020202020204" pitchFamily="34" charset="0"/>
              </a:rPr>
              <a:t>RM Orchestrator v2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9E87913-A166-8E25-575A-754CC372B152}"/>
              </a:ext>
            </a:extLst>
          </p:cNvPr>
          <p:cNvSpPr/>
          <p:nvPr/>
        </p:nvSpPr>
        <p:spPr>
          <a:xfrm>
            <a:off x="4953000" y="2247900"/>
            <a:ext cx="1968500" cy="304800"/>
          </a:xfrm>
          <a:prstGeom prst="roundRect">
            <a:avLst/>
          </a:prstGeom>
          <a:solidFill>
            <a:srgbClr val="007AD2"/>
          </a:solidFill>
          <a:ln w="12700">
            <a:solidFill>
              <a:srgbClr val="007A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C9C2B4-9550-9892-A856-AE0717CB480C}"/>
              </a:ext>
            </a:extLst>
          </p:cNvPr>
          <p:cNvSpPr txBox="1"/>
          <p:nvPr/>
        </p:nvSpPr>
        <p:spPr>
          <a:xfrm>
            <a:off x="5041900" y="2311400"/>
            <a:ext cx="1790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800" b="1">
                <a:solidFill>
                  <a:srgbClr val="FFFFFF"/>
                </a:solidFill>
                <a:latin typeface="Aptos" panose="020B0004020202020204" pitchFamily="34" charset="0"/>
              </a:rPr>
              <a:t>FOUNDRY / AZURE · DEPLOYED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D303DE4-2865-024D-E51D-2BEDBCAD1AB0}"/>
              </a:ext>
            </a:extLst>
          </p:cNvPr>
          <p:cNvSpPr/>
          <p:nvPr/>
        </p:nvSpPr>
        <p:spPr>
          <a:xfrm>
            <a:off x="7239000" y="2247900"/>
            <a:ext cx="2921000" cy="304800"/>
          </a:xfrm>
          <a:prstGeom prst="roundRect">
            <a:avLst/>
          </a:prstGeom>
          <a:solidFill>
            <a:srgbClr val="D97216"/>
          </a:solidFill>
          <a:ln w="12700">
            <a:solidFill>
              <a:srgbClr val="D972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A109CB-9DC4-3F76-3157-D54EDDD04B1A}"/>
              </a:ext>
            </a:extLst>
          </p:cNvPr>
          <p:cNvSpPr txBox="1"/>
          <p:nvPr/>
        </p:nvSpPr>
        <p:spPr>
          <a:xfrm>
            <a:off x="7327900" y="2311400"/>
            <a:ext cx="2743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800" b="1">
                <a:solidFill>
                  <a:srgbClr val="FFFFFF"/>
                </a:solidFill>
                <a:latin typeface="Aptos" panose="020B0004020202020204" pitchFamily="34" charset="0"/>
              </a:rPr>
              <a:t>AGENT 365 · EVIDENCE PENDING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332B684-7584-B7B4-7186-067549848843}"/>
              </a:ext>
            </a:extLst>
          </p:cNvPr>
          <p:cNvSpPr/>
          <p:nvPr/>
        </p:nvSpPr>
        <p:spPr>
          <a:xfrm>
            <a:off x="1143000" y="2768600"/>
            <a:ext cx="9906000" cy="482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EA970E-3D5B-5990-45CF-ABCD0BBCAAE8}"/>
              </a:ext>
            </a:extLst>
          </p:cNvPr>
          <p:cNvSpPr txBox="1"/>
          <p:nvPr/>
        </p:nvSpPr>
        <p:spPr>
          <a:xfrm>
            <a:off x="1397000" y="28956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000" b="1">
                <a:solidFill>
                  <a:srgbClr val="242124"/>
                </a:solidFill>
                <a:latin typeface="Aptos" panose="020B0004020202020204" pitchFamily="34" charset="0"/>
              </a:rPr>
              <a:t>Customer Intelligence v3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87A77D0-B5EE-B8E9-343B-F29BEEF89DA3}"/>
              </a:ext>
            </a:extLst>
          </p:cNvPr>
          <p:cNvSpPr/>
          <p:nvPr/>
        </p:nvSpPr>
        <p:spPr>
          <a:xfrm>
            <a:off x="4953000" y="2857500"/>
            <a:ext cx="1968500" cy="304800"/>
          </a:xfrm>
          <a:prstGeom prst="roundRect">
            <a:avLst/>
          </a:prstGeom>
          <a:solidFill>
            <a:srgbClr val="007AD2"/>
          </a:solidFill>
          <a:ln w="12700">
            <a:solidFill>
              <a:srgbClr val="007A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37A2AF7-8C9C-105B-2A44-7E973EEC1AAA}"/>
              </a:ext>
            </a:extLst>
          </p:cNvPr>
          <p:cNvSpPr txBox="1"/>
          <p:nvPr/>
        </p:nvSpPr>
        <p:spPr>
          <a:xfrm>
            <a:off x="5041900" y="2921000"/>
            <a:ext cx="1790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800" b="1">
                <a:solidFill>
                  <a:srgbClr val="FFFFFF"/>
                </a:solidFill>
                <a:latin typeface="Aptos" panose="020B0004020202020204" pitchFamily="34" charset="0"/>
              </a:rPr>
              <a:t>FOUNDRY / AZURE · DEPLOYED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5D05E59-49B0-C4CC-96B2-1B6E66156EAF}"/>
              </a:ext>
            </a:extLst>
          </p:cNvPr>
          <p:cNvSpPr/>
          <p:nvPr/>
        </p:nvSpPr>
        <p:spPr>
          <a:xfrm>
            <a:off x="7239000" y="2857500"/>
            <a:ext cx="2921000" cy="304800"/>
          </a:xfrm>
          <a:prstGeom prst="roundRect">
            <a:avLst/>
          </a:prstGeom>
          <a:solidFill>
            <a:srgbClr val="D97216"/>
          </a:solidFill>
          <a:ln w="12700">
            <a:solidFill>
              <a:srgbClr val="D972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BD84F97-E416-7AA8-2A0C-0CABB19B50A3}"/>
              </a:ext>
            </a:extLst>
          </p:cNvPr>
          <p:cNvSpPr txBox="1"/>
          <p:nvPr/>
        </p:nvSpPr>
        <p:spPr>
          <a:xfrm>
            <a:off x="7327900" y="2921000"/>
            <a:ext cx="2743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800" b="1">
                <a:solidFill>
                  <a:srgbClr val="FFFFFF"/>
                </a:solidFill>
                <a:latin typeface="Aptos" panose="020B0004020202020204" pitchFamily="34" charset="0"/>
              </a:rPr>
              <a:t>AGENT 365 · EVIDENCE PENDING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3A95CD0-34C2-02E4-99A7-3952B90F5A13}"/>
              </a:ext>
            </a:extLst>
          </p:cNvPr>
          <p:cNvSpPr/>
          <p:nvPr/>
        </p:nvSpPr>
        <p:spPr>
          <a:xfrm>
            <a:off x="1143000" y="3378200"/>
            <a:ext cx="9906000" cy="482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3DC81C3-FF2E-82E3-1990-A992BEF54FD2}"/>
              </a:ext>
            </a:extLst>
          </p:cNvPr>
          <p:cNvSpPr txBox="1"/>
          <p:nvPr/>
        </p:nvSpPr>
        <p:spPr>
          <a:xfrm>
            <a:off x="1397000" y="35052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000" b="1">
                <a:solidFill>
                  <a:srgbClr val="242124"/>
                </a:solidFill>
                <a:latin typeface="Aptos" panose="020B0004020202020204" pitchFamily="34" charset="0"/>
              </a:rPr>
              <a:t>Market Context v2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5E62B54-4BC9-1C4A-A0B4-E1029E48035B}"/>
              </a:ext>
            </a:extLst>
          </p:cNvPr>
          <p:cNvSpPr/>
          <p:nvPr/>
        </p:nvSpPr>
        <p:spPr>
          <a:xfrm>
            <a:off x="4953000" y="3467100"/>
            <a:ext cx="1968500" cy="304800"/>
          </a:xfrm>
          <a:prstGeom prst="roundRect">
            <a:avLst/>
          </a:prstGeom>
          <a:solidFill>
            <a:srgbClr val="007AD2"/>
          </a:solidFill>
          <a:ln w="12700">
            <a:solidFill>
              <a:srgbClr val="007A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C5AD3E-5A04-B62E-4370-0E788DA6DC34}"/>
              </a:ext>
            </a:extLst>
          </p:cNvPr>
          <p:cNvSpPr txBox="1"/>
          <p:nvPr/>
        </p:nvSpPr>
        <p:spPr>
          <a:xfrm>
            <a:off x="5041900" y="3530600"/>
            <a:ext cx="1790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800" b="1">
                <a:solidFill>
                  <a:srgbClr val="FFFFFF"/>
                </a:solidFill>
                <a:latin typeface="Aptos" panose="020B0004020202020204" pitchFamily="34" charset="0"/>
              </a:rPr>
              <a:t>FOUNDRY / AZURE · DEPLOYED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D83AB85-4B9F-0FC3-AFCD-00DA5950210B}"/>
              </a:ext>
            </a:extLst>
          </p:cNvPr>
          <p:cNvSpPr/>
          <p:nvPr/>
        </p:nvSpPr>
        <p:spPr>
          <a:xfrm>
            <a:off x="7239000" y="3467100"/>
            <a:ext cx="2921000" cy="304800"/>
          </a:xfrm>
          <a:prstGeom prst="roundRect">
            <a:avLst/>
          </a:prstGeom>
          <a:solidFill>
            <a:srgbClr val="D97216"/>
          </a:solidFill>
          <a:ln w="12700">
            <a:solidFill>
              <a:srgbClr val="D972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C90EBA8-8AC7-8459-9B6C-E31B361B4F85}"/>
              </a:ext>
            </a:extLst>
          </p:cNvPr>
          <p:cNvSpPr txBox="1"/>
          <p:nvPr/>
        </p:nvSpPr>
        <p:spPr>
          <a:xfrm>
            <a:off x="7327900" y="3530600"/>
            <a:ext cx="2743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800" b="1">
                <a:solidFill>
                  <a:srgbClr val="FFFFFF"/>
                </a:solidFill>
                <a:latin typeface="Aptos" panose="020B0004020202020204" pitchFamily="34" charset="0"/>
              </a:rPr>
              <a:t>AGENT 365 · EVIDENCE PENDING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AE8B70F4-D36A-6F3F-ED8C-A1A6F2D0D700}"/>
              </a:ext>
            </a:extLst>
          </p:cNvPr>
          <p:cNvSpPr/>
          <p:nvPr/>
        </p:nvSpPr>
        <p:spPr>
          <a:xfrm>
            <a:off x="1143000" y="3987800"/>
            <a:ext cx="9906000" cy="482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6EE75A0-8891-B422-5674-A813DBBAF6C3}"/>
              </a:ext>
            </a:extLst>
          </p:cNvPr>
          <p:cNvSpPr txBox="1"/>
          <p:nvPr/>
        </p:nvSpPr>
        <p:spPr>
          <a:xfrm>
            <a:off x="1397000" y="41148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000" b="1">
                <a:solidFill>
                  <a:srgbClr val="242124"/>
                </a:solidFill>
                <a:latin typeface="Aptos" panose="020B0004020202020204" pitchFamily="34" charset="0"/>
              </a:rPr>
              <a:t>Meeting Preparation v2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AF18CE60-5EBD-E597-8714-6D8B9FE62269}"/>
              </a:ext>
            </a:extLst>
          </p:cNvPr>
          <p:cNvSpPr/>
          <p:nvPr/>
        </p:nvSpPr>
        <p:spPr>
          <a:xfrm>
            <a:off x="4953000" y="4076700"/>
            <a:ext cx="1968500" cy="304800"/>
          </a:xfrm>
          <a:prstGeom prst="roundRect">
            <a:avLst/>
          </a:prstGeom>
          <a:solidFill>
            <a:srgbClr val="007AD2"/>
          </a:solidFill>
          <a:ln w="12700">
            <a:solidFill>
              <a:srgbClr val="007A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4D366C9-916E-CA68-63DE-6C7F0BB42787}"/>
              </a:ext>
            </a:extLst>
          </p:cNvPr>
          <p:cNvSpPr txBox="1"/>
          <p:nvPr/>
        </p:nvSpPr>
        <p:spPr>
          <a:xfrm>
            <a:off x="5041900" y="4140200"/>
            <a:ext cx="1790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800" b="1">
                <a:solidFill>
                  <a:srgbClr val="FFFFFF"/>
                </a:solidFill>
                <a:latin typeface="Aptos" panose="020B0004020202020204" pitchFamily="34" charset="0"/>
              </a:rPr>
              <a:t>FOUNDRY / AZURE · DEPLOYED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1173C35-8F62-5E0F-2AA3-006DFF1CD7F2}"/>
              </a:ext>
            </a:extLst>
          </p:cNvPr>
          <p:cNvSpPr/>
          <p:nvPr/>
        </p:nvSpPr>
        <p:spPr>
          <a:xfrm>
            <a:off x="7239000" y="4076700"/>
            <a:ext cx="2921000" cy="304800"/>
          </a:xfrm>
          <a:prstGeom prst="roundRect">
            <a:avLst/>
          </a:prstGeom>
          <a:solidFill>
            <a:srgbClr val="D97216"/>
          </a:solidFill>
          <a:ln w="12700">
            <a:solidFill>
              <a:srgbClr val="D972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F6ECE9F-E879-4715-C898-11637AE7752F}"/>
              </a:ext>
            </a:extLst>
          </p:cNvPr>
          <p:cNvSpPr txBox="1"/>
          <p:nvPr/>
        </p:nvSpPr>
        <p:spPr>
          <a:xfrm>
            <a:off x="7327900" y="4140200"/>
            <a:ext cx="2743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800" b="1">
                <a:solidFill>
                  <a:srgbClr val="FFFFFF"/>
                </a:solidFill>
                <a:latin typeface="Aptos" panose="020B0004020202020204" pitchFamily="34" charset="0"/>
              </a:rPr>
              <a:t>AGENT 365 · EVIDENCE PENDING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9A06C02-2451-66C3-FFDF-B566D190A13F}"/>
              </a:ext>
            </a:extLst>
          </p:cNvPr>
          <p:cNvSpPr/>
          <p:nvPr/>
        </p:nvSpPr>
        <p:spPr>
          <a:xfrm>
            <a:off x="1143000" y="4597400"/>
            <a:ext cx="9906000" cy="482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B66D512-3C4F-6D7D-347A-37AE74CE9EC7}"/>
              </a:ext>
            </a:extLst>
          </p:cNvPr>
          <p:cNvSpPr txBox="1"/>
          <p:nvPr/>
        </p:nvSpPr>
        <p:spPr>
          <a:xfrm>
            <a:off x="1397000" y="47244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000" b="1">
                <a:solidFill>
                  <a:srgbClr val="242124"/>
                </a:solidFill>
                <a:latin typeface="Aptos" panose="020B0004020202020204" pitchFamily="34" charset="0"/>
              </a:rPr>
              <a:t>Fabric Data Agent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65A9D56A-8B35-68F4-977B-9C379FB80712}"/>
              </a:ext>
            </a:extLst>
          </p:cNvPr>
          <p:cNvSpPr/>
          <p:nvPr/>
        </p:nvSpPr>
        <p:spPr>
          <a:xfrm>
            <a:off x="4953000" y="4686300"/>
            <a:ext cx="1968500" cy="304800"/>
          </a:xfrm>
          <a:prstGeom prst="roundRect">
            <a:avLst/>
          </a:prstGeom>
          <a:solidFill>
            <a:srgbClr val="008094"/>
          </a:solidFill>
          <a:ln w="12700">
            <a:solidFill>
              <a:srgbClr val="0080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6E0A168-99B1-F98E-5C7F-A6B61269A936}"/>
              </a:ext>
            </a:extLst>
          </p:cNvPr>
          <p:cNvSpPr txBox="1"/>
          <p:nvPr/>
        </p:nvSpPr>
        <p:spPr>
          <a:xfrm>
            <a:off x="5041900" y="4749800"/>
            <a:ext cx="1790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800" b="1">
                <a:solidFill>
                  <a:srgbClr val="FFFFFF"/>
                </a:solidFill>
                <a:latin typeface="Aptos" panose="020B0004020202020204" pitchFamily="34" charset="0"/>
              </a:rPr>
              <a:t>FABRIC · DEPLOYED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16B734D-C8CE-92BE-6147-C564A0A38C6C}"/>
              </a:ext>
            </a:extLst>
          </p:cNvPr>
          <p:cNvSpPr/>
          <p:nvPr/>
        </p:nvSpPr>
        <p:spPr>
          <a:xfrm>
            <a:off x="7239000" y="4686300"/>
            <a:ext cx="2921000" cy="304800"/>
          </a:xfrm>
          <a:prstGeom prst="roundRect">
            <a:avLst/>
          </a:prstGeom>
          <a:solidFill>
            <a:srgbClr val="D97216"/>
          </a:solidFill>
          <a:ln w="12700">
            <a:solidFill>
              <a:srgbClr val="D972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C6403EC-5B4B-0FEF-6943-D87EEF8BEDFA}"/>
              </a:ext>
            </a:extLst>
          </p:cNvPr>
          <p:cNvSpPr txBox="1"/>
          <p:nvPr/>
        </p:nvSpPr>
        <p:spPr>
          <a:xfrm>
            <a:off x="7327900" y="4749800"/>
            <a:ext cx="2743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800" b="1">
                <a:solidFill>
                  <a:srgbClr val="FFFFFF"/>
                </a:solidFill>
                <a:latin typeface="Aptos" panose="020B0004020202020204" pitchFamily="34" charset="0"/>
              </a:rPr>
              <a:t>AGENT 365 · EVIDENCE PENDING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A4A614CC-E854-253D-1EBB-A7D3E5B74683}"/>
              </a:ext>
            </a:extLst>
          </p:cNvPr>
          <p:cNvSpPr/>
          <p:nvPr/>
        </p:nvSpPr>
        <p:spPr>
          <a:xfrm>
            <a:off x="1143000" y="5207000"/>
            <a:ext cx="9906000" cy="482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BB73990-07D9-DC42-C6CF-FC24DBB9D713}"/>
              </a:ext>
            </a:extLst>
          </p:cNvPr>
          <p:cNvSpPr txBox="1"/>
          <p:nvPr/>
        </p:nvSpPr>
        <p:spPr>
          <a:xfrm>
            <a:off x="1397000" y="53340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000" b="1">
                <a:solidFill>
                  <a:srgbClr val="242124"/>
                </a:solidFill>
                <a:latin typeface="Aptos" panose="020B0004020202020204" pitchFamily="34" charset="0"/>
              </a:rPr>
              <a:t>Teams delivery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26631755-0C66-A26B-0138-4E6A742F9642}"/>
              </a:ext>
            </a:extLst>
          </p:cNvPr>
          <p:cNvSpPr/>
          <p:nvPr/>
        </p:nvSpPr>
        <p:spPr>
          <a:xfrm>
            <a:off x="4953000" y="5295900"/>
            <a:ext cx="1968500" cy="304800"/>
          </a:xfrm>
          <a:prstGeom prst="roundRect">
            <a:avLst/>
          </a:prstGeom>
          <a:solidFill>
            <a:srgbClr val="007AD2"/>
          </a:solidFill>
          <a:ln w="12700">
            <a:solidFill>
              <a:srgbClr val="007A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AC74A93-B20F-8E80-654F-30DB264983E4}"/>
              </a:ext>
            </a:extLst>
          </p:cNvPr>
          <p:cNvSpPr txBox="1"/>
          <p:nvPr/>
        </p:nvSpPr>
        <p:spPr>
          <a:xfrm>
            <a:off x="5041900" y="5359400"/>
            <a:ext cx="1790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800" b="1">
                <a:solidFill>
                  <a:srgbClr val="FFFFFF"/>
                </a:solidFill>
                <a:latin typeface="Aptos" panose="020B0004020202020204" pitchFamily="34" charset="0"/>
              </a:rPr>
              <a:t>FOUNDRY / AZURE · DEPLOYED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3A40DE92-BC51-D527-5D8A-55136DA4C6F6}"/>
              </a:ext>
            </a:extLst>
          </p:cNvPr>
          <p:cNvSpPr/>
          <p:nvPr/>
        </p:nvSpPr>
        <p:spPr>
          <a:xfrm>
            <a:off x="7239000" y="5295900"/>
            <a:ext cx="2921000" cy="304800"/>
          </a:xfrm>
          <a:prstGeom prst="roundRect">
            <a:avLst/>
          </a:prstGeom>
          <a:solidFill>
            <a:srgbClr val="D97216"/>
          </a:solidFill>
          <a:ln w="12700">
            <a:solidFill>
              <a:srgbClr val="D972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E02466A-B491-DD60-4DF8-2745EADC284C}"/>
              </a:ext>
            </a:extLst>
          </p:cNvPr>
          <p:cNvSpPr txBox="1"/>
          <p:nvPr/>
        </p:nvSpPr>
        <p:spPr>
          <a:xfrm>
            <a:off x="7327900" y="5359400"/>
            <a:ext cx="2743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800" b="1">
                <a:solidFill>
                  <a:srgbClr val="FFFFFF"/>
                </a:solidFill>
                <a:latin typeface="Aptos" panose="020B0004020202020204" pitchFamily="34" charset="0"/>
              </a:rPr>
              <a:t>AGENT 365 · EVIDENCE PENDING</a:t>
            </a:r>
          </a:p>
        </p:txBody>
      </p:sp>
    </p:spTree>
    <p:extLst>
      <p:ext uri="{BB962C8B-B14F-4D97-AF65-F5344CB8AC3E}">
        <p14:creationId xmlns:p14="http://schemas.microsoft.com/office/powerpoint/2010/main" val="22686353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E4E5E4-2FD7-6B43-304E-E5C3112B3D3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E2B30"/>
          </a:solidFill>
          <a:ln w="12700">
            <a:solidFill>
              <a:srgbClr val="2E2B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A8546F-3F4D-A2E5-F786-519207F88207}"/>
              </a:ext>
            </a:extLst>
          </p:cNvPr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A437B2"/>
          </a:solidFill>
          <a:ln w="12700">
            <a:solidFill>
              <a:srgbClr val="A437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35A7252-9E15-393F-26F3-A52BB2DD5265}"/>
              </a:ext>
            </a:extLst>
          </p:cNvPr>
          <p:cNvSpPr/>
          <p:nvPr/>
        </p:nvSpPr>
        <p:spPr>
          <a:xfrm>
            <a:off x="787400" y="787400"/>
            <a:ext cx="1905000" cy="304800"/>
          </a:xfrm>
          <a:prstGeom prst="roundRect">
            <a:avLst/>
          </a:prstGeom>
          <a:solidFill>
            <a:srgbClr val="A437B2"/>
          </a:solidFill>
          <a:ln w="12700">
            <a:solidFill>
              <a:srgbClr val="A437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2A3DA1-4876-9D52-EE6A-26891378AEC1}"/>
              </a:ext>
            </a:extLst>
          </p:cNvPr>
          <p:cNvSpPr txBox="1"/>
          <p:nvPr/>
        </p:nvSpPr>
        <p:spPr>
          <a:xfrm>
            <a:off x="876300" y="850900"/>
            <a:ext cx="1727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800" b="1">
                <a:solidFill>
                  <a:srgbClr val="FFFFFF"/>
                </a:solidFill>
                <a:latin typeface="Aptos" panose="020B0004020202020204" pitchFamily="34" charset="0"/>
              </a:rPr>
              <a:t>ACT 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7B2BAC-7078-2D31-558E-2FC79CCC8CA7}"/>
              </a:ext>
            </a:extLst>
          </p:cNvPr>
          <p:cNvSpPr txBox="1"/>
          <p:nvPr/>
        </p:nvSpPr>
        <p:spPr>
          <a:xfrm>
            <a:off x="787400" y="1968500"/>
            <a:ext cx="1003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3400" b="1">
                <a:solidFill>
                  <a:srgbClr val="FFFFFF"/>
                </a:solidFill>
                <a:latin typeface="Aptos Display" panose="020B0004020202020204" pitchFamily="34" charset="0"/>
              </a:rPr>
              <a:t>From unified data to shared business meaning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E4EEBF-E2B1-9EE3-1284-9CDB0705C439}"/>
              </a:ext>
            </a:extLst>
          </p:cNvPr>
          <p:cNvSpPr txBox="1"/>
          <p:nvPr/>
        </p:nvSpPr>
        <p:spPr>
          <a:xfrm>
            <a:off x="787400" y="3581400"/>
            <a:ext cx="965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500">
                <a:solidFill>
                  <a:srgbClr val="CFCCD2"/>
                </a:solidFill>
                <a:latin typeface="Aptos" panose="020B0004020202020204" pitchFamily="34" charset="0"/>
              </a:rPr>
              <a:t>Fabric IQ gives people and AI a connected language for the state of the business.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A1E909-BAC0-A2B6-477F-E6725E7614D3}"/>
              </a:ext>
            </a:extLst>
          </p:cNvPr>
          <p:cNvSpPr txBox="1"/>
          <p:nvPr/>
        </p:nvSpPr>
        <p:spPr>
          <a:xfrm>
            <a:off x="10414000" y="5080000"/>
            <a:ext cx="101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GB" sz="4400" b="1">
                <a:solidFill>
                  <a:srgbClr val="A437B2"/>
                </a:solidFill>
                <a:latin typeface="Aptos Display" panose="020B0004020202020204" pitchFamily="34" charset="0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5874648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C6FEE3A-247B-F699-06FB-9711B88B314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7"/>
          </a:solidFill>
          <a:ln w="12700">
            <a:solidFill>
              <a:srgbClr val="F8F7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F9E5DB-09DF-CFC9-A981-9C678E2F467B}"/>
              </a:ext>
            </a:extLst>
          </p:cNvPr>
          <p:cNvSpPr txBox="1"/>
          <p:nvPr/>
        </p:nvSpPr>
        <p:spPr>
          <a:xfrm>
            <a:off x="685800" y="3810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A437B2"/>
                </a:solidFill>
                <a:latin typeface="Aptos" panose="020B0004020202020204" pitchFamily="34" charset="0"/>
              </a:rPr>
              <a:t>FABRIC IQ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F5A416-F2E7-2B89-D0E5-8571310CF0CE}"/>
              </a:ext>
            </a:extLst>
          </p:cNvPr>
          <p:cNvSpPr txBox="1"/>
          <p:nvPr/>
        </p:nvSpPr>
        <p:spPr>
          <a:xfrm>
            <a:off x="685800" y="6858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2700" b="1">
                <a:solidFill>
                  <a:srgbClr val="242124"/>
                </a:solidFill>
                <a:latin typeface="Aptos Display" panose="020B0004020202020204" pitchFamily="34" charset="0"/>
              </a:rPr>
              <a:t>What Fabric IQ adds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53AF01-0841-F7E3-ADC4-96DC6572CFFD}"/>
              </a:ext>
            </a:extLst>
          </p:cNvPr>
          <p:cNvSpPr txBox="1"/>
          <p:nvPr/>
        </p:nvSpPr>
        <p:spPr>
          <a:xfrm>
            <a:off x="685800" y="14351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100">
                <a:solidFill>
                  <a:srgbClr val="69646A"/>
                </a:solidFill>
                <a:latin typeface="Aptos" panose="020B0004020202020204" pitchFamily="34" charset="0"/>
              </a:rPr>
              <a:t>A semantic foundation that connects data, models, rules, relationships, and actions.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38E0185-8AC5-4CBD-59A6-5FACC956FA27}"/>
              </a:ext>
            </a:extLst>
          </p:cNvPr>
          <p:cNvCxnSpPr/>
          <p:nvPr/>
        </p:nvCxnSpPr>
        <p:spPr>
          <a:xfrm>
            <a:off x="685800" y="6477000"/>
            <a:ext cx="10820400" cy="0"/>
          </a:xfrm>
          <a:prstGeom prst="line">
            <a:avLst/>
          </a:prstGeom>
          <a:ln>
            <a:solidFill>
              <a:srgbClr val="E3E1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2F207E2-5E8E-AE34-0470-A8AF9E27FFB9}"/>
              </a:ext>
            </a:extLst>
          </p:cNvPr>
          <p:cNvSpPr txBox="1"/>
          <p:nvPr/>
        </p:nvSpPr>
        <p:spPr>
          <a:xfrm>
            <a:off x="685800" y="65659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700" b="1">
                <a:solidFill>
                  <a:srgbClr val="69646A"/>
                </a:solidFill>
                <a:latin typeface="Aptos" panose="020B0004020202020204" pitchFamily="34" charset="0"/>
              </a:rPr>
              <a:t>FRONTIER RM · FABRIC IQ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D8EA2A-0405-6BA0-8DE6-1B000D5D5CF9}"/>
              </a:ext>
            </a:extLst>
          </p:cNvPr>
          <p:cNvSpPr txBox="1"/>
          <p:nvPr/>
        </p:nvSpPr>
        <p:spPr>
          <a:xfrm>
            <a:off x="10985500" y="65659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r"/>
            <a:r>
              <a:rPr lang="en-GB" sz="800" b="1">
                <a:solidFill>
                  <a:srgbClr val="69646A"/>
                </a:solidFill>
                <a:latin typeface="Aptos" panose="020B0004020202020204" pitchFamily="34" charset="0"/>
              </a:rPr>
              <a:t>33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E9D8792-B5FC-14DF-A23F-A76DD3529097}"/>
              </a:ext>
            </a:extLst>
          </p:cNvPr>
          <p:cNvSpPr/>
          <p:nvPr/>
        </p:nvSpPr>
        <p:spPr>
          <a:xfrm>
            <a:off x="685800" y="2286000"/>
            <a:ext cx="3302000" cy="2857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8F1917-E03A-C43D-EFC3-F7D22238CA32}"/>
              </a:ext>
            </a:extLst>
          </p:cNvPr>
          <p:cNvSpPr/>
          <p:nvPr/>
        </p:nvSpPr>
        <p:spPr>
          <a:xfrm>
            <a:off x="685800" y="2286000"/>
            <a:ext cx="88900" cy="2857500"/>
          </a:xfrm>
          <a:prstGeom prst="rect">
            <a:avLst/>
          </a:prstGeom>
          <a:solidFill>
            <a:srgbClr val="A437B2"/>
          </a:solidFill>
          <a:ln w="12700">
            <a:solidFill>
              <a:srgbClr val="A437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EA3536-4B35-4869-6AE4-39665D66DBFF}"/>
              </a:ext>
            </a:extLst>
          </p:cNvPr>
          <p:cNvSpPr txBox="1"/>
          <p:nvPr/>
        </p:nvSpPr>
        <p:spPr>
          <a:xfrm>
            <a:off x="927100" y="2476500"/>
            <a:ext cx="287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A437B2"/>
                </a:solidFill>
                <a:latin typeface="Aptos" panose="020B0004020202020204" pitchFamily="34" charset="0"/>
              </a:rPr>
              <a:t>MEANING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8C1C59-1535-531C-602C-301FCF63D50F}"/>
              </a:ext>
            </a:extLst>
          </p:cNvPr>
          <p:cNvSpPr txBox="1"/>
          <p:nvPr/>
        </p:nvSpPr>
        <p:spPr>
          <a:xfrm>
            <a:off x="927100" y="2794000"/>
            <a:ext cx="287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400" b="1">
                <a:solidFill>
                  <a:srgbClr val="242124"/>
                </a:solidFill>
                <a:latin typeface="Aptos Display" panose="020B0004020202020204" pitchFamily="34" charset="0"/>
              </a:rPr>
              <a:t>Unify semantics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4E8445-D95D-E366-580C-63C504291C21}"/>
              </a:ext>
            </a:extLst>
          </p:cNvPr>
          <p:cNvSpPr txBox="1"/>
          <p:nvPr/>
        </p:nvSpPr>
        <p:spPr>
          <a:xfrm>
            <a:off x="927100" y="3403600"/>
            <a:ext cx="287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50">
                <a:solidFill>
                  <a:srgbClr val="69646A"/>
                </a:solidFill>
                <a:latin typeface="Aptos" panose="020B0004020202020204" pitchFamily="34" charset="0"/>
              </a:rPr>
              <a:t>Shared definitions across data, models, rules, and actions.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89E3E0E-9040-B200-BBA0-54DDB7D73FC4}"/>
              </a:ext>
            </a:extLst>
          </p:cNvPr>
          <p:cNvSpPr/>
          <p:nvPr/>
        </p:nvSpPr>
        <p:spPr>
          <a:xfrm>
            <a:off x="4445000" y="2286000"/>
            <a:ext cx="3302000" cy="2857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C2795F5-2D9B-2478-0563-4442AF633447}"/>
              </a:ext>
            </a:extLst>
          </p:cNvPr>
          <p:cNvSpPr/>
          <p:nvPr/>
        </p:nvSpPr>
        <p:spPr>
          <a:xfrm>
            <a:off x="4445000" y="2286000"/>
            <a:ext cx="88900" cy="2857500"/>
          </a:xfrm>
          <a:prstGeom prst="rect">
            <a:avLst/>
          </a:prstGeom>
          <a:solidFill>
            <a:srgbClr val="008094"/>
          </a:solidFill>
          <a:ln w="12700">
            <a:solidFill>
              <a:srgbClr val="0080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29D7EC4-9B51-EB95-E3A2-B5B275FA5080}"/>
              </a:ext>
            </a:extLst>
          </p:cNvPr>
          <p:cNvSpPr txBox="1"/>
          <p:nvPr/>
        </p:nvSpPr>
        <p:spPr>
          <a:xfrm>
            <a:off x="4686300" y="2476500"/>
            <a:ext cx="287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008094"/>
                </a:solidFill>
                <a:latin typeface="Aptos" panose="020B0004020202020204" pitchFamily="34" charset="0"/>
              </a:rPr>
              <a:t>CONTEXT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FEE984-A2E7-297C-B93D-602A39FFD9B8}"/>
              </a:ext>
            </a:extLst>
          </p:cNvPr>
          <p:cNvSpPr txBox="1"/>
          <p:nvPr/>
        </p:nvSpPr>
        <p:spPr>
          <a:xfrm>
            <a:off x="4686300" y="2794000"/>
            <a:ext cx="287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400" b="1">
                <a:solidFill>
                  <a:srgbClr val="242124"/>
                </a:solidFill>
                <a:latin typeface="Aptos Display" panose="020B0004020202020204" pitchFamily="34" charset="0"/>
              </a:rPr>
              <a:t>Understand relationships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1D1059-1D98-AE75-7CF6-3718F7F8D164}"/>
              </a:ext>
            </a:extLst>
          </p:cNvPr>
          <p:cNvSpPr txBox="1"/>
          <p:nvPr/>
        </p:nvSpPr>
        <p:spPr>
          <a:xfrm>
            <a:off x="4686300" y="3403600"/>
            <a:ext cx="287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50">
                <a:solidFill>
                  <a:srgbClr val="69646A"/>
                </a:solidFill>
                <a:latin typeface="Aptos" panose="020B0004020202020204" pitchFamily="34" charset="0"/>
              </a:rPr>
              <a:t>Reason over business entities and what connects them.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F7CDE5E-23D1-2661-B06A-71F1BD667658}"/>
              </a:ext>
            </a:extLst>
          </p:cNvPr>
          <p:cNvSpPr/>
          <p:nvPr/>
        </p:nvSpPr>
        <p:spPr>
          <a:xfrm>
            <a:off x="8204200" y="2286000"/>
            <a:ext cx="3302000" cy="2857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60A95D0-0471-0E04-640C-4477BC83F06C}"/>
              </a:ext>
            </a:extLst>
          </p:cNvPr>
          <p:cNvSpPr/>
          <p:nvPr/>
        </p:nvSpPr>
        <p:spPr>
          <a:xfrm>
            <a:off x="8204200" y="2286000"/>
            <a:ext cx="88900" cy="2857500"/>
          </a:xfrm>
          <a:prstGeom prst="rect">
            <a:avLst/>
          </a:prstGeom>
          <a:solidFill>
            <a:srgbClr val="D97216"/>
          </a:solidFill>
          <a:ln w="12700">
            <a:solidFill>
              <a:srgbClr val="D972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F9C8F9B-5EAC-2D78-6886-FA10D1139CE1}"/>
              </a:ext>
            </a:extLst>
          </p:cNvPr>
          <p:cNvSpPr txBox="1"/>
          <p:nvPr/>
        </p:nvSpPr>
        <p:spPr>
          <a:xfrm>
            <a:off x="8445500" y="2476500"/>
            <a:ext cx="287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D97216"/>
                </a:solidFill>
                <a:latin typeface="Aptos" panose="020B0004020202020204" pitchFamily="34" charset="0"/>
              </a:rPr>
              <a:t>GROUNDING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088B257-6BC3-55BD-0BD7-5F9C1A63A324}"/>
              </a:ext>
            </a:extLst>
          </p:cNvPr>
          <p:cNvSpPr txBox="1"/>
          <p:nvPr/>
        </p:nvSpPr>
        <p:spPr>
          <a:xfrm>
            <a:off x="8445500" y="2794000"/>
            <a:ext cx="287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400" b="1">
                <a:solidFill>
                  <a:srgbClr val="242124"/>
                </a:solidFill>
                <a:latin typeface="Aptos Display" panose="020B0004020202020204" pitchFamily="34" charset="0"/>
              </a:rPr>
              <a:t>Power people + AI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F364E7C-7C0D-FA3D-C4FE-4099EAE43E31}"/>
              </a:ext>
            </a:extLst>
          </p:cNvPr>
          <p:cNvSpPr txBox="1"/>
          <p:nvPr/>
        </p:nvSpPr>
        <p:spPr>
          <a:xfrm>
            <a:off x="8445500" y="3403600"/>
            <a:ext cx="287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50">
                <a:solidFill>
                  <a:srgbClr val="69646A"/>
                </a:solidFill>
                <a:latin typeface="Aptos" panose="020B0004020202020204" pitchFamily="34" charset="0"/>
              </a:rPr>
              <a:t>Give analytics, Copilot, and agents consistent business context.</a:t>
            </a:r>
          </a:p>
        </p:txBody>
      </p:sp>
    </p:spTree>
    <p:extLst>
      <p:ext uri="{BB962C8B-B14F-4D97-AF65-F5344CB8AC3E}">
        <p14:creationId xmlns:p14="http://schemas.microsoft.com/office/powerpoint/2010/main" val="1271830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5B2F5D-6ECE-EEA5-F4AF-2F742E582CA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7"/>
          </a:solidFill>
          <a:ln w="12700">
            <a:solidFill>
              <a:srgbClr val="F8F7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D9D425-A079-BD9F-32A9-2282D19CA200}"/>
              </a:ext>
            </a:extLst>
          </p:cNvPr>
          <p:cNvSpPr txBox="1"/>
          <p:nvPr/>
        </p:nvSpPr>
        <p:spPr>
          <a:xfrm>
            <a:off x="685800" y="3810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A437B2"/>
                </a:solidFill>
                <a:latin typeface="Aptos" panose="020B0004020202020204" pitchFamily="34" charset="0"/>
              </a:rPr>
              <a:t>FABRIC IQ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971D6E-0FDF-ABD2-4675-D1AF69016505}"/>
              </a:ext>
            </a:extLst>
          </p:cNvPr>
          <p:cNvSpPr txBox="1"/>
          <p:nvPr/>
        </p:nvSpPr>
        <p:spPr>
          <a:xfrm>
            <a:off x="685800" y="6858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2700" b="1">
                <a:solidFill>
                  <a:srgbClr val="242124"/>
                </a:solidFill>
                <a:latin typeface="Aptos Display" panose="020B0004020202020204" pitchFamily="34" charset="0"/>
              </a:rPr>
              <a:t>Ontology: model the business, not just the tables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2033A6-3D33-3C83-C24D-3C1ACAE8CD2B}"/>
              </a:ext>
            </a:extLst>
          </p:cNvPr>
          <p:cNvSpPr txBox="1"/>
          <p:nvPr/>
        </p:nvSpPr>
        <p:spPr>
          <a:xfrm>
            <a:off x="685800" y="14351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100">
                <a:solidFill>
                  <a:srgbClr val="69646A"/>
                </a:solidFill>
                <a:latin typeface="Aptos" panose="020B0004020202020204" pitchFamily="34" charset="0"/>
              </a:rPr>
              <a:t>Business entities, relationships, and rules extend trusted semantics into connected intelligence.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70DB6DF-5C9F-C1E6-4080-72A7E06AEB07}"/>
              </a:ext>
            </a:extLst>
          </p:cNvPr>
          <p:cNvCxnSpPr/>
          <p:nvPr/>
        </p:nvCxnSpPr>
        <p:spPr>
          <a:xfrm>
            <a:off x="685800" y="6477000"/>
            <a:ext cx="10820400" cy="0"/>
          </a:xfrm>
          <a:prstGeom prst="line">
            <a:avLst/>
          </a:prstGeom>
          <a:ln>
            <a:solidFill>
              <a:srgbClr val="E3E1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43710EE-7D46-66FE-BDB1-0B0003A3582F}"/>
              </a:ext>
            </a:extLst>
          </p:cNvPr>
          <p:cNvSpPr txBox="1"/>
          <p:nvPr/>
        </p:nvSpPr>
        <p:spPr>
          <a:xfrm>
            <a:off x="685800" y="65659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700" b="1">
                <a:solidFill>
                  <a:srgbClr val="69646A"/>
                </a:solidFill>
                <a:latin typeface="Aptos" panose="020B0004020202020204" pitchFamily="34" charset="0"/>
              </a:rPr>
              <a:t>FRONTIER RM · FABRIC IQ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3E9186-2225-1B1B-7F27-AAD4DE2EE940}"/>
              </a:ext>
            </a:extLst>
          </p:cNvPr>
          <p:cNvSpPr txBox="1"/>
          <p:nvPr/>
        </p:nvSpPr>
        <p:spPr>
          <a:xfrm>
            <a:off x="10985500" y="65659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r"/>
            <a:r>
              <a:rPr lang="en-GB" sz="800" b="1">
                <a:solidFill>
                  <a:srgbClr val="69646A"/>
                </a:solidFill>
                <a:latin typeface="Aptos" panose="020B0004020202020204" pitchFamily="34" charset="0"/>
              </a:rPr>
              <a:t>34</a:t>
            </a:r>
          </a:p>
        </p:txBody>
      </p:sp>
      <p:sp>
        <p:nvSpPr>
          <p:cNvPr id="9" name="SCREENSHOT_ZONE_S34">
            <a:extLst>
              <a:ext uri="{FF2B5EF4-FFF2-40B4-BE49-F238E27FC236}">
                <a16:creationId xmlns:a16="http://schemas.microsoft.com/office/drawing/2014/main" id="{6A8B91AA-7F7B-A516-A37D-793A1B8F8444}"/>
              </a:ext>
            </a:extLst>
          </p:cNvPr>
          <p:cNvSpPr/>
          <p:nvPr/>
        </p:nvSpPr>
        <p:spPr>
          <a:xfrm>
            <a:off x="685800" y="2095500"/>
            <a:ext cx="7112000" cy="3746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437B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88B43DC-4F26-7286-FBC2-B1E513C7D262}"/>
              </a:ext>
            </a:extLst>
          </p:cNvPr>
          <p:cNvSpPr/>
          <p:nvPr/>
        </p:nvSpPr>
        <p:spPr>
          <a:xfrm>
            <a:off x="876300" y="2286000"/>
            <a:ext cx="2667000" cy="304800"/>
          </a:xfrm>
          <a:prstGeom prst="roundRect">
            <a:avLst/>
          </a:prstGeom>
          <a:solidFill>
            <a:srgbClr val="A437B2"/>
          </a:solidFill>
          <a:ln w="12700">
            <a:solidFill>
              <a:srgbClr val="A437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7AD711-700A-C87C-08A1-F0009EF96F68}"/>
              </a:ext>
            </a:extLst>
          </p:cNvPr>
          <p:cNvSpPr txBox="1"/>
          <p:nvPr/>
        </p:nvSpPr>
        <p:spPr>
          <a:xfrm>
            <a:off x="965200" y="2349500"/>
            <a:ext cx="2489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800" b="1">
                <a:solidFill>
                  <a:srgbClr val="FFFFFF"/>
                </a:solidFill>
                <a:latin typeface="Aptos" panose="020B0004020202020204" pitchFamily="34" charset="0"/>
              </a:rPr>
              <a:t>IMAGE PLACEHOLDER · FABRIC IQ ONTOLOGY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E74B7E-AC9F-7C88-88B4-FA3D9D5A76B5}"/>
              </a:ext>
            </a:extLst>
          </p:cNvPr>
          <p:cNvSpPr txBox="1"/>
          <p:nvPr/>
        </p:nvSpPr>
        <p:spPr>
          <a:xfrm>
            <a:off x="3987800" y="352425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GB" sz="2400" b="1">
                <a:solidFill>
                  <a:srgbClr val="A437B2"/>
                </a:solidFill>
                <a:latin typeface="Segoe UI Symbol" panose="020B0502040204020203" pitchFamily="34" charset="0"/>
              </a:rPr>
              <a:t>▧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0A0174-2A47-C89B-847E-FF131110F4BC}"/>
              </a:ext>
            </a:extLst>
          </p:cNvPr>
          <p:cNvSpPr txBox="1"/>
          <p:nvPr/>
        </p:nvSpPr>
        <p:spPr>
          <a:xfrm>
            <a:off x="1041400" y="4070350"/>
            <a:ext cx="6400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100" b="1">
                <a:solidFill>
                  <a:srgbClr val="242124"/>
                </a:solidFill>
                <a:latin typeface="Aptos" panose="020B0004020202020204" pitchFamily="34" charset="0"/>
              </a:rPr>
              <a:t>Insert deployed definition, entity map, or graph view.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42E62F-7C4D-33C2-095A-CA08E35B24A7}"/>
              </a:ext>
            </a:extLst>
          </p:cNvPr>
          <p:cNvSpPr txBox="1"/>
          <p:nvPr/>
        </p:nvSpPr>
        <p:spPr>
          <a:xfrm>
            <a:off x="1003300" y="5397500"/>
            <a:ext cx="647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800">
                <a:solidFill>
                  <a:srgbClr val="69646A"/>
                </a:solidFill>
                <a:latin typeface="Aptos" panose="020B0004020202020204" pitchFamily="34" charset="0"/>
              </a:rPr>
              <a:t>Replace this zone with your screenshot; retain the slide title and adjacent callouts.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464DFEB-8813-1632-8FBE-72D9E0C04F93}"/>
              </a:ext>
            </a:extLst>
          </p:cNvPr>
          <p:cNvSpPr/>
          <p:nvPr/>
        </p:nvSpPr>
        <p:spPr>
          <a:xfrm>
            <a:off x="8191500" y="2413000"/>
            <a:ext cx="3314700" cy="25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F4203CC-5FB3-F304-F153-2360F4EAEFA3}"/>
              </a:ext>
            </a:extLst>
          </p:cNvPr>
          <p:cNvSpPr/>
          <p:nvPr/>
        </p:nvSpPr>
        <p:spPr>
          <a:xfrm>
            <a:off x="8191500" y="2413000"/>
            <a:ext cx="88900" cy="2540000"/>
          </a:xfrm>
          <a:prstGeom prst="rect">
            <a:avLst/>
          </a:prstGeom>
          <a:solidFill>
            <a:srgbClr val="A437B2"/>
          </a:solidFill>
          <a:ln w="12700">
            <a:solidFill>
              <a:srgbClr val="A437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BD01A4-B03E-66AF-D08B-328C8A1D066B}"/>
              </a:ext>
            </a:extLst>
          </p:cNvPr>
          <p:cNvSpPr txBox="1"/>
          <p:nvPr/>
        </p:nvSpPr>
        <p:spPr>
          <a:xfrm>
            <a:off x="8432800" y="2603500"/>
            <a:ext cx="2882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A437B2"/>
                </a:solidFill>
                <a:latin typeface="Aptos" panose="020B0004020202020204" pitchFamily="34" charset="0"/>
              </a:rPr>
              <a:t>DEPLOYED DEFINITION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BE5D28F-C7E8-9BB4-D21C-E7C64FB2148E}"/>
              </a:ext>
            </a:extLst>
          </p:cNvPr>
          <p:cNvSpPr txBox="1"/>
          <p:nvPr/>
        </p:nvSpPr>
        <p:spPr>
          <a:xfrm>
            <a:off x="8432800" y="2921000"/>
            <a:ext cx="2882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400" b="1">
                <a:solidFill>
                  <a:srgbClr val="242124"/>
                </a:solidFill>
                <a:latin typeface="Aptos Display" panose="020B0004020202020204" pitchFamily="34" charset="0"/>
              </a:rPr>
              <a:t>15 entities · 13 relationships · 15 bindings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7C346F5-4D4E-E3ED-0077-4C10045D2AAC}"/>
              </a:ext>
            </a:extLst>
          </p:cNvPr>
          <p:cNvSpPr txBox="1"/>
          <p:nvPr/>
        </p:nvSpPr>
        <p:spPr>
          <a:xfrm>
            <a:off x="8432800" y="3530600"/>
            <a:ext cx="2882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50">
                <a:solidFill>
                  <a:srgbClr val="69646A"/>
                </a:solidFill>
                <a:latin typeface="Aptos" panose="020B0004020202020204" pitchFamily="34" charset="0"/>
              </a:rPr>
              <a:t>Definition readback is validated. Live graph traversal is not claimed.</a:t>
            </a:r>
          </a:p>
        </p:txBody>
      </p:sp>
    </p:spTree>
    <p:extLst>
      <p:ext uri="{BB962C8B-B14F-4D97-AF65-F5344CB8AC3E}">
        <p14:creationId xmlns:p14="http://schemas.microsoft.com/office/powerpoint/2010/main" val="31735599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10E62B5-B80F-BBDB-1551-F38518D71AF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7"/>
          </a:solidFill>
          <a:ln w="12700">
            <a:solidFill>
              <a:srgbClr val="F8F7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213C7A-38AF-3108-1B08-C413339C968C}"/>
              </a:ext>
            </a:extLst>
          </p:cNvPr>
          <p:cNvSpPr txBox="1"/>
          <p:nvPr/>
        </p:nvSpPr>
        <p:spPr>
          <a:xfrm>
            <a:off x="685800" y="3810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A437B2"/>
                </a:solidFill>
                <a:latin typeface="Aptos" panose="020B0004020202020204" pitchFamily="34" charset="0"/>
              </a:rPr>
              <a:t>FABRIC IQ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8BC0F4-7373-8D93-E53E-C68452EA29E7}"/>
              </a:ext>
            </a:extLst>
          </p:cNvPr>
          <p:cNvSpPr txBox="1"/>
          <p:nvPr/>
        </p:nvSpPr>
        <p:spPr>
          <a:xfrm>
            <a:off x="685800" y="6858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2700" b="1">
                <a:solidFill>
                  <a:srgbClr val="242124"/>
                </a:solidFill>
                <a:latin typeface="Aptos Display" panose="020B0004020202020204" pitchFamily="34" charset="0"/>
              </a:rPr>
              <a:t>The IQ value chain: data → meaning → context → action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CAB83C-B92F-F09B-31BE-FE5970FE3AE3}"/>
              </a:ext>
            </a:extLst>
          </p:cNvPr>
          <p:cNvSpPr txBox="1"/>
          <p:nvPr/>
        </p:nvSpPr>
        <p:spPr>
          <a:xfrm>
            <a:off x="685800" y="14351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100">
                <a:solidFill>
                  <a:srgbClr val="69646A"/>
                </a:solidFill>
                <a:latin typeface="Aptos" panose="020B0004020202020204" pitchFamily="34" charset="0"/>
              </a:rPr>
              <a:t>Connected intelligence is a sequence of governed contracts, not one opaque model.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970EAFB-B6E6-A616-43EC-6A6200F8E401}"/>
              </a:ext>
            </a:extLst>
          </p:cNvPr>
          <p:cNvCxnSpPr/>
          <p:nvPr/>
        </p:nvCxnSpPr>
        <p:spPr>
          <a:xfrm>
            <a:off x="685800" y="6477000"/>
            <a:ext cx="10820400" cy="0"/>
          </a:xfrm>
          <a:prstGeom prst="line">
            <a:avLst/>
          </a:prstGeom>
          <a:ln>
            <a:solidFill>
              <a:srgbClr val="E3E1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33C3C63-5FCA-0EC7-CF83-1CE6851FD1B8}"/>
              </a:ext>
            </a:extLst>
          </p:cNvPr>
          <p:cNvSpPr txBox="1"/>
          <p:nvPr/>
        </p:nvSpPr>
        <p:spPr>
          <a:xfrm>
            <a:off x="685800" y="65659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700" b="1">
                <a:solidFill>
                  <a:srgbClr val="69646A"/>
                </a:solidFill>
                <a:latin typeface="Aptos" panose="020B0004020202020204" pitchFamily="34" charset="0"/>
              </a:rPr>
              <a:t>FRONTIER RM · FABRIC IQ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25636E-C848-1312-CFFB-E141912364F5}"/>
              </a:ext>
            </a:extLst>
          </p:cNvPr>
          <p:cNvSpPr txBox="1"/>
          <p:nvPr/>
        </p:nvSpPr>
        <p:spPr>
          <a:xfrm>
            <a:off x="10985500" y="65659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r"/>
            <a:r>
              <a:rPr lang="en-GB" sz="800" b="1">
                <a:solidFill>
                  <a:srgbClr val="69646A"/>
                </a:solidFill>
                <a:latin typeface="Aptos" panose="020B0004020202020204" pitchFamily="34" charset="0"/>
              </a:rPr>
              <a:t>35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A23791C-4F20-9054-553B-1F5CD371A423}"/>
              </a:ext>
            </a:extLst>
          </p:cNvPr>
          <p:cNvSpPr/>
          <p:nvPr/>
        </p:nvSpPr>
        <p:spPr>
          <a:xfrm>
            <a:off x="685800" y="2794000"/>
            <a:ext cx="1940560" cy="965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0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5ED828-0DE0-94E1-BBE5-2997A42E08D9}"/>
              </a:ext>
            </a:extLst>
          </p:cNvPr>
          <p:cNvSpPr txBox="1"/>
          <p:nvPr/>
        </p:nvSpPr>
        <p:spPr>
          <a:xfrm>
            <a:off x="812800" y="29337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008094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745E57-1979-66C5-AE2E-52DCF00BF2E8}"/>
              </a:ext>
            </a:extLst>
          </p:cNvPr>
          <p:cNvSpPr txBox="1"/>
          <p:nvPr/>
        </p:nvSpPr>
        <p:spPr>
          <a:xfrm>
            <a:off x="812800" y="3225800"/>
            <a:ext cx="168656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050" b="1">
                <a:solidFill>
                  <a:srgbClr val="242124"/>
                </a:solidFill>
                <a:latin typeface="Aptos" panose="020B0004020202020204" pitchFamily="34" charset="0"/>
              </a:rPr>
              <a:t>OneLake + Fabric data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962B92-DE8A-7F54-5C70-1CD5C38EB4C3}"/>
              </a:ext>
            </a:extLst>
          </p:cNvPr>
          <p:cNvSpPr txBox="1"/>
          <p:nvPr/>
        </p:nvSpPr>
        <p:spPr>
          <a:xfrm>
            <a:off x="2664460" y="3124200"/>
            <a:ext cx="215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200" b="1">
                <a:solidFill>
                  <a:srgbClr val="69646A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648B62A-6D4D-0D44-30AC-013D29CE909D}"/>
              </a:ext>
            </a:extLst>
          </p:cNvPr>
          <p:cNvSpPr/>
          <p:nvPr/>
        </p:nvSpPr>
        <p:spPr>
          <a:xfrm>
            <a:off x="2905760" y="2794000"/>
            <a:ext cx="1940560" cy="965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437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AB3373-D510-4738-C9B1-B1BF96E38259}"/>
              </a:ext>
            </a:extLst>
          </p:cNvPr>
          <p:cNvSpPr txBox="1"/>
          <p:nvPr/>
        </p:nvSpPr>
        <p:spPr>
          <a:xfrm>
            <a:off x="3032760" y="29337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A437B2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34BDCB-E680-80A5-1415-1DA1207AF111}"/>
              </a:ext>
            </a:extLst>
          </p:cNvPr>
          <p:cNvSpPr txBox="1"/>
          <p:nvPr/>
        </p:nvSpPr>
        <p:spPr>
          <a:xfrm>
            <a:off x="3032760" y="3225800"/>
            <a:ext cx="168656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050" b="1">
                <a:solidFill>
                  <a:srgbClr val="242124"/>
                </a:solidFill>
                <a:latin typeface="Aptos" panose="020B0004020202020204" pitchFamily="34" charset="0"/>
              </a:rPr>
              <a:t>Semantic model + Ontology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E4E74A-5942-6314-9FE9-F818A4C737A1}"/>
              </a:ext>
            </a:extLst>
          </p:cNvPr>
          <p:cNvSpPr txBox="1"/>
          <p:nvPr/>
        </p:nvSpPr>
        <p:spPr>
          <a:xfrm>
            <a:off x="4884420" y="3124200"/>
            <a:ext cx="215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200" b="1">
                <a:solidFill>
                  <a:srgbClr val="69646A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C6A0A88-B242-F503-C450-D735E2D16925}"/>
              </a:ext>
            </a:extLst>
          </p:cNvPr>
          <p:cNvSpPr/>
          <p:nvPr/>
        </p:nvSpPr>
        <p:spPr>
          <a:xfrm>
            <a:off x="5125720" y="2794000"/>
            <a:ext cx="1940560" cy="965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A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E803428-FB81-C054-A657-6FF97B11C1A1}"/>
              </a:ext>
            </a:extLst>
          </p:cNvPr>
          <p:cNvSpPr txBox="1"/>
          <p:nvPr/>
        </p:nvSpPr>
        <p:spPr>
          <a:xfrm>
            <a:off x="5252720" y="29337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007AD2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8BB95AE-3C9A-7728-A2A5-D87B96BA65AA}"/>
              </a:ext>
            </a:extLst>
          </p:cNvPr>
          <p:cNvSpPr txBox="1"/>
          <p:nvPr/>
        </p:nvSpPr>
        <p:spPr>
          <a:xfrm>
            <a:off x="5252720" y="3225800"/>
            <a:ext cx="168656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050" b="1">
                <a:solidFill>
                  <a:srgbClr val="242124"/>
                </a:solidFill>
                <a:latin typeface="Aptos" panose="020B0004020202020204" pitchFamily="34" charset="0"/>
              </a:rPr>
              <a:t>Data Agent + Copilot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381E08-486D-3027-041E-D23F4B8E472A}"/>
              </a:ext>
            </a:extLst>
          </p:cNvPr>
          <p:cNvSpPr txBox="1"/>
          <p:nvPr/>
        </p:nvSpPr>
        <p:spPr>
          <a:xfrm>
            <a:off x="7104380" y="3124200"/>
            <a:ext cx="215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200" b="1">
                <a:solidFill>
                  <a:srgbClr val="69646A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638DCB9-69CF-1E71-570B-09666A96A3DE}"/>
              </a:ext>
            </a:extLst>
          </p:cNvPr>
          <p:cNvSpPr/>
          <p:nvPr/>
        </p:nvSpPr>
        <p:spPr>
          <a:xfrm>
            <a:off x="7345680" y="2794000"/>
            <a:ext cx="1940560" cy="965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2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41CF6F1-28CE-DCC1-3A55-64EAE7CBEE78}"/>
              </a:ext>
            </a:extLst>
          </p:cNvPr>
          <p:cNvSpPr txBox="1"/>
          <p:nvPr/>
        </p:nvSpPr>
        <p:spPr>
          <a:xfrm>
            <a:off x="7472680" y="29337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D97216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946F97-D205-2221-3A44-291924674066}"/>
              </a:ext>
            </a:extLst>
          </p:cNvPr>
          <p:cNvSpPr txBox="1"/>
          <p:nvPr/>
        </p:nvSpPr>
        <p:spPr>
          <a:xfrm>
            <a:off x="7472680" y="3225800"/>
            <a:ext cx="168656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050" b="1">
                <a:solidFill>
                  <a:srgbClr val="242124"/>
                </a:solidFill>
                <a:latin typeface="Aptos" panose="020B0004020202020204" pitchFamily="34" charset="0"/>
              </a:rPr>
              <a:t>Foundry specialists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B17286-088A-B7F8-0FC0-FAB9EB7BF8EC}"/>
              </a:ext>
            </a:extLst>
          </p:cNvPr>
          <p:cNvSpPr txBox="1"/>
          <p:nvPr/>
        </p:nvSpPr>
        <p:spPr>
          <a:xfrm>
            <a:off x="9324340" y="3124200"/>
            <a:ext cx="215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200" b="1">
                <a:solidFill>
                  <a:srgbClr val="69646A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5DC46A2-6DB3-7165-013E-42D1742C84B9}"/>
              </a:ext>
            </a:extLst>
          </p:cNvPr>
          <p:cNvSpPr/>
          <p:nvPr/>
        </p:nvSpPr>
        <p:spPr>
          <a:xfrm>
            <a:off x="9565640" y="2794000"/>
            <a:ext cx="1940560" cy="965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7A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5EE4015-C559-2E0F-1612-925C3C2C6C27}"/>
              </a:ext>
            </a:extLst>
          </p:cNvPr>
          <p:cNvSpPr txBox="1"/>
          <p:nvPr/>
        </p:nvSpPr>
        <p:spPr>
          <a:xfrm>
            <a:off x="9692640" y="29337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217A4F"/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598B863-08EC-D5E7-5E72-1315B7E27A91}"/>
              </a:ext>
            </a:extLst>
          </p:cNvPr>
          <p:cNvSpPr txBox="1"/>
          <p:nvPr/>
        </p:nvSpPr>
        <p:spPr>
          <a:xfrm>
            <a:off x="9692640" y="3225800"/>
            <a:ext cx="168656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050" b="1">
                <a:solidFill>
                  <a:srgbClr val="242124"/>
                </a:solidFill>
                <a:latin typeface="Aptos" panose="020B0004020202020204" pitchFamily="34" charset="0"/>
              </a:rPr>
              <a:t>RM-approved action</a:t>
            </a:r>
          </a:p>
        </p:txBody>
      </p:sp>
    </p:spTree>
    <p:extLst>
      <p:ext uri="{BB962C8B-B14F-4D97-AF65-F5344CB8AC3E}">
        <p14:creationId xmlns:p14="http://schemas.microsoft.com/office/powerpoint/2010/main" val="38502475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DB9ADF9-C3A4-42AC-25FD-865B94B89E5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7"/>
          </a:solidFill>
          <a:ln w="12700">
            <a:solidFill>
              <a:srgbClr val="F8F7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715880-C248-C06F-445F-A65A49B99BCC}"/>
              </a:ext>
            </a:extLst>
          </p:cNvPr>
          <p:cNvSpPr txBox="1"/>
          <p:nvPr/>
        </p:nvSpPr>
        <p:spPr>
          <a:xfrm>
            <a:off x="685800" y="3810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A437B2"/>
                </a:solidFill>
                <a:latin typeface="Aptos" panose="020B0004020202020204" pitchFamily="34" charset="0"/>
              </a:rPr>
              <a:t>FABRIC IQ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734253-0FD9-AF35-C64E-84DC2ADBF9D0}"/>
              </a:ext>
            </a:extLst>
          </p:cNvPr>
          <p:cNvSpPr txBox="1"/>
          <p:nvPr/>
        </p:nvSpPr>
        <p:spPr>
          <a:xfrm>
            <a:off x="685800" y="6858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2700" b="1">
                <a:solidFill>
                  <a:srgbClr val="242124"/>
                </a:solidFill>
                <a:latin typeface="Aptos Display" panose="020B0004020202020204" pitchFamily="34" charset="0"/>
              </a:rPr>
              <a:t>Fabric IQ in the RM workflow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1906F6-9E3C-19C9-8949-44D84A7E61F7}"/>
              </a:ext>
            </a:extLst>
          </p:cNvPr>
          <p:cNvSpPr txBox="1"/>
          <p:nvPr/>
        </p:nvSpPr>
        <p:spPr>
          <a:xfrm>
            <a:off x="685800" y="14351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100">
                <a:solidFill>
                  <a:srgbClr val="69646A"/>
                </a:solidFill>
                <a:latin typeface="Aptos" panose="020B0004020202020204" pitchFamily="34" charset="0"/>
              </a:rPr>
              <a:t>The same model becomes more tailored and explainable when grounded in governed enterprise context.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1EE5915-9BEC-15CF-976A-89AF865DE6F6}"/>
              </a:ext>
            </a:extLst>
          </p:cNvPr>
          <p:cNvCxnSpPr/>
          <p:nvPr/>
        </p:nvCxnSpPr>
        <p:spPr>
          <a:xfrm>
            <a:off x="685800" y="6477000"/>
            <a:ext cx="10820400" cy="0"/>
          </a:xfrm>
          <a:prstGeom prst="line">
            <a:avLst/>
          </a:prstGeom>
          <a:ln>
            <a:solidFill>
              <a:srgbClr val="E3E1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8A52445-C943-9EB6-6259-56475E813EA7}"/>
              </a:ext>
            </a:extLst>
          </p:cNvPr>
          <p:cNvSpPr txBox="1"/>
          <p:nvPr/>
        </p:nvSpPr>
        <p:spPr>
          <a:xfrm>
            <a:off x="685800" y="65659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700" b="1">
                <a:solidFill>
                  <a:srgbClr val="69646A"/>
                </a:solidFill>
                <a:latin typeface="Aptos" panose="020B0004020202020204" pitchFamily="34" charset="0"/>
              </a:rPr>
              <a:t>FRONTIER RM · FABRIC IQ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E003F9-4682-36A6-066F-38E2095E3E38}"/>
              </a:ext>
            </a:extLst>
          </p:cNvPr>
          <p:cNvSpPr txBox="1"/>
          <p:nvPr/>
        </p:nvSpPr>
        <p:spPr>
          <a:xfrm>
            <a:off x="10985500" y="65659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r"/>
            <a:r>
              <a:rPr lang="en-GB" sz="800" b="1">
                <a:solidFill>
                  <a:srgbClr val="69646A"/>
                </a:solidFill>
                <a:latin typeface="Aptos" panose="020B0004020202020204" pitchFamily="34" charset="0"/>
              </a:rPr>
              <a:t>36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321AF02-DF92-14A8-F461-1EF01F29F7D8}"/>
              </a:ext>
            </a:extLst>
          </p:cNvPr>
          <p:cNvSpPr/>
          <p:nvPr/>
        </p:nvSpPr>
        <p:spPr>
          <a:xfrm>
            <a:off x="1016000" y="2349500"/>
            <a:ext cx="4508500" cy="279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C61A54-8553-6933-44CC-F638D424D216}"/>
              </a:ext>
            </a:extLst>
          </p:cNvPr>
          <p:cNvSpPr/>
          <p:nvPr/>
        </p:nvSpPr>
        <p:spPr>
          <a:xfrm>
            <a:off x="1016000" y="2349500"/>
            <a:ext cx="88900" cy="2794000"/>
          </a:xfrm>
          <a:prstGeom prst="rect">
            <a:avLst/>
          </a:prstGeom>
          <a:solidFill>
            <a:srgbClr val="69646A"/>
          </a:solidFill>
          <a:ln w="12700">
            <a:solidFill>
              <a:srgbClr val="6964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4D7BA5-B1D4-FB3D-D8B6-99C01F0E0BB6}"/>
              </a:ext>
            </a:extLst>
          </p:cNvPr>
          <p:cNvSpPr txBox="1"/>
          <p:nvPr/>
        </p:nvSpPr>
        <p:spPr>
          <a:xfrm>
            <a:off x="1257300" y="2540000"/>
            <a:ext cx="4076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69646A"/>
                </a:solidFill>
                <a:latin typeface="Aptos" panose="020B0004020202020204" pitchFamily="34" charset="0"/>
              </a:rPr>
              <a:t>WITHOUT IQ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F54716-B663-9ECF-2A56-3DD32E90CAB6}"/>
              </a:ext>
            </a:extLst>
          </p:cNvPr>
          <p:cNvSpPr txBox="1"/>
          <p:nvPr/>
        </p:nvSpPr>
        <p:spPr>
          <a:xfrm>
            <a:off x="1257300" y="2857500"/>
            <a:ext cx="4076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400" b="1">
                <a:solidFill>
                  <a:srgbClr val="242124"/>
                </a:solidFill>
                <a:latin typeface="Aptos Display" panose="020B0004020202020204" pitchFamily="34" charset="0"/>
              </a:rPr>
              <a:t>General AI draft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6F25EA-7D9F-0742-3FB9-E47273E2CE68}"/>
              </a:ext>
            </a:extLst>
          </p:cNvPr>
          <p:cNvSpPr txBox="1"/>
          <p:nvPr/>
        </p:nvSpPr>
        <p:spPr>
          <a:xfrm>
            <a:off x="1257300" y="3467100"/>
            <a:ext cx="4076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50">
                <a:solidFill>
                  <a:srgbClr val="69646A"/>
                </a:solidFill>
                <a:latin typeface="Aptos" panose="020B0004020202020204" pitchFamily="34" charset="0"/>
              </a:rPr>
              <a:t>Basic client facts · generic framing · mandatory safety checks · no enterprise citations.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A74D05A-9E97-0232-835F-E37C5984C752}"/>
              </a:ext>
            </a:extLst>
          </p:cNvPr>
          <p:cNvSpPr/>
          <p:nvPr/>
        </p:nvSpPr>
        <p:spPr>
          <a:xfrm>
            <a:off x="6667500" y="2349500"/>
            <a:ext cx="4508500" cy="279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2865EA-347D-1186-8BCB-78265836E2D4}"/>
              </a:ext>
            </a:extLst>
          </p:cNvPr>
          <p:cNvSpPr/>
          <p:nvPr/>
        </p:nvSpPr>
        <p:spPr>
          <a:xfrm>
            <a:off x="6667500" y="2349500"/>
            <a:ext cx="88900" cy="2794000"/>
          </a:xfrm>
          <a:prstGeom prst="rect">
            <a:avLst/>
          </a:prstGeom>
          <a:solidFill>
            <a:srgbClr val="A437B2"/>
          </a:solidFill>
          <a:ln w="12700">
            <a:solidFill>
              <a:srgbClr val="A437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9218F3-FEC2-543B-B198-569A2D2E183E}"/>
              </a:ext>
            </a:extLst>
          </p:cNvPr>
          <p:cNvSpPr txBox="1"/>
          <p:nvPr/>
        </p:nvSpPr>
        <p:spPr>
          <a:xfrm>
            <a:off x="6908800" y="2540000"/>
            <a:ext cx="4076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A437B2"/>
                </a:solidFill>
                <a:latin typeface="Aptos" panose="020B0004020202020204" pitchFamily="34" charset="0"/>
              </a:rPr>
              <a:t>WITH FABRIC IQ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4BF359-2EB6-ABA4-7BD9-D873A088B7CC}"/>
              </a:ext>
            </a:extLst>
          </p:cNvPr>
          <p:cNvSpPr txBox="1"/>
          <p:nvPr/>
        </p:nvSpPr>
        <p:spPr>
          <a:xfrm>
            <a:off x="6908800" y="2857500"/>
            <a:ext cx="4076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400" b="1">
                <a:solidFill>
                  <a:srgbClr val="242124"/>
                </a:solidFill>
                <a:latin typeface="Aptos Display" panose="020B0004020202020204" pitchFamily="34" charset="0"/>
              </a:rPr>
              <a:t>Governed RM artifact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15A0688-6F67-FE1D-47A4-21E88D4E50F0}"/>
              </a:ext>
            </a:extLst>
          </p:cNvPr>
          <p:cNvSpPr txBox="1"/>
          <p:nvPr/>
        </p:nvSpPr>
        <p:spPr>
          <a:xfrm>
            <a:off x="6908800" y="3467100"/>
            <a:ext cx="4076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50">
                <a:solidFill>
                  <a:srgbClr val="69646A"/>
                </a:solidFill>
                <a:latin typeface="Aptos" panose="020B0004020202020204" pitchFamily="34" charset="0"/>
              </a:rPr>
              <a:t>Client 360 · sources · Houseview · activity · relationships · controls · provenance.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3627AD-7786-5583-A39F-2B218A76F1D3}"/>
              </a:ext>
            </a:extLst>
          </p:cNvPr>
          <p:cNvSpPr txBox="1"/>
          <p:nvPr/>
        </p:nvSpPr>
        <p:spPr>
          <a:xfrm>
            <a:off x="3302000" y="5588000"/>
            <a:ext cx="558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200" b="1">
                <a:solidFill>
                  <a:srgbClr val="A437B2"/>
                </a:solidFill>
                <a:latin typeface="Aptos" panose="020B0004020202020204" pitchFamily="34" charset="0"/>
              </a:rPr>
              <a:t>Same gpt-4.1-mini deployment · different context envelope</a:t>
            </a:r>
          </a:p>
        </p:txBody>
      </p:sp>
    </p:spTree>
    <p:extLst>
      <p:ext uri="{BB962C8B-B14F-4D97-AF65-F5344CB8AC3E}">
        <p14:creationId xmlns:p14="http://schemas.microsoft.com/office/powerpoint/2010/main" val="27965288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06BAB2A-8589-E41A-BE80-BB1928B190B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7"/>
          </a:solidFill>
          <a:ln w="12700">
            <a:solidFill>
              <a:srgbClr val="F8F7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C1A658-E951-4D14-004F-01530F6B8604}"/>
              </a:ext>
            </a:extLst>
          </p:cNvPr>
          <p:cNvSpPr txBox="1"/>
          <p:nvPr/>
        </p:nvSpPr>
        <p:spPr>
          <a:xfrm>
            <a:off x="685800" y="3810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D97216"/>
                </a:solidFill>
                <a:latin typeface="Aptos" panose="020B0004020202020204" pitchFamily="34" charset="0"/>
              </a:rPr>
              <a:t>FABRIC IQ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8DB8D4-D60E-F080-A18D-708E9DF3BB6E}"/>
              </a:ext>
            </a:extLst>
          </p:cNvPr>
          <p:cNvSpPr txBox="1"/>
          <p:nvPr/>
        </p:nvSpPr>
        <p:spPr>
          <a:xfrm>
            <a:off x="685800" y="6858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2700" b="1">
                <a:solidFill>
                  <a:srgbClr val="242124"/>
                </a:solidFill>
                <a:latin typeface="Aptos Display" panose="020B0004020202020204" pitchFamily="34" charset="0"/>
              </a:rPr>
              <a:t>Fabric Data Agent, Foundry, and Agent 365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68C939-A133-4663-7341-EE16DBB5E345}"/>
              </a:ext>
            </a:extLst>
          </p:cNvPr>
          <p:cNvSpPr txBox="1"/>
          <p:nvPr/>
        </p:nvSpPr>
        <p:spPr>
          <a:xfrm>
            <a:off x="685800" y="14351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100">
                <a:solidFill>
                  <a:srgbClr val="69646A"/>
                </a:solidFill>
                <a:latin typeface="Aptos" panose="020B0004020202020204" pitchFamily="34" charset="0"/>
              </a:rPr>
              <a:t>Governed retrieval, specialist orchestration, enterprise control, and human review are distinct responsibilities.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92B64D-7FF2-3AE4-28CE-6E839C0A51B9}"/>
              </a:ext>
            </a:extLst>
          </p:cNvPr>
          <p:cNvCxnSpPr/>
          <p:nvPr/>
        </p:nvCxnSpPr>
        <p:spPr>
          <a:xfrm>
            <a:off x="685800" y="6477000"/>
            <a:ext cx="10820400" cy="0"/>
          </a:xfrm>
          <a:prstGeom prst="line">
            <a:avLst/>
          </a:prstGeom>
          <a:ln>
            <a:solidFill>
              <a:srgbClr val="E3E1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DDC006C-1EA8-C30C-5B6D-3259A1BF45BE}"/>
              </a:ext>
            </a:extLst>
          </p:cNvPr>
          <p:cNvSpPr txBox="1"/>
          <p:nvPr/>
        </p:nvSpPr>
        <p:spPr>
          <a:xfrm>
            <a:off x="685800" y="65659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700" b="1">
                <a:solidFill>
                  <a:srgbClr val="69646A"/>
                </a:solidFill>
                <a:latin typeface="Aptos" panose="020B0004020202020204" pitchFamily="34" charset="0"/>
              </a:rPr>
              <a:t>FRONTIER RM · FABRIC IQ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CE3F8C-6B8C-082C-5E70-E6BDFD67EF1E}"/>
              </a:ext>
            </a:extLst>
          </p:cNvPr>
          <p:cNvSpPr txBox="1"/>
          <p:nvPr/>
        </p:nvSpPr>
        <p:spPr>
          <a:xfrm>
            <a:off x="10985500" y="65659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r"/>
            <a:r>
              <a:rPr lang="en-GB" sz="800" b="1">
                <a:solidFill>
                  <a:srgbClr val="69646A"/>
                </a:solidFill>
                <a:latin typeface="Aptos" panose="020B0004020202020204" pitchFamily="34" charset="0"/>
              </a:rPr>
              <a:t>37</a:t>
            </a:r>
          </a:p>
        </p:txBody>
      </p:sp>
      <p:sp>
        <p:nvSpPr>
          <p:cNvPr id="9" name="SCREENSHOT_ZONE_S37">
            <a:extLst>
              <a:ext uri="{FF2B5EF4-FFF2-40B4-BE49-F238E27FC236}">
                <a16:creationId xmlns:a16="http://schemas.microsoft.com/office/drawing/2014/main" id="{FE454320-76E4-7CFE-901B-FB9603AC7D32}"/>
              </a:ext>
            </a:extLst>
          </p:cNvPr>
          <p:cNvSpPr/>
          <p:nvPr/>
        </p:nvSpPr>
        <p:spPr>
          <a:xfrm>
            <a:off x="685800" y="2095500"/>
            <a:ext cx="6604000" cy="3746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21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93B70D3-D993-57E0-CA4D-8E641E873CE9}"/>
              </a:ext>
            </a:extLst>
          </p:cNvPr>
          <p:cNvSpPr/>
          <p:nvPr/>
        </p:nvSpPr>
        <p:spPr>
          <a:xfrm>
            <a:off x="876300" y="2286000"/>
            <a:ext cx="2667000" cy="304800"/>
          </a:xfrm>
          <a:prstGeom prst="roundRect">
            <a:avLst/>
          </a:prstGeom>
          <a:solidFill>
            <a:srgbClr val="D97216"/>
          </a:solidFill>
          <a:ln w="12700">
            <a:solidFill>
              <a:srgbClr val="D972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A24BAD-33A5-2A6F-4C83-FB3237EFF905}"/>
              </a:ext>
            </a:extLst>
          </p:cNvPr>
          <p:cNvSpPr txBox="1"/>
          <p:nvPr/>
        </p:nvSpPr>
        <p:spPr>
          <a:xfrm>
            <a:off x="965200" y="2349500"/>
            <a:ext cx="2489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800" b="1">
                <a:solidFill>
                  <a:srgbClr val="FFFFFF"/>
                </a:solidFill>
                <a:latin typeface="Aptos" panose="020B0004020202020204" pitchFamily="34" charset="0"/>
              </a:rPr>
              <a:t>IMAGE PLACEHOLDER · DATA AGENT / FOUNDRY / AGENT 365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96B8F8-DD13-CB2F-FF22-FD40E3A5A02B}"/>
              </a:ext>
            </a:extLst>
          </p:cNvPr>
          <p:cNvSpPr txBox="1"/>
          <p:nvPr/>
        </p:nvSpPr>
        <p:spPr>
          <a:xfrm>
            <a:off x="3733800" y="352425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GB" sz="2400" b="1">
                <a:solidFill>
                  <a:srgbClr val="D97216"/>
                </a:solidFill>
                <a:latin typeface="Segoe UI Symbol" panose="020B0502040204020203" pitchFamily="34" charset="0"/>
              </a:rPr>
              <a:t>▧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2A8CE3-4370-F7BF-311F-3FD15CB565F3}"/>
              </a:ext>
            </a:extLst>
          </p:cNvPr>
          <p:cNvSpPr txBox="1"/>
          <p:nvPr/>
        </p:nvSpPr>
        <p:spPr>
          <a:xfrm>
            <a:off x="1041400" y="4070350"/>
            <a:ext cx="589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100" b="1">
                <a:solidFill>
                  <a:srgbClr val="242124"/>
                </a:solidFill>
                <a:latin typeface="Aptos" panose="020B0004020202020204" pitchFamily="34" charset="0"/>
              </a:rPr>
              <a:t>Insert Fabric Data Agent, Foundry project, or verified Agent 365 evidence.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BEFCDE-FE7B-81FB-73F9-58CA3DCAFAC3}"/>
              </a:ext>
            </a:extLst>
          </p:cNvPr>
          <p:cNvSpPr txBox="1"/>
          <p:nvPr/>
        </p:nvSpPr>
        <p:spPr>
          <a:xfrm>
            <a:off x="1003300" y="5397500"/>
            <a:ext cx="596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800">
                <a:solidFill>
                  <a:srgbClr val="69646A"/>
                </a:solidFill>
                <a:latin typeface="Aptos" panose="020B0004020202020204" pitchFamily="34" charset="0"/>
              </a:rPr>
              <a:t>Replace this zone with your screenshot; retain the slide title and adjacent callouts.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62478DA-5704-AA84-3FEC-8F43500DF8CB}"/>
              </a:ext>
            </a:extLst>
          </p:cNvPr>
          <p:cNvSpPr/>
          <p:nvPr/>
        </p:nvSpPr>
        <p:spPr>
          <a:xfrm>
            <a:off x="7747000" y="2095500"/>
            <a:ext cx="3759200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0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670B22-A0A2-3522-A608-06BBE289DCB0}"/>
              </a:ext>
            </a:extLst>
          </p:cNvPr>
          <p:cNvSpPr txBox="1"/>
          <p:nvPr/>
        </p:nvSpPr>
        <p:spPr>
          <a:xfrm>
            <a:off x="7937500" y="22479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008094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5968FB-7AF7-C5CE-2624-6711375A9DB4}"/>
              </a:ext>
            </a:extLst>
          </p:cNvPr>
          <p:cNvSpPr txBox="1"/>
          <p:nvPr/>
        </p:nvSpPr>
        <p:spPr>
          <a:xfrm>
            <a:off x="8445500" y="2222500"/>
            <a:ext cx="273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100" b="1">
                <a:solidFill>
                  <a:srgbClr val="242124"/>
                </a:solidFill>
                <a:latin typeface="Aptos" panose="020B0004020202020204" pitchFamily="34" charset="0"/>
              </a:rPr>
              <a:t>Data Agent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916FFF8-2172-0895-972F-808A986485AD}"/>
              </a:ext>
            </a:extLst>
          </p:cNvPr>
          <p:cNvSpPr txBox="1"/>
          <p:nvPr/>
        </p:nvSpPr>
        <p:spPr>
          <a:xfrm>
            <a:off x="8445500" y="2527300"/>
            <a:ext cx="273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50">
                <a:solidFill>
                  <a:srgbClr val="69646A"/>
                </a:solidFill>
                <a:latin typeface="Aptos" panose="020B0004020202020204" pitchFamily="34" charset="0"/>
              </a:rPr>
              <a:t>Governed semantic retrieval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5AA499A-9BD1-66CB-ED73-D2807FAEA406}"/>
              </a:ext>
            </a:extLst>
          </p:cNvPr>
          <p:cNvSpPr/>
          <p:nvPr/>
        </p:nvSpPr>
        <p:spPr>
          <a:xfrm>
            <a:off x="7747000" y="3060700"/>
            <a:ext cx="3759200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A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3BEEEB5-6DB8-DDA2-DED5-D4A9B4B5BDE3}"/>
              </a:ext>
            </a:extLst>
          </p:cNvPr>
          <p:cNvSpPr txBox="1"/>
          <p:nvPr/>
        </p:nvSpPr>
        <p:spPr>
          <a:xfrm>
            <a:off x="7937500" y="32131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007AD2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782AE06-6038-419E-DA6B-CA7BEEE25F03}"/>
              </a:ext>
            </a:extLst>
          </p:cNvPr>
          <p:cNvSpPr txBox="1"/>
          <p:nvPr/>
        </p:nvSpPr>
        <p:spPr>
          <a:xfrm>
            <a:off x="8445500" y="3187700"/>
            <a:ext cx="273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100" b="1">
                <a:solidFill>
                  <a:srgbClr val="242124"/>
                </a:solidFill>
                <a:latin typeface="Aptos" panose="020B0004020202020204" pitchFamily="34" charset="0"/>
              </a:rPr>
              <a:t>Foundry agents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DA8B70A-C20C-90F9-A02C-6D59BB024D9E}"/>
              </a:ext>
            </a:extLst>
          </p:cNvPr>
          <p:cNvSpPr txBox="1"/>
          <p:nvPr/>
        </p:nvSpPr>
        <p:spPr>
          <a:xfrm>
            <a:off x="8445500" y="3492500"/>
            <a:ext cx="273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50">
                <a:solidFill>
                  <a:srgbClr val="69646A"/>
                </a:solidFill>
                <a:latin typeface="Aptos" panose="020B0004020202020204" pitchFamily="34" charset="0"/>
              </a:rPr>
              <a:t>Specialist orchestration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6A705DB-22A7-9594-CC7B-E3E2E74530E2}"/>
              </a:ext>
            </a:extLst>
          </p:cNvPr>
          <p:cNvSpPr/>
          <p:nvPr/>
        </p:nvSpPr>
        <p:spPr>
          <a:xfrm>
            <a:off x="7747000" y="4025900"/>
            <a:ext cx="3759200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2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381B3CE-887D-B6EF-E617-AD68178291A0}"/>
              </a:ext>
            </a:extLst>
          </p:cNvPr>
          <p:cNvSpPr txBox="1"/>
          <p:nvPr/>
        </p:nvSpPr>
        <p:spPr>
          <a:xfrm>
            <a:off x="7937500" y="41783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D97216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E012318-889B-CB32-8DF3-B65BFBE7E37C}"/>
              </a:ext>
            </a:extLst>
          </p:cNvPr>
          <p:cNvSpPr txBox="1"/>
          <p:nvPr/>
        </p:nvSpPr>
        <p:spPr>
          <a:xfrm>
            <a:off x="8445500" y="4152900"/>
            <a:ext cx="273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100" b="1">
                <a:solidFill>
                  <a:srgbClr val="242124"/>
                </a:solidFill>
                <a:latin typeface="Aptos" panose="020B0004020202020204" pitchFamily="34" charset="0"/>
              </a:rPr>
              <a:t>Agent 365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9862FE5-77BE-FF62-825B-876729E9E14A}"/>
              </a:ext>
            </a:extLst>
          </p:cNvPr>
          <p:cNvSpPr txBox="1"/>
          <p:nvPr/>
        </p:nvSpPr>
        <p:spPr>
          <a:xfrm>
            <a:off x="8445500" y="4457700"/>
            <a:ext cx="273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50">
                <a:solidFill>
                  <a:srgbClr val="69646A"/>
                </a:solidFill>
                <a:latin typeface="Aptos" panose="020B0004020202020204" pitchFamily="34" charset="0"/>
              </a:rPr>
              <a:t>Control plane · evidence pending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9E77081-3526-40B0-7BEB-0EA0A5F18BC5}"/>
              </a:ext>
            </a:extLst>
          </p:cNvPr>
          <p:cNvSpPr/>
          <p:nvPr/>
        </p:nvSpPr>
        <p:spPr>
          <a:xfrm>
            <a:off x="7747000" y="4991100"/>
            <a:ext cx="3759200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7A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729D5F7-A566-9ABB-0BDC-5C6CF64A8D2D}"/>
              </a:ext>
            </a:extLst>
          </p:cNvPr>
          <p:cNvSpPr txBox="1"/>
          <p:nvPr/>
        </p:nvSpPr>
        <p:spPr>
          <a:xfrm>
            <a:off x="7937500" y="51435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217A4F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FB55FBC-DF0C-2419-59C6-ACF8D0F9603E}"/>
              </a:ext>
            </a:extLst>
          </p:cNvPr>
          <p:cNvSpPr txBox="1"/>
          <p:nvPr/>
        </p:nvSpPr>
        <p:spPr>
          <a:xfrm>
            <a:off x="8445500" y="5118100"/>
            <a:ext cx="273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100" b="1">
                <a:solidFill>
                  <a:srgbClr val="242124"/>
                </a:solidFill>
                <a:latin typeface="Aptos" panose="020B0004020202020204" pitchFamily="34" charset="0"/>
              </a:rPr>
              <a:t>RM review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947DB50-316F-622E-00A0-84A5CD7BE709}"/>
              </a:ext>
            </a:extLst>
          </p:cNvPr>
          <p:cNvSpPr txBox="1"/>
          <p:nvPr/>
        </p:nvSpPr>
        <p:spPr>
          <a:xfrm>
            <a:off x="8445500" y="5422900"/>
            <a:ext cx="273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50">
                <a:solidFill>
                  <a:srgbClr val="69646A"/>
                </a:solidFill>
                <a:latin typeface="Aptos" panose="020B0004020202020204" pitchFamily="34" charset="0"/>
              </a:rPr>
              <a:t>Human accountability</a:t>
            </a:r>
          </a:p>
        </p:txBody>
      </p:sp>
    </p:spTree>
    <p:extLst>
      <p:ext uri="{BB962C8B-B14F-4D97-AF65-F5344CB8AC3E}">
        <p14:creationId xmlns:p14="http://schemas.microsoft.com/office/powerpoint/2010/main" val="36015535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B11486C-E78B-9DF6-2968-30D6CDCD6F9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7"/>
          </a:solidFill>
          <a:ln w="12700">
            <a:solidFill>
              <a:srgbClr val="F8F7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93F241-D7F8-3AF9-B8C9-64A16F9158DE}"/>
              </a:ext>
            </a:extLst>
          </p:cNvPr>
          <p:cNvSpPr txBox="1"/>
          <p:nvPr/>
        </p:nvSpPr>
        <p:spPr>
          <a:xfrm>
            <a:off x="685800" y="3810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217A4F"/>
                </a:solidFill>
                <a:latin typeface="Aptos" panose="020B0004020202020204" pitchFamily="34" charset="0"/>
              </a:rPr>
              <a:t>FABRIC IQ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14A8B6-1D34-EB9D-D688-031659E6BC44}"/>
              </a:ext>
            </a:extLst>
          </p:cNvPr>
          <p:cNvSpPr txBox="1"/>
          <p:nvPr/>
        </p:nvSpPr>
        <p:spPr>
          <a:xfrm>
            <a:off x="685800" y="6858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2700" b="1">
                <a:solidFill>
                  <a:srgbClr val="242124"/>
                </a:solidFill>
                <a:latin typeface="Aptos Display" panose="020B0004020202020204" pitchFamily="34" charset="0"/>
              </a:rPr>
              <a:t>End-to-end reference architecture and governance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33D588-9292-5F22-AE37-7228E486ACCF}"/>
              </a:ext>
            </a:extLst>
          </p:cNvPr>
          <p:cNvSpPr txBox="1"/>
          <p:nvPr/>
        </p:nvSpPr>
        <p:spPr>
          <a:xfrm>
            <a:off x="685800" y="14351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100">
                <a:solidFill>
                  <a:srgbClr val="69646A"/>
                </a:solidFill>
                <a:latin typeface="Aptos" panose="020B0004020202020204" pitchFamily="34" charset="0"/>
              </a:rPr>
              <a:t>The deployed system keeps evidence, identity, controls, and human accountability visible.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B56A72E-24CE-65BF-8C25-B2A79A79018D}"/>
              </a:ext>
            </a:extLst>
          </p:cNvPr>
          <p:cNvCxnSpPr/>
          <p:nvPr/>
        </p:nvCxnSpPr>
        <p:spPr>
          <a:xfrm>
            <a:off x="685800" y="6477000"/>
            <a:ext cx="10820400" cy="0"/>
          </a:xfrm>
          <a:prstGeom prst="line">
            <a:avLst/>
          </a:prstGeom>
          <a:ln>
            <a:solidFill>
              <a:srgbClr val="E3E1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1FEA57F-2D1E-F9FF-723F-54F243894CBE}"/>
              </a:ext>
            </a:extLst>
          </p:cNvPr>
          <p:cNvSpPr txBox="1"/>
          <p:nvPr/>
        </p:nvSpPr>
        <p:spPr>
          <a:xfrm>
            <a:off x="685800" y="65659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700" b="1">
                <a:solidFill>
                  <a:srgbClr val="69646A"/>
                </a:solidFill>
                <a:latin typeface="Aptos" panose="020B0004020202020204" pitchFamily="34" charset="0"/>
              </a:rPr>
              <a:t>FRONTIER RM · FABRIC IQ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FBD9F8-4BA7-E6CF-5278-87A74F277B1B}"/>
              </a:ext>
            </a:extLst>
          </p:cNvPr>
          <p:cNvSpPr txBox="1"/>
          <p:nvPr/>
        </p:nvSpPr>
        <p:spPr>
          <a:xfrm>
            <a:off x="10985500" y="65659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r"/>
            <a:r>
              <a:rPr lang="en-GB" sz="800" b="1">
                <a:solidFill>
                  <a:srgbClr val="69646A"/>
                </a:solidFill>
                <a:latin typeface="Aptos" panose="020B0004020202020204" pitchFamily="34" charset="0"/>
              </a:rPr>
              <a:t>38</a:t>
            </a:r>
          </a:p>
        </p:txBody>
      </p:sp>
      <p:sp>
        <p:nvSpPr>
          <p:cNvPr id="9" name="SCREENSHOT_ZONE_S38">
            <a:extLst>
              <a:ext uri="{FF2B5EF4-FFF2-40B4-BE49-F238E27FC236}">
                <a16:creationId xmlns:a16="http://schemas.microsoft.com/office/drawing/2014/main" id="{A4A2B055-6189-91F4-18E7-8D467263EAC4}"/>
              </a:ext>
            </a:extLst>
          </p:cNvPr>
          <p:cNvSpPr/>
          <p:nvPr/>
        </p:nvSpPr>
        <p:spPr>
          <a:xfrm>
            <a:off x="685800" y="2095500"/>
            <a:ext cx="4572000" cy="3619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17A4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3CC7972-925E-8BB0-1945-C1C81153271E}"/>
              </a:ext>
            </a:extLst>
          </p:cNvPr>
          <p:cNvSpPr/>
          <p:nvPr/>
        </p:nvSpPr>
        <p:spPr>
          <a:xfrm>
            <a:off x="876300" y="2286000"/>
            <a:ext cx="2667000" cy="304800"/>
          </a:xfrm>
          <a:prstGeom prst="roundRect">
            <a:avLst/>
          </a:prstGeom>
          <a:solidFill>
            <a:srgbClr val="217A4F"/>
          </a:solidFill>
          <a:ln w="12700">
            <a:solidFill>
              <a:srgbClr val="217A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8DDA86-5375-BAB1-B6AB-45C8190CA4D9}"/>
              </a:ext>
            </a:extLst>
          </p:cNvPr>
          <p:cNvSpPr txBox="1"/>
          <p:nvPr/>
        </p:nvSpPr>
        <p:spPr>
          <a:xfrm>
            <a:off x="965200" y="2349500"/>
            <a:ext cx="2489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800" b="1">
                <a:solidFill>
                  <a:srgbClr val="FFFFFF"/>
                </a:solidFill>
                <a:latin typeface="Aptos" panose="020B0004020202020204" pitchFamily="34" charset="0"/>
              </a:rPr>
              <a:t>IMAGE PLACEHOLDER · REFERENCE ARCHITECTURE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71D325-041F-4A5F-99FF-4D3496E50EF6}"/>
              </a:ext>
            </a:extLst>
          </p:cNvPr>
          <p:cNvSpPr txBox="1"/>
          <p:nvPr/>
        </p:nvSpPr>
        <p:spPr>
          <a:xfrm>
            <a:off x="2717800" y="346075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GB" sz="2400" b="1">
                <a:solidFill>
                  <a:srgbClr val="217A4F"/>
                </a:solidFill>
                <a:latin typeface="Segoe UI Symbol" panose="020B0502040204020203" pitchFamily="34" charset="0"/>
              </a:rPr>
              <a:t>▧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3AFEB0-1463-6412-243A-2E257DE07B2C}"/>
              </a:ext>
            </a:extLst>
          </p:cNvPr>
          <p:cNvSpPr txBox="1"/>
          <p:nvPr/>
        </p:nvSpPr>
        <p:spPr>
          <a:xfrm>
            <a:off x="1041400" y="4006850"/>
            <a:ext cx="3860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 fontScale="92500"/>
          </a:bodyPr>
          <a:lstStyle/>
          <a:p>
            <a:pPr algn="ctr"/>
            <a:r>
              <a:rPr lang="en-GB" sz="1100" b="1">
                <a:solidFill>
                  <a:srgbClr val="242124"/>
                </a:solidFill>
                <a:latin typeface="Aptos" panose="020B0004020202020204" pitchFamily="34" charset="0"/>
              </a:rPr>
              <a:t>Optionally replace with your detailed architecture screenshot.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0B5DB1-8FAE-3A1A-A79C-B3B5494AED7D}"/>
              </a:ext>
            </a:extLst>
          </p:cNvPr>
          <p:cNvSpPr txBox="1"/>
          <p:nvPr/>
        </p:nvSpPr>
        <p:spPr>
          <a:xfrm>
            <a:off x="1003300" y="5270500"/>
            <a:ext cx="393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800">
                <a:solidFill>
                  <a:srgbClr val="69646A"/>
                </a:solidFill>
                <a:latin typeface="Aptos" panose="020B0004020202020204" pitchFamily="34" charset="0"/>
              </a:rPr>
              <a:t>Replace this zone with your screenshot; retain the slide title and adjacent callouts.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0E71997-B0B1-1D4B-6942-468CC827154C}"/>
              </a:ext>
            </a:extLst>
          </p:cNvPr>
          <p:cNvSpPr/>
          <p:nvPr/>
        </p:nvSpPr>
        <p:spPr>
          <a:xfrm>
            <a:off x="5778500" y="2095500"/>
            <a:ext cx="2667000" cy="482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38A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B8825B-C38F-DFE5-5FE3-AD4D1C5E9405}"/>
              </a:ext>
            </a:extLst>
          </p:cNvPr>
          <p:cNvSpPr txBox="1"/>
          <p:nvPr/>
        </p:nvSpPr>
        <p:spPr>
          <a:xfrm>
            <a:off x="5930900" y="2222500"/>
            <a:ext cx="31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238AC6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BAAB83-867D-CE91-18A1-0880B4465DE3}"/>
              </a:ext>
            </a:extLst>
          </p:cNvPr>
          <p:cNvSpPr txBox="1"/>
          <p:nvPr/>
        </p:nvSpPr>
        <p:spPr>
          <a:xfrm>
            <a:off x="6350000" y="2209800"/>
            <a:ext cx="1841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000" b="1">
                <a:solidFill>
                  <a:srgbClr val="242124"/>
                </a:solidFill>
                <a:latin typeface="Aptos" panose="020B0004020202020204" pitchFamily="34" charset="0"/>
              </a:rPr>
              <a:t>Sources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5D00FAA-15CC-E88A-D0B3-7B9FDA5D7F98}"/>
              </a:ext>
            </a:extLst>
          </p:cNvPr>
          <p:cNvSpPr txBox="1"/>
          <p:nvPr/>
        </p:nvSpPr>
        <p:spPr>
          <a:xfrm>
            <a:off x="8445500" y="2451100"/>
            <a:ext cx="228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000" b="1">
                <a:solidFill>
                  <a:srgbClr val="69646A"/>
                </a:solidFill>
                <a:latin typeface="Aptos" panose="020B0004020202020204" pitchFamily="34" charset="0"/>
              </a:rPr>
              <a:t>↓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1D1DD15-7790-8BC1-670A-EEFDA1A1F858}"/>
              </a:ext>
            </a:extLst>
          </p:cNvPr>
          <p:cNvSpPr/>
          <p:nvPr/>
        </p:nvSpPr>
        <p:spPr>
          <a:xfrm>
            <a:off x="5778500" y="2730500"/>
            <a:ext cx="2667000" cy="482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0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E5D6C92-6B79-0FC7-7F59-163543E389ED}"/>
              </a:ext>
            </a:extLst>
          </p:cNvPr>
          <p:cNvSpPr txBox="1"/>
          <p:nvPr/>
        </p:nvSpPr>
        <p:spPr>
          <a:xfrm>
            <a:off x="5930900" y="2857500"/>
            <a:ext cx="31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008094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8DD074-618C-AA78-FBEA-A1831886AC18}"/>
              </a:ext>
            </a:extLst>
          </p:cNvPr>
          <p:cNvSpPr txBox="1"/>
          <p:nvPr/>
        </p:nvSpPr>
        <p:spPr>
          <a:xfrm>
            <a:off x="6350000" y="2844800"/>
            <a:ext cx="1841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000" b="1">
                <a:solidFill>
                  <a:srgbClr val="242124"/>
                </a:solidFill>
                <a:latin typeface="Aptos" panose="020B0004020202020204" pitchFamily="34" charset="0"/>
              </a:rPr>
              <a:t>Fabric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B0FDEDE-8298-275F-1D80-9E79F451CA13}"/>
              </a:ext>
            </a:extLst>
          </p:cNvPr>
          <p:cNvSpPr txBox="1"/>
          <p:nvPr/>
        </p:nvSpPr>
        <p:spPr>
          <a:xfrm>
            <a:off x="8445500" y="3086100"/>
            <a:ext cx="228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000" b="1">
                <a:solidFill>
                  <a:srgbClr val="69646A"/>
                </a:solidFill>
                <a:latin typeface="Aptos" panose="020B0004020202020204" pitchFamily="34" charset="0"/>
              </a:rPr>
              <a:t>↓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AF5B634-0982-3DEE-CC15-A17C2294196D}"/>
              </a:ext>
            </a:extLst>
          </p:cNvPr>
          <p:cNvSpPr/>
          <p:nvPr/>
        </p:nvSpPr>
        <p:spPr>
          <a:xfrm>
            <a:off x="5778500" y="3365500"/>
            <a:ext cx="2667000" cy="482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437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5CFA1D5-526F-9EE0-56E9-A11867E88B47}"/>
              </a:ext>
            </a:extLst>
          </p:cNvPr>
          <p:cNvSpPr txBox="1"/>
          <p:nvPr/>
        </p:nvSpPr>
        <p:spPr>
          <a:xfrm>
            <a:off x="5930900" y="3492500"/>
            <a:ext cx="31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A437B2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D86E962-27FD-B5F6-B92B-FCEF2B02979E}"/>
              </a:ext>
            </a:extLst>
          </p:cNvPr>
          <p:cNvSpPr txBox="1"/>
          <p:nvPr/>
        </p:nvSpPr>
        <p:spPr>
          <a:xfrm>
            <a:off x="6350000" y="3479800"/>
            <a:ext cx="1841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000" b="1">
                <a:solidFill>
                  <a:srgbClr val="242124"/>
                </a:solidFill>
                <a:latin typeface="Aptos" panose="020B0004020202020204" pitchFamily="34" charset="0"/>
              </a:rPr>
              <a:t>IQ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E5525AE-539E-2C65-4511-698CED3CDB93}"/>
              </a:ext>
            </a:extLst>
          </p:cNvPr>
          <p:cNvSpPr txBox="1"/>
          <p:nvPr/>
        </p:nvSpPr>
        <p:spPr>
          <a:xfrm>
            <a:off x="8445500" y="3721100"/>
            <a:ext cx="228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000" b="1">
                <a:solidFill>
                  <a:srgbClr val="69646A"/>
                </a:solidFill>
                <a:latin typeface="Aptos" panose="020B0004020202020204" pitchFamily="34" charset="0"/>
              </a:rPr>
              <a:t>↓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27FD391-3C93-6A21-4DC6-E1C5A98F7E21}"/>
              </a:ext>
            </a:extLst>
          </p:cNvPr>
          <p:cNvSpPr/>
          <p:nvPr/>
        </p:nvSpPr>
        <p:spPr>
          <a:xfrm>
            <a:off x="5778500" y="4000500"/>
            <a:ext cx="2667000" cy="482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2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1B06A96-069A-AE8B-0CF1-ABB825213D59}"/>
              </a:ext>
            </a:extLst>
          </p:cNvPr>
          <p:cNvSpPr txBox="1"/>
          <p:nvPr/>
        </p:nvSpPr>
        <p:spPr>
          <a:xfrm>
            <a:off x="5930900" y="4127500"/>
            <a:ext cx="31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D97216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3B5B699-2E4A-3856-3E92-6FB93867F059}"/>
              </a:ext>
            </a:extLst>
          </p:cNvPr>
          <p:cNvSpPr txBox="1"/>
          <p:nvPr/>
        </p:nvSpPr>
        <p:spPr>
          <a:xfrm>
            <a:off x="6350000" y="4114800"/>
            <a:ext cx="1841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000" b="1">
                <a:solidFill>
                  <a:srgbClr val="242124"/>
                </a:solidFill>
                <a:latin typeface="Aptos" panose="020B0004020202020204" pitchFamily="34" charset="0"/>
              </a:rPr>
              <a:t>Agents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88E3C4F-6919-AA99-8125-17A78B5BDF71}"/>
              </a:ext>
            </a:extLst>
          </p:cNvPr>
          <p:cNvSpPr txBox="1"/>
          <p:nvPr/>
        </p:nvSpPr>
        <p:spPr>
          <a:xfrm>
            <a:off x="8445500" y="4356100"/>
            <a:ext cx="228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000" b="1">
                <a:solidFill>
                  <a:srgbClr val="69646A"/>
                </a:solidFill>
                <a:latin typeface="Aptos" panose="020B0004020202020204" pitchFamily="34" charset="0"/>
              </a:rPr>
              <a:t>↓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0134047-25C3-8D19-9313-8D41C9C492DE}"/>
              </a:ext>
            </a:extLst>
          </p:cNvPr>
          <p:cNvSpPr/>
          <p:nvPr/>
        </p:nvSpPr>
        <p:spPr>
          <a:xfrm>
            <a:off x="5778500" y="4635500"/>
            <a:ext cx="2667000" cy="482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619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23F937A-F0C6-FB7A-FF02-ACB55E978176}"/>
              </a:ext>
            </a:extLst>
          </p:cNvPr>
          <p:cNvSpPr txBox="1"/>
          <p:nvPr/>
        </p:nvSpPr>
        <p:spPr>
          <a:xfrm>
            <a:off x="5930900" y="4762500"/>
            <a:ext cx="31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A6192E"/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5351539-94EF-0EAD-C915-1A789E6BCA0E}"/>
              </a:ext>
            </a:extLst>
          </p:cNvPr>
          <p:cNvSpPr txBox="1"/>
          <p:nvPr/>
        </p:nvSpPr>
        <p:spPr>
          <a:xfrm>
            <a:off x="6350000" y="4749800"/>
            <a:ext cx="1841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000" b="1">
                <a:solidFill>
                  <a:srgbClr val="242124"/>
                </a:solidFill>
                <a:latin typeface="Aptos" panose="020B0004020202020204" pitchFamily="34" charset="0"/>
              </a:rPr>
              <a:t>RM cockpit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3E737EC-5916-8D15-FE08-385566ECFAB9}"/>
              </a:ext>
            </a:extLst>
          </p:cNvPr>
          <p:cNvSpPr txBox="1"/>
          <p:nvPr/>
        </p:nvSpPr>
        <p:spPr>
          <a:xfrm>
            <a:off x="8890000" y="2222500"/>
            <a:ext cx="2616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GB" sz="1000">
                <a:solidFill>
                  <a:srgbClr val="242124"/>
                </a:solidFill>
                <a:latin typeface="Aptos" panose="020B0004020202020204" pitchFamily="34" charset="0"/>
              </a:rPr>
              <a:t>• Managed identity and scoped tools</a:t>
            </a:r>
          </a:p>
          <a:p>
            <a:pPr>
              <a:spcAft>
                <a:spcPts val="700"/>
              </a:spcAft>
            </a:pPr>
            <a:r>
              <a:rPr lang="en-GB" sz="1000">
                <a:solidFill>
                  <a:srgbClr val="242124"/>
                </a:solidFill>
                <a:latin typeface="Aptos" panose="020B0004020202020204" pitchFamily="34" charset="0"/>
              </a:rPr>
              <a:t>• Stable source IDs and deterministic gates</a:t>
            </a:r>
          </a:p>
          <a:p>
            <a:pPr>
              <a:spcAft>
                <a:spcPts val="700"/>
              </a:spcAft>
            </a:pPr>
            <a:r>
              <a:rPr lang="en-GB" sz="1000">
                <a:solidFill>
                  <a:srgbClr val="242124"/>
                </a:solidFill>
                <a:latin typeface="Aptos" panose="020B0004020202020204" pitchFamily="34" charset="0"/>
              </a:rPr>
              <a:t>• Public rationale and human approval</a:t>
            </a:r>
          </a:p>
          <a:p>
            <a:pPr>
              <a:spcAft>
                <a:spcPts val="700"/>
              </a:spcAft>
            </a:pPr>
            <a:r>
              <a:rPr lang="en-GB" sz="1000">
                <a:solidFill>
                  <a:srgbClr val="242124"/>
                </a:solidFill>
                <a:latin typeface="Aptos" panose="020B0004020202020204" pitchFamily="34" charset="0"/>
              </a:rPr>
              <a:t>• Agent 365: evidence pending</a:t>
            </a:r>
          </a:p>
        </p:txBody>
      </p:sp>
    </p:spTree>
    <p:extLst>
      <p:ext uri="{BB962C8B-B14F-4D97-AF65-F5344CB8AC3E}">
        <p14:creationId xmlns:p14="http://schemas.microsoft.com/office/powerpoint/2010/main" val="22408750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4986A0F-70F0-4598-6800-B5E04E78570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7"/>
          </a:solidFill>
          <a:ln w="12700">
            <a:solidFill>
              <a:srgbClr val="F8F7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A5B585-0D87-D8BF-D884-5E2897A9DB86}"/>
              </a:ext>
            </a:extLst>
          </p:cNvPr>
          <p:cNvSpPr txBox="1"/>
          <p:nvPr/>
        </p:nvSpPr>
        <p:spPr>
          <a:xfrm>
            <a:off x="685800" y="3810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217A4F"/>
                </a:solidFill>
                <a:latin typeface="Aptos" panose="020B0004020202020204" pitchFamily="34" charset="0"/>
              </a:rPr>
              <a:t>CLOSING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0F3928-800D-749B-9460-3F3A84BCF17F}"/>
              </a:ext>
            </a:extLst>
          </p:cNvPr>
          <p:cNvSpPr txBox="1"/>
          <p:nvPr/>
        </p:nvSpPr>
        <p:spPr>
          <a:xfrm>
            <a:off x="685800" y="6858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2700" b="1">
                <a:solidFill>
                  <a:srgbClr val="242124"/>
                </a:solidFill>
                <a:latin typeface="Aptos Display" panose="020B0004020202020204" pitchFamily="34" charset="0"/>
              </a:rPr>
              <a:t>Three takeaways and a practical next step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229EB5-8A3D-E9AE-9EA8-DD9085B09488}"/>
              </a:ext>
            </a:extLst>
          </p:cNvPr>
          <p:cNvSpPr txBox="1"/>
          <p:nvPr/>
        </p:nvSpPr>
        <p:spPr>
          <a:xfrm>
            <a:off x="685800" y="14351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100">
                <a:solidFill>
                  <a:srgbClr val="69646A"/>
                </a:solidFill>
                <a:latin typeface="Aptos" panose="020B0004020202020204" pitchFamily="34" charset="0"/>
              </a:rPr>
              <a:t>Turn platform capability into repeatable, governed RM outcomes.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8A46439-4BF6-F53D-0D01-29F0DC0B08B1}"/>
              </a:ext>
            </a:extLst>
          </p:cNvPr>
          <p:cNvCxnSpPr/>
          <p:nvPr/>
        </p:nvCxnSpPr>
        <p:spPr>
          <a:xfrm>
            <a:off x="685800" y="6477000"/>
            <a:ext cx="10820400" cy="0"/>
          </a:xfrm>
          <a:prstGeom prst="line">
            <a:avLst/>
          </a:prstGeom>
          <a:ln>
            <a:solidFill>
              <a:srgbClr val="E3E1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E0753E1-F6A4-D4F9-09C3-D26C1FD581F0}"/>
              </a:ext>
            </a:extLst>
          </p:cNvPr>
          <p:cNvSpPr txBox="1"/>
          <p:nvPr/>
        </p:nvSpPr>
        <p:spPr>
          <a:xfrm>
            <a:off x="685800" y="65659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700" b="1">
                <a:solidFill>
                  <a:srgbClr val="69646A"/>
                </a:solidFill>
                <a:latin typeface="Aptos" panose="020B0004020202020204" pitchFamily="34" charset="0"/>
              </a:rPr>
              <a:t>FRONTIER RM · CLOSING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913CA0-E458-C8A4-975F-530EAD3AD96B}"/>
              </a:ext>
            </a:extLst>
          </p:cNvPr>
          <p:cNvSpPr txBox="1"/>
          <p:nvPr/>
        </p:nvSpPr>
        <p:spPr>
          <a:xfrm>
            <a:off x="10985500" y="65659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r"/>
            <a:r>
              <a:rPr lang="en-GB" sz="800" b="1">
                <a:solidFill>
                  <a:srgbClr val="69646A"/>
                </a:solidFill>
                <a:latin typeface="Aptos" panose="020B0004020202020204" pitchFamily="34" charset="0"/>
              </a:rPr>
              <a:t>39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67FE312-8B76-C97B-A85A-018FC372B191}"/>
              </a:ext>
            </a:extLst>
          </p:cNvPr>
          <p:cNvSpPr/>
          <p:nvPr/>
        </p:nvSpPr>
        <p:spPr>
          <a:xfrm>
            <a:off x="685800" y="2286000"/>
            <a:ext cx="3302000" cy="2857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3B0CD7-77D6-5C1C-471C-A7F5D14CEBC9}"/>
              </a:ext>
            </a:extLst>
          </p:cNvPr>
          <p:cNvSpPr/>
          <p:nvPr/>
        </p:nvSpPr>
        <p:spPr>
          <a:xfrm>
            <a:off x="685800" y="2286000"/>
            <a:ext cx="88900" cy="2857500"/>
          </a:xfrm>
          <a:prstGeom prst="rect">
            <a:avLst/>
          </a:prstGeom>
          <a:solidFill>
            <a:srgbClr val="007AD2"/>
          </a:solidFill>
          <a:ln w="12700">
            <a:solidFill>
              <a:srgbClr val="007A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D7F2EC-FBA4-D27C-0839-E2CC06B35091}"/>
              </a:ext>
            </a:extLst>
          </p:cNvPr>
          <p:cNvSpPr txBox="1"/>
          <p:nvPr/>
        </p:nvSpPr>
        <p:spPr>
          <a:xfrm>
            <a:off x="927100" y="2476500"/>
            <a:ext cx="287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007AD2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BAC1E5-179A-1853-D044-40CD0D2ADB8A}"/>
              </a:ext>
            </a:extLst>
          </p:cNvPr>
          <p:cNvSpPr txBox="1"/>
          <p:nvPr/>
        </p:nvSpPr>
        <p:spPr>
          <a:xfrm>
            <a:off x="927100" y="2794000"/>
            <a:ext cx="287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400" b="1">
                <a:solidFill>
                  <a:srgbClr val="242124"/>
                </a:solidFill>
                <a:latin typeface="Aptos Display" panose="020B0004020202020204" pitchFamily="34" charset="0"/>
              </a:rPr>
              <a:t>Unify the data foundation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27481C-B984-66D8-0FBE-1BF812734F82}"/>
              </a:ext>
            </a:extLst>
          </p:cNvPr>
          <p:cNvSpPr txBox="1"/>
          <p:nvPr/>
        </p:nvSpPr>
        <p:spPr>
          <a:xfrm>
            <a:off x="927100" y="3403600"/>
            <a:ext cx="287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50">
                <a:solidFill>
                  <a:srgbClr val="69646A"/>
                </a:solidFill>
                <a:latin typeface="Aptos" panose="020B0004020202020204" pitchFamily="34" charset="0"/>
              </a:rPr>
              <a:t>Operational and analytical data becomes open, governed, and AI-ready with Azure and Fabric.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ACDB7B6-1E72-7AD5-8FD5-DD69B491F9B5}"/>
              </a:ext>
            </a:extLst>
          </p:cNvPr>
          <p:cNvSpPr/>
          <p:nvPr/>
        </p:nvSpPr>
        <p:spPr>
          <a:xfrm>
            <a:off x="4445000" y="2286000"/>
            <a:ext cx="3302000" cy="2857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11B4DA3-8EAE-040E-64F9-999EB43A68C9}"/>
              </a:ext>
            </a:extLst>
          </p:cNvPr>
          <p:cNvSpPr/>
          <p:nvPr/>
        </p:nvSpPr>
        <p:spPr>
          <a:xfrm>
            <a:off x="4445000" y="2286000"/>
            <a:ext cx="88900" cy="2857500"/>
          </a:xfrm>
          <a:prstGeom prst="rect">
            <a:avLst/>
          </a:prstGeom>
          <a:solidFill>
            <a:srgbClr val="D97216"/>
          </a:solidFill>
          <a:ln w="12700">
            <a:solidFill>
              <a:srgbClr val="D972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5B43420-245C-742E-1933-0B3283327FAD}"/>
              </a:ext>
            </a:extLst>
          </p:cNvPr>
          <p:cNvSpPr txBox="1"/>
          <p:nvPr/>
        </p:nvSpPr>
        <p:spPr>
          <a:xfrm>
            <a:off x="4686300" y="2476500"/>
            <a:ext cx="287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D97216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AD28137-72BA-913C-6B0B-FC7F16074970}"/>
              </a:ext>
            </a:extLst>
          </p:cNvPr>
          <p:cNvSpPr txBox="1"/>
          <p:nvPr/>
        </p:nvSpPr>
        <p:spPr>
          <a:xfrm>
            <a:off x="4686300" y="2794000"/>
            <a:ext cx="287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400" b="1">
                <a:solidFill>
                  <a:srgbClr val="242124"/>
                </a:solidFill>
                <a:latin typeface="Aptos Display" panose="020B0004020202020204" pitchFamily="34" charset="0"/>
              </a:rPr>
              <a:t>Connect work and agents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8E01E0-2359-76D1-7FD8-FC6DD18CE880}"/>
              </a:ext>
            </a:extLst>
          </p:cNvPr>
          <p:cNvSpPr txBox="1"/>
          <p:nvPr/>
        </p:nvSpPr>
        <p:spPr>
          <a:xfrm>
            <a:off x="4686300" y="3403600"/>
            <a:ext cx="287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50">
                <a:solidFill>
                  <a:srgbClr val="69646A"/>
                </a:solidFill>
                <a:latin typeface="Aptos" panose="020B0004020202020204" pitchFamily="34" charset="0"/>
              </a:rPr>
              <a:t>Microsoft 365 brings work context; Agent 365 provides the target control-plane pattern.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399040A-D221-05E5-A58A-DBDD055083CD}"/>
              </a:ext>
            </a:extLst>
          </p:cNvPr>
          <p:cNvSpPr/>
          <p:nvPr/>
        </p:nvSpPr>
        <p:spPr>
          <a:xfrm>
            <a:off x="8204200" y="2286000"/>
            <a:ext cx="3302000" cy="2857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0EE94D-0BB1-3024-D39B-D2D84E1A8B83}"/>
              </a:ext>
            </a:extLst>
          </p:cNvPr>
          <p:cNvSpPr/>
          <p:nvPr/>
        </p:nvSpPr>
        <p:spPr>
          <a:xfrm>
            <a:off x="8204200" y="2286000"/>
            <a:ext cx="88900" cy="2857500"/>
          </a:xfrm>
          <a:prstGeom prst="rect">
            <a:avLst/>
          </a:prstGeom>
          <a:solidFill>
            <a:srgbClr val="A437B2"/>
          </a:solidFill>
          <a:ln w="12700">
            <a:solidFill>
              <a:srgbClr val="A437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19FF9CD-03B9-500D-8BB1-9BA475804234}"/>
              </a:ext>
            </a:extLst>
          </p:cNvPr>
          <p:cNvSpPr txBox="1"/>
          <p:nvPr/>
        </p:nvSpPr>
        <p:spPr>
          <a:xfrm>
            <a:off x="8445500" y="2476500"/>
            <a:ext cx="287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800" b="1">
                <a:solidFill>
                  <a:srgbClr val="A437B2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8F340CE-BA01-F715-5CC6-29C8BD70AF04}"/>
              </a:ext>
            </a:extLst>
          </p:cNvPr>
          <p:cNvSpPr txBox="1"/>
          <p:nvPr/>
        </p:nvSpPr>
        <p:spPr>
          <a:xfrm>
            <a:off x="8445500" y="2794000"/>
            <a:ext cx="287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1400" b="1">
                <a:solidFill>
                  <a:srgbClr val="242124"/>
                </a:solidFill>
                <a:latin typeface="Aptos Display" panose="020B0004020202020204" pitchFamily="34" charset="0"/>
              </a:rPr>
              <a:t>Share business meaning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45AACCD-D3A9-5971-9377-18FB3820E3EC}"/>
              </a:ext>
            </a:extLst>
          </p:cNvPr>
          <p:cNvSpPr txBox="1"/>
          <p:nvPr/>
        </p:nvSpPr>
        <p:spPr>
          <a:xfrm>
            <a:off x="8445500" y="3403600"/>
            <a:ext cx="287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50">
                <a:solidFill>
                  <a:srgbClr val="69646A"/>
                </a:solidFill>
                <a:latin typeface="Aptos" panose="020B0004020202020204" pitchFamily="34" charset="0"/>
              </a:rPr>
              <a:t>Fabric IQ grounds people, analytics, and agents in consistent context and provenance.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5B5778A-CD50-641E-E9F5-D72E83811DE8}"/>
              </a:ext>
            </a:extLst>
          </p:cNvPr>
          <p:cNvSpPr txBox="1"/>
          <p:nvPr/>
        </p:nvSpPr>
        <p:spPr>
          <a:xfrm>
            <a:off x="1651000" y="56515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GB" sz="1200" b="1">
                <a:solidFill>
                  <a:srgbClr val="217A4F"/>
                </a:solidFill>
                <a:latin typeface="Aptos" panose="020B0004020202020204" pitchFamily="34" charset="0"/>
              </a:rPr>
              <a:t>NEXT: prioritize production connections, Agent 365 evidence, and the next RM journeys.</a:t>
            </a:r>
          </a:p>
        </p:txBody>
      </p:sp>
    </p:spTree>
    <p:extLst>
      <p:ext uri="{BB962C8B-B14F-4D97-AF65-F5344CB8AC3E}">
        <p14:creationId xmlns:p14="http://schemas.microsoft.com/office/powerpoint/2010/main" val="419947546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DED57E6-55B3-D38E-1626-A9C66B2FD22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E2B30"/>
          </a:solidFill>
          <a:ln w="12700">
            <a:solidFill>
              <a:srgbClr val="2E2B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A93171-99BC-D6F8-B5C8-570780CF7824}"/>
              </a:ext>
            </a:extLst>
          </p:cNvPr>
          <p:cNvSpPr txBox="1"/>
          <p:nvPr/>
        </p:nvSpPr>
        <p:spPr>
          <a:xfrm>
            <a:off x="787400" y="825500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900" b="1">
                <a:solidFill>
                  <a:srgbClr val="B4B0B8"/>
                </a:solidFill>
                <a:latin typeface="Aptos" panose="020B0004020202020204" pitchFamily="34" charset="0"/>
              </a:rPr>
              <a:t>THE QUESTION WE STARTED WITH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28A9ED-0025-4C23-410D-CFE11F1A7CDE}"/>
              </a:ext>
            </a:extLst>
          </p:cNvPr>
          <p:cNvSpPr txBox="1"/>
          <p:nvPr/>
        </p:nvSpPr>
        <p:spPr>
          <a:xfrm>
            <a:off x="787400" y="15875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3100" b="1">
                <a:solidFill>
                  <a:srgbClr val="FFFFFF"/>
                </a:solidFill>
                <a:latin typeface="Aptos Display" panose="020B0004020202020204" pitchFamily="34" charset="0"/>
              </a:rPr>
              <a:t>What changes when the bank works as one intelligent system?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F71F96-0A71-EAF7-7F6A-B35EFC718538}"/>
              </a:ext>
            </a:extLst>
          </p:cNvPr>
          <p:cNvSpPr/>
          <p:nvPr/>
        </p:nvSpPr>
        <p:spPr>
          <a:xfrm>
            <a:off x="787400" y="3238500"/>
            <a:ext cx="10414000" cy="254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7AF644-D8BA-0EB9-0528-A034C64CD469}"/>
              </a:ext>
            </a:extLst>
          </p:cNvPr>
          <p:cNvSpPr txBox="1"/>
          <p:nvPr/>
        </p:nvSpPr>
        <p:spPr>
          <a:xfrm>
            <a:off x="787400" y="38735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2000">
                <a:solidFill>
                  <a:srgbClr val="FFFFFF"/>
                </a:solidFill>
                <a:latin typeface="Aptos Display" panose="020B0004020202020204" pitchFamily="34" charset="0"/>
              </a:rPr>
              <a:t>Evidence arrives before the question. Artifacts arrive before the blank page. Human judgement remains in control.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81B0F0-870F-1DF7-A5B8-38B05E6822F2}"/>
              </a:ext>
            </a:extLst>
          </p:cNvPr>
          <p:cNvSpPr txBox="1"/>
          <p:nvPr/>
        </p:nvSpPr>
        <p:spPr>
          <a:xfrm>
            <a:off x="787400" y="5905500"/>
            <a:ext cx="914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GB" sz="900" b="1">
                <a:solidFill>
                  <a:srgbClr val="B4B0B8"/>
                </a:solidFill>
                <a:latin typeface="Aptos" panose="020B0004020202020204" pitchFamily="34" charset="0"/>
              </a:rPr>
              <a:t>MICROSOFT DATA · M365 · AGENT 365 · FABRIC IQ · AZURE</a:t>
            </a:r>
          </a:p>
        </p:txBody>
      </p:sp>
    </p:spTree>
    <p:extLst>
      <p:ext uri="{BB962C8B-B14F-4D97-AF65-F5344CB8AC3E}">
        <p14:creationId xmlns:p14="http://schemas.microsoft.com/office/powerpoint/2010/main" val="38824235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3984</Words>
  <Application>Microsoft Office PowerPoint</Application>
  <PresentationFormat>Custom</PresentationFormat>
  <Paragraphs>646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Aptos</vt:lpstr>
      <vt:lpstr>Aptos Display</vt:lpstr>
      <vt:lpstr>Arial</vt:lpstr>
      <vt:lpstr>Segoe UI 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Nikhil Anand</dc:creator>
  <cp:lastModifiedBy>Nikhil Anand</cp:lastModifiedBy>
  <cp:revision>1</cp:revision>
  <dcterms:created xsi:type="dcterms:W3CDTF">2026-08-17T04:54:39Z</dcterms:created>
  <dcterms:modified xsi:type="dcterms:W3CDTF">2026-08-17T04:54:39Z</dcterms:modified>
</cp:coreProperties>
</file>