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6" d="100"/>
          <a:sy n="106" d="100"/>
        </p:scale>
        <p:origin x="96" y="1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EC06E6-E5A4-48C3-85B5-227C0055CCFD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4BEC0A3-2B43-4AF7-8D7F-FB35175A2E7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9234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Open with the question on screen. Pause after 'one intelligent system.' Explain that this is a day-in-the-life story, not a technology tour.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8519793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Describe the swivel-chair problem. Avoid naming specific legacy systems. Transition: 'What if the context arrived already understood?'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46404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as the architecture promise in business language. Stress that AI does not replace the RM or remove mandatory checks.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7237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Preview the live demo route. Tell the audience you will use Daniel Lim as the primary client and return to Operations at the end.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05258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Switch from the deck to the live cockpit after this slide. Use the narration script for the detailed click path. Return to the deck for the architecture placeholders if helpful.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945077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slide if the audience asks what AI actually produces. Explain that later stages are deliberately locked until prior artifacts exist.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80584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Screenshot options: Fabric workspace item list, Lakehouse tables, or medallion notebook. State that the web cockpit serves a validated checked-in snapshot rather than querying Fabric on every page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89949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that direct DAX is authoritative for monetary values and hidden identifiers. Avoid claiming that all cockpit metrics are live report visuals.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85936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Be explicit: the ontology definition is deployed and validated, but detailed graph routing is currently disabled because the generated graph model is not query-ready.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336564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Say 'authored fictional Outlook-style correspondence' and 'SharePoint-style document.' Do not imply Graph, mailbox or tenant connectivity.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239413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Explain OBO/delegated access for the Fabric Data Agent. Customer Intelligence is the only Foundry agent with the Fabric tool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4080005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the revision-requested run to show that withheld consent evidence changes the verifier outcome. Distinguish service health, synthetic telemetry and captured replay.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40007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Walk left to right. Explain that authored M365-style sources are demonstration context, Fabric is governed data, and the cockpit does not expose private chain-of-thought.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0600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this slide to answer risk and compliance questions. The demo uses fictional clients and products, but the controls represent real design principles.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585563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Bring the discussion back to the RM and client outcome. Avoid claiming measured productivity benefits unless separately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9535695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Use Daniel to show a fictional equity sale moving observed behaviour from 3 to 2 while declared profile remains 3. Use Mei to show retirement enhanced review and complex-candidate suppression. Never say MAS automatically assigns retirees score 1 or universally bans derivatives.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2374837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/>
              <a:t>Close by restating the answer in business terms. Invite discussion on which RM journeys and evidence sources should be prioritized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4BEC0A3-2B43-4AF7-8D7F-FB35175A2E7D}" type="slidenum">
              <a:rPr lang="en-GB" smtClean="0"/>
              <a:t>17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95140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F394CA-D3E4-18AD-D236-817ACE19A3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364826-9747-1D8B-02C6-3E4CDA4850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344CE-9058-8909-F184-8E1E37AD2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C63936-204E-3198-A25A-AD39D0CDD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672143-7654-5C90-D522-4EA3258468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79209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54E342-4D0E-553A-DE09-2CA9980F0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06BAF8-2BC7-18ED-29CC-3515091771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371666-C1EA-F08F-72E0-856C2BC48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72BFB-9745-B373-7CF9-65D4134A0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743BD0-B832-6890-8B86-7EE780E1E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211371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009AC-5007-306B-C0F7-6DAD1955DB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1C72CF2-4A93-6E32-12C1-31FA1024D3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021746-5599-5FF2-2F11-C09E71FA2F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2FA476-0B68-0486-56BB-890010069A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3EAEB1-3C98-0322-44E0-8589D9A6B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87663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6FA378-C84C-7392-2AF8-803AAEAABA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2A9DC-EF34-93AD-6EA6-77E75C3989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860106-B8E6-4CCD-A9E8-C408CB4246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A6BE3D-D227-3DF4-D73D-EDC5E8A267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D24C83-7208-82C9-FB6E-C2443C41E9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774F3F-1C83-4B31-834C-F5126847F0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87175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575F-EF19-7F41-E064-ACAAF1623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A31189-E1D7-56DC-B995-36811B0290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84C88-BC2B-A91A-B3EA-8A9B7F2B64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5A074A-4EA8-F910-54FF-B329C5D1C9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A7C6F8-EBE7-D298-EF69-43181A79A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2689F1-E070-B9CF-B6E1-606E72097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6579D7F-7CD7-8CBE-BDB4-9BD9597C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8C9826-4C78-A751-B012-5502D7CD0D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8880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490118-080D-13EF-E1DD-51907CEAE0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4A3AFD-5D79-0419-B010-C4D24991E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C7A31D-0384-0336-A330-951DEF495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D65075F-8CF0-D866-A30E-64DB726B0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92172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954C06B-29B2-DECA-1F97-2438F9EA16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A18808-0563-C07C-BC0C-19703F512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3F874-DE5B-EFE9-0874-3905787064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10775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B9119-22DD-44E9-15CA-E7C70995F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581E03-5C69-A944-0AC4-18BCB1406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9E1F7F-2509-360C-7C2C-EAF1DB01C9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3405F64-D86F-BCAA-F875-34863019B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C8F720-BAC6-6B0E-BD5E-BFE4B897C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84BCC7-C65E-9C86-F0BC-7C5789678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10691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66E2E4-A8A1-B541-4E11-BB519EB18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457ED3-C520-629F-5239-1C69D8514B9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ED1E5BD-A742-39F7-DFF7-4C838320F0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DE2F36-4777-B010-E31F-31EF0C9B6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A988834-CF1A-BD71-4908-71C9865FC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BC32B2-1E2D-D474-EDC7-EC1FCC949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6586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569B8-E620-60A7-A10E-75455735B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B8CBA2-B2F9-08F2-40A5-52840819BA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E80ECA-A986-98B5-53B4-CA59C4CC68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929DC7-D961-220D-50CD-6B4C597D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199CB1-8A12-C0DD-D960-5DD4803B0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93532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B3B15C-F0C5-7006-B687-A2299032BC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4A0473-B51B-D8F2-56C9-9F69E68A56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B84A56-110D-7CC5-4011-22716D880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100A04-17DB-CE03-0AD4-5EB7D95AE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8F9344-42C5-FA6C-DDDF-A65CE969D5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852314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C57B56A-B984-282F-75E7-0E3F3CC932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4F1E8B-AADF-62FB-F67E-78EB474FAB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9D99E7-0E2F-D819-417A-D0763B6819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BE93EC4-6E8D-47EC-9D6A-A9BB026F3C3F}" type="datetimeFigureOut">
              <a:rPr lang="en-GB" smtClean="0"/>
              <a:t>17/08/2026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006341-6139-2516-74E6-61166EFC96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80321-E1CA-C8AD-2D7F-709006FA38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5FCAC4D-4F4A-407F-B7DD-625065203024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60912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6CB698-4701-79C8-DDEF-FB9C9AB5EB2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E9CCD7E-AC94-3CA5-73A1-A328DEC89BBC}"/>
              </a:ext>
            </a:extLst>
          </p:cNvPr>
          <p:cNvCxnSpPr/>
          <p:nvPr/>
        </p:nvCxnSpPr>
        <p:spPr>
          <a:xfrm>
            <a:off x="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5E1BA26-A668-4C18-2EBB-F5C40F9F7D6E}"/>
              </a:ext>
            </a:extLst>
          </p:cNvPr>
          <p:cNvCxnSpPr/>
          <p:nvPr/>
        </p:nvCxnSpPr>
        <p:spPr>
          <a:xfrm>
            <a:off x="609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BC57090-82A0-D51A-EA64-EA83C3FECCE2}"/>
              </a:ext>
            </a:extLst>
          </p:cNvPr>
          <p:cNvCxnSpPr/>
          <p:nvPr/>
        </p:nvCxnSpPr>
        <p:spPr>
          <a:xfrm>
            <a:off x="1219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EDDCD367-5ACB-D487-DCBB-9BA28DFBE0D1}"/>
              </a:ext>
            </a:extLst>
          </p:cNvPr>
          <p:cNvCxnSpPr/>
          <p:nvPr/>
        </p:nvCxnSpPr>
        <p:spPr>
          <a:xfrm>
            <a:off x="1828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7158DAB-7048-5047-6F71-A899093A3BE9}"/>
              </a:ext>
            </a:extLst>
          </p:cNvPr>
          <p:cNvCxnSpPr/>
          <p:nvPr/>
        </p:nvCxnSpPr>
        <p:spPr>
          <a:xfrm>
            <a:off x="2438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66F042E-9E01-F691-B13C-3C86881DD55E}"/>
              </a:ext>
            </a:extLst>
          </p:cNvPr>
          <p:cNvCxnSpPr/>
          <p:nvPr/>
        </p:nvCxnSpPr>
        <p:spPr>
          <a:xfrm>
            <a:off x="3048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273BC54-2665-29FF-C0F8-57E0E54987F4}"/>
              </a:ext>
            </a:extLst>
          </p:cNvPr>
          <p:cNvCxnSpPr/>
          <p:nvPr/>
        </p:nvCxnSpPr>
        <p:spPr>
          <a:xfrm>
            <a:off x="3657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B44E1DC-D668-2693-C464-7CAC847D7A84}"/>
              </a:ext>
            </a:extLst>
          </p:cNvPr>
          <p:cNvCxnSpPr/>
          <p:nvPr/>
        </p:nvCxnSpPr>
        <p:spPr>
          <a:xfrm>
            <a:off x="4267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62BCBBE-DE55-9BB4-7815-54C315A94385}"/>
              </a:ext>
            </a:extLst>
          </p:cNvPr>
          <p:cNvCxnSpPr/>
          <p:nvPr/>
        </p:nvCxnSpPr>
        <p:spPr>
          <a:xfrm>
            <a:off x="4876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576AABB0-38AB-F99C-7293-C241C12E4C78}"/>
              </a:ext>
            </a:extLst>
          </p:cNvPr>
          <p:cNvCxnSpPr/>
          <p:nvPr/>
        </p:nvCxnSpPr>
        <p:spPr>
          <a:xfrm>
            <a:off x="5486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DCBD6FE2-A059-472C-8DC8-3C2454D531E3}"/>
              </a:ext>
            </a:extLst>
          </p:cNvPr>
          <p:cNvCxnSpPr/>
          <p:nvPr/>
        </p:nvCxnSpPr>
        <p:spPr>
          <a:xfrm>
            <a:off x="6096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90A8DA0-DF74-55A4-6FAD-4BC0B5C6DCB9}"/>
              </a:ext>
            </a:extLst>
          </p:cNvPr>
          <p:cNvCxnSpPr/>
          <p:nvPr/>
        </p:nvCxnSpPr>
        <p:spPr>
          <a:xfrm>
            <a:off x="6705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78A1138-435F-4E43-9F98-DE422EDABB9F}"/>
              </a:ext>
            </a:extLst>
          </p:cNvPr>
          <p:cNvCxnSpPr/>
          <p:nvPr/>
        </p:nvCxnSpPr>
        <p:spPr>
          <a:xfrm>
            <a:off x="7315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7230358-8710-D095-990E-0AEE4A5EBA62}"/>
              </a:ext>
            </a:extLst>
          </p:cNvPr>
          <p:cNvCxnSpPr/>
          <p:nvPr/>
        </p:nvCxnSpPr>
        <p:spPr>
          <a:xfrm>
            <a:off x="7924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242F5906-35F4-99F1-3E14-54A97B40F448}"/>
              </a:ext>
            </a:extLst>
          </p:cNvPr>
          <p:cNvCxnSpPr/>
          <p:nvPr/>
        </p:nvCxnSpPr>
        <p:spPr>
          <a:xfrm>
            <a:off x="8534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2882EF9D-632F-304E-0F6A-3F26D1ADA024}"/>
              </a:ext>
            </a:extLst>
          </p:cNvPr>
          <p:cNvCxnSpPr/>
          <p:nvPr/>
        </p:nvCxnSpPr>
        <p:spPr>
          <a:xfrm>
            <a:off x="9144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CD6458-726F-E49F-DFEC-05D94304792D}"/>
              </a:ext>
            </a:extLst>
          </p:cNvPr>
          <p:cNvCxnSpPr/>
          <p:nvPr/>
        </p:nvCxnSpPr>
        <p:spPr>
          <a:xfrm>
            <a:off x="97536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F8FF1C2-7F04-1C21-AC68-0CB5E49E794C}"/>
              </a:ext>
            </a:extLst>
          </p:cNvPr>
          <p:cNvCxnSpPr/>
          <p:nvPr/>
        </p:nvCxnSpPr>
        <p:spPr>
          <a:xfrm>
            <a:off x="103632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97E6AC-6CE2-C3EF-43CF-F2229921265B}"/>
              </a:ext>
            </a:extLst>
          </p:cNvPr>
          <p:cNvCxnSpPr/>
          <p:nvPr/>
        </p:nvCxnSpPr>
        <p:spPr>
          <a:xfrm>
            <a:off x="109728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8888D03-AAA3-2E73-2B56-C10878AA45A9}"/>
              </a:ext>
            </a:extLst>
          </p:cNvPr>
          <p:cNvCxnSpPr/>
          <p:nvPr/>
        </p:nvCxnSpPr>
        <p:spPr>
          <a:xfrm>
            <a:off x="115824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6303E69-72F0-DEA5-BBFD-C992B522F43F}"/>
              </a:ext>
            </a:extLst>
          </p:cNvPr>
          <p:cNvCxnSpPr/>
          <p:nvPr/>
        </p:nvCxnSpPr>
        <p:spPr>
          <a:xfrm>
            <a:off x="12192000" y="0"/>
            <a:ext cx="0" cy="685800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5FCBBD4-0C3A-6184-6012-E31DAFAADE99}"/>
              </a:ext>
            </a:extLst>
          </p:cNvPr>
          <p:cNvCxnSpPr/>
          <p:nvPr/>
        </p:nvCxnSpPr>
        <p:spPr>
          <a:xfrm>
            <a:off x="0" y="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5CDDB39F-62E8-3620-A146-A4DA172235D9}"/>
              </a:ext>
            </a:extLst>
          </p:cNvPr>
          <p:cNvCxnSpPr/>
          <p:nvPr/>
        </p:nvCxnSpPr>
        <p:spPr>
          <a:xfrm>
            <a:off x="0" y="609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ADC0C18D-9CD5-C941-CE01-263087CC732D}"/>
              </a:ext>
            </a:extLst>
          </p:cNvPr>
          <p:cNvCxnSpPr/>
          <p:nvPr/>
        </p:nvCxnSpPr>
        <p:spPr>
          <a:xfrm>
            <a:off x="0" y="1219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195E3320-4135-6068-E714-ED686DAC66AD}"/>
              </a:ext>
            </a:extLst>
          </p:cNvPr>
          <p:cNvCxnSpPr/>
          <p:nvPr/>
        </p:nvCxnSpPr>
        <p:spPr>
          <a:xfrm>
            <a:off x="0" y="1828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003F1780-A52E-4A4D-CC66-51F9FFBC3EF0}"/>
              </a:ext>
            </a:extLst>
          </p:cNvPr>
          <p:cNvCxnSpPr/>
          <p:nvPr/>
        </p:nvCxnSpPr>
        <p:spPr>
          <a:xfrm>
            <a:off x="0" y="2438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1FA41073-901E-CF74-FFE1-77380BF2ACA5}"/>
              </a:ext>
            </a:extLst>
          </p:cNvPr>
          <p:cNvCxnSpPr/>
          <p:nvPr/>
        </p:nvCxnSpPr>
        <p:spPr>
          <a:xfrm>
            <a:off x="0" y="3048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7A464886-3177-E2FB-A5FE-1928D4E4B45F}"/>
              </a:ext>
            </a:extLst>
          </p:cNvPr>
          <p:cNvCxnSpPr/>
          <p:nvPr/>
        </p:nvCxnSpPr>
        <p:spPr>
          <a:xfrm>
            <a:off x="0" y="3657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7B459E4-2650-B9D1-24F8-1E78336B6F95}"/>
              </a:ext>
            </a:extLst>
          </p:cNvPr>
          <p:cNvCxnSpPr/>
          <p:nvPr/>
        </p:nvCxnSpPr>
        <p:spPr>
          <a:xfrm>
            <a:off x="0" y="42672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70A261-B15F-29E3-3B9A-57A5B6912B0C}"/>
              </a:ext>
            </a:extLst>
          </p:cNvPr>
          <p:cNvCxnSpPr/>
          <p:nvPr/>
        </p:nvCxnSpPr>
        <p:spPr>
          <a:xfrm>
            <a:off x="0" y="48768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BAC49D4-ED4D-B5AA-F565-E61C4AD83D0D}"/>
              </a:ext>
            </a:extLst>
          </p:cNvPr>
          <p:cNvCxnSpPr/>
          <p:nvPr/>
        </p:nvCxnSpPr>
        <p:spPr>
          <a:xfrm>
            <a:off x="0" y="54864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85212851-152E-8CDB-B0A6-3CE2C0712285}"/>
              </a:ext>
            </a:extLst>
          </p:cNvPr>
          <p:cNvCxnSpPr/>
          <p:nvPr/>
        </p:nvCxnSpPr>
        <p:spPr>
          <a:xfrm>
            <a:off x="0" y="60960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C7B70E1-372A-1AD8-1540-EF5453D325C2}"/>
              </a:ext>
            </a:extLst>
          </p:cNvPr>
          <p:cNvCxnSpPr/>
          <p:nvPr/>
        </p:nvCxnSpPr>
        <p:spPr>
          <a:xfrm>
            <a:off x="0" y="6705600"/>
            <a:ext cx="12192000" cy="0"/>
          </a:xfrm>
          <a:prstGeom prst="line">
            <a:avLst/>
          </a:prstGeom>
          <a:ln w="19050" cap="flat" cmpd="sng" algn="ctr">
            <a:solidFill>
              <a:srgbClr val="48444A">
                <a:alpha val="35000"/>
              </a:srgb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Rectangle 35">
            <a:extLst>
              <a:ext uri="{FF2B5EF4-FFF2-40B4-BE49-F238E27FC236}">
                <a16:creationId xmlns:a16="http://schemas.microsoft.com/office/drawing/2014/main" id="{8AB4A9C6-5E4D-9545-7BE3-8F860CEFF9E7}"/>
              </a:ext>
            </a:extLst>
          </p:cNvPr>
          <p:cNvSpPr/>
          <p:nvPr/>
        </p:nvSpPr>
        <p:spPr>
          <a:xfrm>
            <a:off x="0" y="0"/>
            <a:ext cx="101600" cy="68580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" name="Rectangle: Rounded Corners 36">
            <a:extLst>
              <a:ext uri="{FF2B5EF4-FFF2-40B4-BE49-F238E27FC236}">
                <a16:creationId xmlns:a16="http://schemas.microsoft.com/office/drawing/2014/main" id="{26E7FC4E-E3EA-1C1A-4A63-46A2AEDB1275}"/>
              </a:ext>
            </a:extLst>
          </p:cNvPr>
          <p:cNvSpPr/>
          <p:nvPr/>
        </p:nvSpPr>
        <p:spPr>
          <a:xfrm>
            <a:off x="787400" y="736600"/>
            <a:ext cx="2336800" cy="304800"/>
          </a:xfrm>
          <a:prstGeom prst="round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ACDB8A-59A4-4547-4E9E-7D834A91D87C}"/>
              </a:ext>
            </a:extLst>
          </p:cNvPr>
          <p:cNvSpPr txBox="1"/>
          <p:nvPr/>
        </p:nvSpPr>
        <p:spPr>
          <a:xfrm>
            <a:off x="876300" y="800100"/>
            <a:ext cx="21590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EXECUTIVE BRIEFING CENTRE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6B8364F4-79AF-221C-B18B-CB5CFD59CB04}"/>
              </a:ext>
            </a:extLst>
          </p:cNvPr>
          <p:cNvSpPr txBox="1"/>
          <p:nvPr/>
        </p:nvSpPr>
        <p:spPr>
          <a:xfrm>
            <a:off x="787400" y="1587500"/>
            <a:ext cx="10287000" cy="104644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400" b="1">
                <a:solidFill>
                  <a:srgbClr val="FFFFFF"/>
                </a:solidFill>
                <a:latin typeface="Aptos Display" panose="020B0004020202020204" pitchFamily="34" charset="0"/>
              </a:rPr>
              <a:t>What would a day in the life of a Relationship Manager look like…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B6C0A89-EDAE-C4DA-F935-E8510647B4DB}"/>
              </a:ext>
            </a:extLst>
          </p:cNvPr>
          <p:cNvSpPr txBox="1"/>
          <p:nvPr/>
        </p:nvSpPr>
        <p:spPr>
          <a:xfrm>
            <a:off x="787400" y="3022600"/>
            <a:ext cx="9906000" cy="73866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400" b="1">
                <a:solidFill>
                  <a:srgbClr val="FF7188"/>
                </a:solidFill>
                <a:latin typeface="Aptos Display" panose="020B0004020202020204" pitchFamily="34" charset="0"/>
              </a:rPr>
              <a:t>…if bank data, knowledge, applications and AI capabilities worked together as one intelligent system?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C94B87-1B19-2578-E1EB-409A33AE3768}"/>
              </a:ext>
            </a:extLst>
          </p:cNvPr>
          <p:cNvSpPr txBox="1"/>
          <p:nvPr/>
        </p:nvSpPr>
        <p:spPr>
          <a:xfrm>
            <a:off x="787400" y="5156200"/>
            <a:ext cx="2540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FRONTIER RM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33215AE-C1B4-B724-1C93-4A046BBC6E20}"/>
              </a:ext>
            </a:extLst>
          </p:cNvPr>
          <p:cNvSpPr txBox="1"/>
          <p:nvPr/>
        </p:nvSpPr>
        <p:spPr>
          <a:xfrm>
            <a:off x="787400" y="5524500"/>
            <a:ext cx="63500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300">
                <a:solidFill>
                  <a:srgbClr val="C6C2C9"/>
                </a:solidFill>
                <a:latin typeface="Aptos" panose="020B0004020202020204" pitchFamily="34" charset="0"/>
              </a:rPr>
              <a:t>A governed, human-controlled relationship workspace</a:t>
            </a:r>
          </a:p>
        </p:txBody>
      </p:sp>
    </p:spTree>
    <p:extLst>
      <p:ext uri="{BB962C8B-B14F-4D97-AF65-F5344CB8AC3E}">
        <p14:creationId xmlns:p14="http://schemas.microsoft.com/office/powerpoint/2010/main" val="14078196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8F0A885-E70B-197A-9E5F-0A93A476F895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CURRENT REALITY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535759E-4429-2DA1-40E8-B0C61192FE93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The RM spends the day assembling context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551D71-6F92-7EF6-625D-756DC4FED638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Signals exist across systems, but the work of connecting them still falls to the relationship manager.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112E816-827D-3E64-310D-279D44F44BCF}"/>
              </a:ext>
            </a:extLst>
          </p:cNvPr>
          <p:cNvSpPr/>
          <p:nvPr/>
        </p:nvSpPr>
        <p:spPr>
          <a:xfrm>
            <a:off x="6858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B6D069D-B71B-5076-3B52-1E500060AF67}"/>
              </a:ext>
            </a:extLst>
          </p:cNvPr>
          <p:cNvSpPr txBox="1"/>
          <p:nvPr/>
        </p:nvSpPr>
        <p:spPr>
          <a:xfrm>
            <a:off x="8890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B00020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7D3A2F0-DC88-F091-EEC4-1EB2B173F4FE}"/>
              </a:ext>
            </a:extLst>
          </p:cNvPr>
          <p:cNvSpPr txBox="1"/>
          <p:nvPr/>
        </p:nvSpPr>
        <p:spPr>
          <a:xfrm>
            <a:off x="8890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Find the client context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4A568BA-6157-EE74-5D0E-CE10185F69B4}"/>
              </a:ext>
            </a:extLst>
          </p:cNvPr>
          <p:cNvSpPr txBox="1"/>
          <p:nvPr/>
        </p:nvSpPr>
        <p:spPr>
          <a:xfrm>
            <a:off x="889000" y="3403600"/>
            <a:ext cx="2070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Search accounts, holdings, profile, consent and previous interactions.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15F70B4-5B47-835D-5F6E-6273A7A3D13D}"/>
              </a:ext>
            </a:extLst>
          </p:cNvPr>
          <p:cNvSpPr/>
          <p:nvPr/>
        </p:nvSpPr>
        <p:spPr>
          <a:xfrm>
            <a:off x="34036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59C5FE0-4D36-D93F-547D-F98C48674167}"/>
              </a:ext>
            </a:extLst>
          </p:cNvPr>
          <p:cNvSpPr txBox="1"/>
          <p:nvPr/>
        </p:nvSpPr>
        <p:spPr>
          <a:xfrm>
            <a:off x="36068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A65D00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CF43A0F-1079-191A-5C27-202787756618}"/>
              </a:ext>
            </a:extLst>
          </p:cNvPr>
          <p:cNvSpPr txBox="1"/>
          <p:nvPr/>
        </p:nvSpPr>
        <p:spPr>
          <a:xfrm>
            <a:off x="36068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Interpret the need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3A26757-95BA-EC8E-71EC-33B28C709BDF}"/>
              </a:ext>
            </a:extLst>
          </p:cNvPr>
          <p:cNvSpPr txBox="1"/>
          <p:nvPr/>
        </p:nvSpPr>
        <p:spPr>
          <a:xfrm>
            <a:off x="3606800" y="3403600"/>
            <a:ext cx="20701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Connect lifecycle events, objectives, liquidity, risk and market context.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CB43E760-342E-AB15-5B68-1812FEED37BB}"/>
              </a:ext>
            </a:extLst>
          </p:cNvPr>
          <p:cNvSpPr/>
          <p:nvPr/>
        </p:nvSpPr>
        <p:spPr>
          <a:xfrm>
            <a:off x="61214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570F005-505F-7577-250A-A19A8ACEB3BC}"/>
              </a:ext>
            </a:extLst>
          </p:cNvPr>
          <p:cNvSpPr txBox="1"/>
          <p:nvPr/>
        </p:nvSpPr>
        <p:spPr>
          <a:xfrm>
            <a:off x="63246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F5F99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444C00-0395-757C-ECCC-BC3D3067A726}"/>
              </a:ext>
            </a:extLst>
          </p:cNvPr>
          <p:cNvSpPr txBox="1"/>
          <p:nvPr/>
        </p:nvSpPr>
        <p:spPr>
          <a:xfrm>
            <a:off x="63246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Prepare the conversation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125958-2BCC-5DD2-063B-8112897EBC59}"/>
              </a:ext>
            </a:extLst>
          </p:cNvPr>
          <p:cNvSpPr txBox="1"/>
          <p:nvPr/>
        </p:nvSpPr>
        <p:spPr>
          <a:xfrm>
            <a:off x="6324600" y="3403600"/>
            <a:ext cx="2070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Read correspondence, find guidance and assemble a client-specific talk track.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1301779E-57CD-19A6-0234-A83F5A319867}"/>
              </a:ext>
            </a:extLst>
          </p:cNvPr>
          <p:cNvSpPr/>
          <p:nvPr/>
        </p:nvSpPr>
        <p:spPr>
          <a:xfrm>
            <a:off x="8839200" y="2222500"/>
            <a:ext cx="2476500" cy="2984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6A910DA-C5B3-797A-7FB1-C903C2FE330F}"/>
              </a:ext>
            </a:extLst>
          </p:cNvPr>
          <p:cNvSpPr txBox="1"/>
          <p:nvPr/>
        </p:nvSpPr>
        <p:spPr>
          <a:xfrm>
            <a:off x="9042400" y="2413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47A52"/>
                </a:solidFill>
                <a:latin typeface="Aptos Display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73A3AC1-9B13-4FB2-501E-0A201FA607B4}"/>
              </a:ext>
            </a:extLst>
          </p:cNvPr>
          <p:cNvSpPr txBox="1"/>
          <p:nvPr/>
        </p:nvSpPr>
        <p:spPr>
          <a:xfrm>
            <a:off x="9042400" y="2844800"/>
            <a:ext cx="20701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Record the follow-up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BC25154-76ED-9A82-86A7-2CE7FF31659B}"/>
              </a:ext>
            </a:extLst>
          </p:cNvPr>
          <p:cNvSpPr txBox="1"/>
          <p:nvPr/>
        </p:nvSpPr>
        <p:spPr>
          <a:xfrm>
            <a:off x="9042400" y="3403600"/>
            <a:ext cx="20701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Draft the email, create the CRM record and preserve the evidence trail.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1294B0F-9927-9050-D617-BA89E0A42840}"/>
              </a:ext>
            </a:extLst>
          </p:cNvPr>
          <p:cNvSpPr txBox="1"/>
          <p:nvPr/>
        </p:nvSpPr>
        <p:spPr>
          <a:xfrm>
            <a:off x="1206500" y="5613400"/>
            <a:ext cx="9779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500" b="1">
                <a:solidFill>
                  <a:srgbClr val="8F001A"/>
                </a:solidFill>
                <a:latin typeface="Aptos" panose="020B0004020202020204" pitchFamily="34" charset="0"/>
              </a:rPr>
              <a:t>The opportunity is not another assistant. It is an intelligent operating layer around the RM.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E1AF43E-D3E8-49E0-2C6D-715A6D41F7D4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825E4D2-2740-D2B4-BFCC-DC9A8E7A1B4C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8BF59FF-7CF5-73D3-156E-FFB169A58BDA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439460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7A6B1-ECC9-5741-2F41-8F527524BE66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NORTH STAR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27EDFCA-6AE1-8BDE-ACF6-03AC7FDD8528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One governed system around the RM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5FDEC6-8907-B74D-429A-217CF76D61BD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Data and AI do the synthesis. The RM owns the judgment, suitability decision and client relationship.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C8A48F7-DF61-5808-406E-11A937BA19D5}"/>
              </a:ext>
            </a:extLst>
          </p:cNvPr>
          <p:cNvSpPr/>
          <p:nvPr/>
        </p:nvSpPr>
        <p:spPr>
          <a:xfrm>
            <a:off x="863600" y="2349500"/>
            <a:ext cx="1803400" cy="1803400"/>
          </a:xfrm>
          <a:prstGeom prst="ellipse">
            <a:avLst/>
          </a:prstGeom>
          <a:solidFill>
            <a:srgbClr val="1F5F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8B1B54-C202-41FE-ADEA-66EE9C66C9B6}"/>
              </a:ext>
            </a:extLst>
          </p:cNvPr>
          <p:cNvSpPr txBox="1"/>
          <p:nvPr/>
        </p:nvSpPr>
        <p:spPr>
          <a:xfrm>
            <a:off x="10541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9CD3852-35F6-53F5-FB80-7D1A5F845DD7}"/>
              </a:ext>
            </a:extLst>
          </p:cNvPr>
          <p:cNvSpPr txBox="1"/>
          <p:nvPr/>
        </p:nvSpPr>
        <p:spPr>
          <a:xfrm>
            <a:off x="10160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Fabric · client facts · lifecycle events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6198BFB-C53D-F2D6-6E7A-EC04FFB232A8}"/>
              </a:ext>
            </a:extLst>
          </p:cNvPr>
          <p:cNvSpPr txBox="1"/>
          <p:nvPr/>
        </p:nvSpPr>
        <p:spPr>
          <a:xfrm>
            <a:off x="28575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B75B433-1D2A-C6EC-0942-C6F45CDC1660}"/>
              </a:ext>
            </a:extLst>
          </p:cNvPr>
          <p:cNvSpPr/>
          <p:nvPr/>
        </p:nvSpPr>
        <p:spPr>
          <a:xfrm>
            <a:off x="3479800" y="2349500"/>
            <a:ext cx="1803400" cy="1803400"/>
          </a:xfrm>
          <a:prstGeom prst="ellipse">
            <a:avLst/>
          </a:prstGeom>
          <a:solidFill>
            <a:srgbClr val="A65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BA938-0A1B-2D5F-CE20-CCAFD9A77EA7}"/>
              </a:ext>
            </a:extLst>
          </p:cNvPr>
          <p:cNvSpPr txBox="1"/>
          <p:nvPr/>
        </p:nvSpPr>
        <p:spPr>
          <a:xfrm>
            <a:off x="36703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KNOWLEDGE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A6B5426-CF3E-592F-564C-FE5BAB41845D}"/>
              </a:ext>
            </a:extLst>
          </p:cNvPr>
          <p:cNvSpPr txBox="1"/>
          <p:nvPr/>
        </p:nvSpPr>
        <p:spPr>
          <a:xfrm>
            <a:off x="36322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Policy · product guidance · source boundaries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ADF5259-B3CA-82D4-D85E-F36EDD16C5DC}"/>
              </a:ext>
            </a:extLst>
          </p:cNvPr>
          <p:cNvSpPr txBox="1"/>
          <p:nvPr/>
        </p:nvSpPr>
        <p:spPr>
          <a:xfrm>
            <a:off x="54737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A6362EF4-C6A9-3F41-8094-13E1C7F1066E}"/>
              </a:ext>
            </a:extLst>
          </p:cNvPr>
          <p:cNvSpPr/>
          <p:nvPr/>
        </p:nvSpPr>
        <p:spPr>
          <a:xfrm>
            <a:off x="6096000" y="2349500"/>
            <a:ext cx="1803400" cy="1803400"/>
          </a:xfrm>
          <a:prstGeom prst="ellipse">
            <a:avLst/>
          </a:prstGeom>
          <a:solidFill>
            <a:srgbClr val="147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9CF1EF-E8E8-E145-1F52-4B606552BA6C}"/>
              </a:ext>
            </a:extLst>
          </p:cNvPr>
          <p:cNvSpPr txBox="1"/>
          <p:nvPr/>
        </p:nvSpPr>
        <p:spPr>
          <a:xfrm>
            <a:off x="62865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APPLICATIONS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5A31B8-9880-649B-D7EF-32F1EF5200BD}"/>
              </a:ext>
            </a:extLst>
          </p:cNvPr>
          <p:cNvSpPr txBox="1"/>
          <p:nvPr/>
        </p:nvSpPr>
        <p:spPr>
          <a:xfrm>
            <a:off x="62484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Outlook-style sources · CRM drafts · Teams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D5A215-FB68-8707-BDC6-188C603F68CD}"/>
              </a:ext>
            </a:extLst>
          </p:cNvPr>
          <p:cNvSpPr txBox="1"/>
          <p:nvPr/>
        </p:nvSpPr>
        <p:spPr>
          <a:xfrm>
            <a:off x="8089900" y="2921000"/>
            <a:ext cx="317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b="1">
                <a:solidFill>
                  <a:srgbClr val="69646A"/>
                </a:solidFill>
                <a:latin typeface="Aptos" panose="020B0004020202020204" pitchFamily="34" charset="0"/>
              </a:rPr>
              <a:t>+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56CCB21F-574F-9799-27F7-5009B56EDC21}"/>
              </a:ext>
            </a:extLst>
          </p:cNvPr>
          <p:cNvSpPr/>
          <p:nvPr/>
        </p:nvSpPr>
        <p:spPr>
          <a:xfrm>
            <a:off x="8712200" y="2349500"/>
            <a:ext cx="1803400" cy="1803400"/>
          </a:xfrm>
          <a:prstGeom prst="ellipse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D92A86C-4989-177C-D244-3C951BA0768D}"/>
              </a:ext>
            </a:extLst>
          </p:cNvPr>
          <p:cNvSpPr txBox="1"/>
          <p:nvPr/>
        </p:nvSpPr>
        <p:spPr>
          <a:xfrm>
            <a:off x="8902700" y="2794000"/>
            <a:ext cx="14224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FFFFFF"/>
                </a:solidFill>
                <a:latin typeface="Aptos" panose="020B0004020202020204" pitchFamily="34" charset="0"/>
              </a:rPr>
              <a:t>AI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5D571B5-0991-0666-B615-685CFD835C4D}"/>
              </a:ext>
            </a:extLst>
          </p:cNvPr>
          <p:cNvSpPr txBox="1"/>
          <p:nvPr/>
        </p:nvSpPr>
        <p:spPr>
          <a:xfrm>
            <a:off x="8864600" y="3200400"/>
            <a:ext cx="14986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>
                <a:solidFill>
                  <a:srgbClr val="FFFFFF"/>
                </a:solidFill>
                <a:latin typeface="Aptos" panose="020B0004020202020204" pitchFamily="34" charset="0"/>
              </a:rPr>
              <a:t>Orchestration · generation · verification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55A66974-7D85-1920-A4BD-38F6E83D9042}"/>
              </a:ext>
            </a:extLst>
          </p:cNvPr>
          <p:cNvSpPr/>
          <p:nvPr/>
        </p:nvSpPr>
        <p:spPr>
          <a:xfrm>
            <a:off x="3035300" y="4635500"/>
            <a:ext cx="6121400" cy="8509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E14D6D4-AF4F-1AB7-12EF-2471418FF889}"/>
              </a:ext>
            </a:extLst>
          </p:cNvPr>
          <p:cNvSpPr txBox="1"/>
          <p:nvPr/>
        </p:nvSpPr>
        <p:spPr>
          <a:xfrm>
            <a:off x="3530600" y="4813300"/>
            <a:ext cx="5130800" cy="21544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400" b="1">
                <a:solidFill>
                  <a:srgbClr val="FFFFFF"/>
                </a:solidFill>
                <a:latin typeface="Aptos" panose="020B0004020202020204" pitchFamily="34" charset="0"/>
              </a:rPr>
              <a:t>RELATIONSHIP MANAGER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00DB390-DC24-D1C1-2990-F64D2C6AB63C}"/>
              </a:ext>
            </a:extLst>
          </p:cNvPr>
          <p:cNvSpPr txBox="1"/>
          <p:nvPr/>
        </p:nvSpPr>
        <p:spPr>
          <a:xfrm>
            <a:off x="3530600" y="5143500"/>
            <a:ext cx="51308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C6C2C9"/>
                </a:solidFill>
                <a:latin typeface="Aptos" panose="020B0004020202020204" pitchFamily="34" charset="0"/>
              </a:rPr>
              <a:t>Evidence visible · Human judgment in control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2C1C41D-D9CB-8426-94A3-9EA1296D7E65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83B4C0A2-410B-B6F7-582F-5CAFE69814B9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DE2C635-3A9C-C919-3871-DC1F06D996BC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040224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81785DF-0256-A22E-CE40-EDF290D09C84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A DAY IN MOTION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7146B7A-CDFF-F5C7-43A0-8D3F51681E6C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From morning signal to governed follow-up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519B0-B92A-DB91-03F7-E8CAE4470C17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experience follows relationship-manager work, not the underlying product boundaries.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E48C60E-8005-1DE8-050A-F8DEB4D881F3}"/>
              </a:ext>
            </a:extLst>
          </p:cNvPr>
          <p:cNvCxnSpPr/>
          <p:nvPr/>
        </p:nvCxnSpPr>
        <p:spPr>
          <a:xfrm>
            <a:off x="1333500" y="3530600"/>
            <a:ext cx="9525000" cy="0"/>
          </a:xfrm>
          <a:prstGeom prst="line">
            <a:avLst/>
          </a:prstGeom>
          <a:ln w="50800"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FC08547B-94DB-8FDD-7471-B7545345472D}"/>
              </a:ext>
            </a:extLst>
          </p:cNvPr>
          <p:cNvSpPr/>
          <p:nvPr/>
        </p:nvSpPr>
        <p:spPr>
          <a:xfrm>
            <a:off x="1143000" y="3251200"/>
            <a:ext cx="558800" cy="558800"/>
          </a:xfrm>
          <a:prstGeom prst="ellipse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7C0BF77-A3AE-4F5D-7CB4-91168E3D80CD}"/>
              </a:ext>
            </a:extLst>
          </p:cNvPr>
          <p:cNvSpPr txBox="1"/>
          <p:nvPr/>
        </p:nvSpPr>
        <p:spPr>
          <a:xfrm>
            <a:off x="12446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883CB8-C0EA-0A91-5269-4AE2C6AC6114}"/>
              </a:ext>
            </a:extLst>
          </p:cNvPr>
          <p:cNvSpPr txBox="1"/>
          <p:nvPr/>
        </p:nvSpPr>
        <p:spPr>
          <a:xfrm>
            <a:off x="10922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08:30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4D2FD3-F051-6E38-59D7-15D935D23DAB}"/>
              </a:ext>
            </a:extLst>
          </p:cNvPr>
          <p:cNvSpPr txBox="1"/>
          <p:nvPr/>
        </p:nvSpPr>
        <p:spPr>
          <a:xfrm>
            <a:off x="5715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B00020"/>
                </a:solidFill>
                <a:latin typeface="Aptos" panose="020B0004020202020204" pitchFamily="34" charset="0"/>
              </a:rPr>
              <a:t>TRIAGE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1589854-963B-28F3-D6D8-8543F475BD48}"/>
              </a:ext>
            </a:extLst>
          </p:cNvPr>
          <p:cNvSpPr txBox="1"/>
          <p:nvPr/>
        </p:nvSpPr>
        <p:spPr>
          <a:xfrm>
            <a:off x="5334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Priorities and reviews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ED46871-6485-1B97-5A54-9F003CA8EDAE}"/>
              </a:ext>
            </a:extLst>
          </p:cNvPr>
          <p:cNvSpPr/>
          <p:nvPr/>
        </p:nvSpPr>
        <p:spPr>
          <a:xfrm>
            <a:off x="3517900" y="3251200"/>
            <a:ext cx="558800" cy="558800"/>
          </a:xfrm>
          <a:prstGeom prst="ellipse">
            <a:avLst/>
          </a:prstGeom>
          <a:solidFill>
            <a:srgbClr val="1F5F9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A1E9FD-DD40-A7F6-D837-8A388099F49A}"/>
              </a:ext>
            </a:extLst>
          </p:cNvPr>
          <p:cNvSpPr txBox="1"/>
          <p:nvPr/>
        </p:nvSpPr>
        <p:spPr>
          <a:xfrm>
            <a:off x="36195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8BB5AA2-1ECF-08C0-2D7C-7762AA46D57B}"/>
              </a:ext>
            </a:extLst>
          </p:cNvPr>
          <p:cNvSpPr txBox="1"/>
          <p:nvPr/>
        </p:nvSpPr>
        <p:spPr>
          <a:xfrm>
            <a:off x="34671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09:15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7898B47-C413-8BC7-E55A-D5A1D654E114}"/>
              </a:ext>
            </a:extLst>
          </p:cNvPr>
          <p:cNvSpPr txBox="1"/>
          <p:nvPr/>
        </p:nvSpPr>
        <p:spPr>
          <a:xfrm>
            <a:off x="29464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1F5F99"/>
                </a:solidFill>
                <a:latin typeface="Aptos" panose="020B0004020202020204" pitchFamily="34" charset="0"/>
              </a:rPr>
              <a:t>UNDERSTAND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93CAA96-1072-D47E-7C3A-8D9190555E3F}"/>
              </a:ext>
            </a:extLst>
          </p:cNvPr>
          <p:cNvSpPr txBox="1"/>
          <p:nvPr/>
        </p:nvSpPr>
        <p:spPr>
          <a:xfrm>
            <a:off x="29083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Client 360 + sources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644ED2A-034B-E6C6-5CA2-E311CF350FF3}"/>
              </a:ext>
            </a:extLst>
          </p:cNvPr>
          <p:cNvSpPr/>
          <p:nvPr/>
        </p:nvSpPr>
        <p:spPr>
          <a:xfrm>
            <a:off x="5892800" y="3251200"/>
            <a:ext cx="558800" cy="558800"/>
          </a:xfrm>
          <a:prstGeom prst="ellipse">
            <a:avLst/>
          </a:prstGeom>
          <a:solidFill>
            <a:srgbClr val="A65D0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E9538D-45FF-5ABE-9A10-8BB1B3E3BD04}"/>
              </a:ext>
            </a:extLst>
          </p:cNvPr>
          <p:cNvSpPr txBox="1"/>
          <p:nvPr/>
        </p:nvSpPr>
        <p:spPr>
          <a:xfrm>
            <a:off x="59944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8582AFF-76D1-39F2-20C5-312277542508}"/>
              </a:ext>
            </a:extLst>
          </p:cNvPr>
          <p:cNvSpPr txBox="1"/>
          <p:nvPr/>
        </p:nvSpPr>
        <p:spPr>
          <a:xfrm>
            <a:off x="58420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10:00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57BA450-5991-131B-8798-FA81A27C69F1}"/>
              </a:ext>
            </a:extLst>
          </p:cNvPr>
          <p:cNvSpPr txBox="1"/>
          <p:nvPr/>
        </p:nvSpPr>
        <p:spPr>
          <a:xfrm>
            <a:off x="53213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A65D00"/>
                </a:solidFill>
                <a:latin typeface="Aptos" panose="020B0004020202020204" pitchFamily="34" charset="0"/>
              </a:rPr>
              <a:t>PREPARE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F8B70AF-3FDD-16E9-3AF4-BD6072C5C290}"/>
              </a:ext>
            </a:extLst>
          </p:cNvPr>
          <p:cNvSpPr txBox="1"/>
          <p:nvPr/>
        </p:nvSpPr>
        <p:spPr>
          <a:xfrm>
            <a:off x="52832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Meeting briefing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05C6A91-5936-1CC2-84D2-CE608CD77CC6}"/>
              </a:ext>
            </a:extLst>
          </p:cNvPr>
          <p:cNvSpPr/>
          <p:nvPr/>
        </p:nvSpPr>
        <p:spPr>
          <a:xfrm>
            <a:off x="8267700" y="3251200"/>
            <a:ext cx="558800" cy="558800"/>
          </a:xfrm>
          <a:prstGeom prst="ellipse">
            <a:avLst/>
          </a:prstGeom>
          <a:solidFill>
            <a:srgbClr val="147A5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44F6E66-9050-4B04-A306-66FE6E188EC3}"/>
              </a:ext>
            </a:extLst>
          </p:cNvPr>
          <p:cNvSpPr txBox="1"/>
          <p:nvPr/>
        </p:nvSpPr>
        <p:spPr>
          <a:xfrm>
            <a:off x="83693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76B317C-6D4B-D095-5F48-D82B619307F8}"/>
              </a:ext>
            </a:extLst>
          </p:cNvPr>
          <p:cNvSpPr txBox="1"/>
          <p:nvPr/>
        </p:nvSpPr>
        <p:spPr>
          <a:xfrm>
            <a:off x="82169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11:30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4317ACC-7B22-9C67-E0C2-BDD9DB76E1D5}"/>
              </a:ext>
            </a:extLst>
          </p:cNvPr>
          <p:cNvSpPr txBox="1"/>
          <p:nvPr/>
        </p:nvSpPr>
        <p:spPr>
          <a:xfrm>
            <a:off x="76962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147A52"/>
                </a:solidFill>
                <a:latin typeface="Aptos" panose="020B0004020202020204" pitchFamily="34" charset="0"/>
              </a:rPr>
              <a:t>DECIDE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8465232-414C-136A-7C02-02F9DAF4D67E}"/>
              </a:ext>
            </a:extLst>
          </p:cNvPr>
          <p:cNvSpPr txBox="1"/>
          <p:nvPr/>
        </p:nvSpPr>
        <p:spPr>
          <a:xfrm>
            <a:off x="76581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Custom recommendations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0C46DFF8-82A5-416E-25C6-79794E032E62}"/>
              </a:ext>
            </a:extLst>
          </p:cNvPr>
          <p:cNvSpPr/>
          <p:nvPr/>
        </p:nvSpPr>
        <p:spPr>
          <a:xfrm>
            <a:off x="10642600" y="3251200"/>
            <a:ext cx="558800" cy="558800"/>
          </a:xfrm>
          <a:prstGeom prst="ellipse">
            <a:avLst/>
          </a:prstGeom>
          <a:solidFill>
            <a:srgbClr val="8F001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07CD46C-37E1-E4B9-99A4-69165E361174}"/>
              </a:ext>
            </a:extLst>
          </p:cNvPr>
          <p:cNvSpPr txBox="1"/>
          <p:nvPr/>
        </p:nvSpPr>
        <p:spPr>
          <a:xfrm>
            <a:off x="10744200" y="3390900"/>
            <a:ext cx="3556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5D88785-BAD3-8D4E-A1A8-A35497443365}"/>
              </a:ext>
            </a:extLst>
          </p:cNvPr>
          <p:cNvSpPr txBox="1"/>
          <p:nvPr/>
        </p:nvSpPr>
        <p:spPr>
          <a:xfrm>
            <a:off x="10591800" y="2603500"/>
            <a:ext cx="6604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12:15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0BAC416-BBA3-CCC0-B1BD-EF494586828A}"/>
              </a:ext>
            </a:extLst>
          </p:cNvPr>
          <p:cNvSpPr txBox="1"/>
          <p:nvPr/>
        </p:nvSpPr>
        <p:spPr>
          <a:xfrm>
            <a:off x="10071100" y="4089400"/>
            <a:ext cx="17145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8F001A"/>
                </a:solidFill>
                <a:latin typeface="Aptos" panose="020B0004020202020204" pitchFamily="34" charset="0"/>
              </a:rPr>
              <a:t>FOLLOW UP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9CE2247-28DE-369A-26E8-6038E28B3F8D}"/>
              </a:ext>
            </a:extLst>
          </p:cNvPr>
          <p:cNvSpPr txBox="1"/>
          <p:nvPr/>
        </p:nvSpPr>
        <p:spPr>
          <a:xfrm>
            <a:off x="10033000" y="4394200"/>
            <a:ext cx="1778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242124"/>
                </a:solidFill>
                <a:latin typeface="Aptos" panose="020B0004020202020204" pitchFamily="34" charset="0"/>
              </a:rPr>
              <a:t>Email + CRM draft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F35D5D0-212E-315A-F939-4C02A8072571}"/>
              </a:ext>
            </a:extLst>
          </p:cNvPr>
          <p:cNvSpPr txBox="1"/>
          <p:nvPr/>
        </p:nvSpPr>
        <p:spPr>
          <a:xfrm>
            <a:off x="3175000" y="5461000"/>
            <a:ext cx="5842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500" b="1">
                <a:solidFill>
                  <a:srgbClr val="8F001A"/>
                </a:solidFill>
                <a:latin typeface="Aptos" panose="020B0004020202020204" pitchFamily="34" charset="0"/>
              </a:rPr>
              <a:t>John remains accountable at every transition.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2130E8A-48EE-2E5C-1AA0-A60B05173AF4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0CF15CCD-7C7D-ED4D-34EC-B8B384125838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DF32A49-6023-D25D-BEEC-D107723E2048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90022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D87628-1A1B-965E-62CE-87DDA7EF343F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LIVE DEMO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8B6D1D7-FF96-8ED1-0E7A-3001E088CFAA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What you are about to see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F783CD-4A39-044F-B73A-4C9719226A9E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A simple route through the cockpit, with the slide deck used only for context and architecture.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00CD50C-CF91-CE02-CFB6-C070E2F98D9A}"/>
              </a:ext>
            </a:extLst>
          </p:cNvPr>
          <p:cNvSpPr/>
          <p:nvPr/>
        </p:nvSpPr>
        <p:spPr>
          <a:xfrm>
            <a:off x="660400" y="2603500"/>
            <a:ext cx="1409700" cy="1066800"/>
          </a:xfrm>
          <a:prstGeom prst="round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A65C9E-AD6E-F404-216E-7C070C8A54C7}"/>
              </a:ext>
            </a:extLst>
          </p:cNvPr>
          <p:cNvSpPr txBox="1"/>
          <p:nvPr/>
        </p:nvSpPr>
        <p:spPr>
          <a:xfrm>
            <a:off x="7874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FFFFFF"/>
                </a:solidFill>
                <a:latin typeface="Aptos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49BB602-BA52-4A55-350A-E66BEE4D556B}"/>
              </a:ext>
            </a:extLst>
          </p:cNvPr>
          <p:cNvSpPr txBox="1"/>
          <p:nvPr/>
        </p:nvSpPr>
        <p:spPr>
          <a:xfrm>
            <a:off x="7874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FFFFFF"/>
                </a:solidFill>
                <a:latin typeface="Aptos" panose="020B0004020202020204" pitchFamily="34" charset="0"/>
              </a:rPr>
              <a:t>Today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587800-0BAB-F791-04AD-6E5AF18F7B48}"/>
              </a:ext>
            </a:extLst>
          </p:cNvPr>
          <p:cNvSpPr txBox="1"/>
          <p:nvPr/>
        </p:nvSpPr>
        <p:spPr>
          <a:xfrm>
            <a:off x="20828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533A440-A033-044F-EC36-3976B24A0B27}"/>
              </a:ext>
            </a:extLst>
          </p:cNvPr>
          <p:cNvSpPr/>
          <p:nvPr/>
        </p:nvSpPr>
        <p:spPr>
          <a:xfrm>
            <a:off x="22733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787F185-4446-C2CA-EB5D-16D1408EB42A}"/>
              </a:ext>
            </a:extLst>
          </p:cNvPr>
          <p:cNvSpPr txBox="1"/>
          <p:nvPr/>
        </p:nvSpPr>
        <p:spPr>
          <a:xfrm>
            <a:off x="24003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D6991D4-9510-99CB-FEF9-1FE7049EB440}"/>
              </a:ext>
            </a:extLst>
          </p:cNvPr>
          <p:cNvSpPr txBox="1"/>
          <p:nvPr/>
        </p:nvSpPr>
        <p:spPr>
          <a:xfrm>
            <a:off x="24003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Client 360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351C45-61E6-4EDB-5B5B-E8F87758F106}"/>
              </a:ext>
            </a:extLst>
          </p:cNvPr>
          <p:cNvSpPr txBox="1"/>
          <p:nvPr/>
        </p:nvSpPr>
        <p:spPr>
          <a:xfrm>
            <a:off x="36957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30DBC091-FB39-17B5-83A8-DD00B93B4023}"/>
              </a:ext>
            </a:extLst>
          </p:cNvPr>
          <p:cNvSpPr/>
          <p:nvPr/>
        </p:nvSpPr>
        <p:spPr>
          <a:xfrm>
            <a:off x="38862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3F8B37-6667-0A87-B34A-1AAC54CAF4DF}"/>
              </a:ext>
            </a:extLst>
          </p:cNvPr>
          <p:cNvSpPr txBox="1"/>
          <p:nvPr/>
        </p:nvSpPr>
        <p:spPr>
          <a:xfrm>
            <a:off x="40132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624E752-BE95-9411-0801-5A2C70F154D8}"/>
              </a:ext>
            </a:extLst>
          </p:cNvPr>
          <p:cNvSpPr txBox="1"/>
          <p:nvPr/>
        </p:nvSpPr>
        <p:spPr>
          <a:xfrm>
            <a:off x="40132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Sources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B68F56-CD19-4810-12D9-7B7D75D4BCA6}"/>
              </a:ext>
            </a:extLst>
          </p:cNvPr>
          <p:cNvSpPr txBox="1"/>
          <p:nvPr/>
        </p:nvSpPr>
        <p:spPr>
          <a:xfrm>
            <a:off x="53086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D8BB14A-27F6-F843-01D0-3D63BA57F2DD}"/>
              </a:ext>
            </a:extLst>
          </p:cNvPr>
          <p:cNvSpPr/>
          <p:nvPr/>
        </p:nvSpPr>
        <p:spPr>
          <a:xfrm>
            <a:off x="54991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C34DCFC-E2BE-5290-AC78-4470D9996884}"/>
              </a:ext>
            </a:extLst>
          </p:cNvPr>
          <p:cNvSpPr txBox="1"/>
          <p:nvPr/>
        </p:nvSpPr>
        <p:spPr>
          <a:xfrm>
            <a:off x="56261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04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B5CE77E-EEBD-975D-AED3-12369F0B9F90}"/>
              </a:ext>
            </a:extLst>
          </p:cNvPr>
          <p:cNvSpPr txBox="1"/>
          <p:nvPr/>
        </p:nvSpPr>
        <p:spPr>
          <a:xfrm>
            <a:off x="56261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Briefing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725779F-A3D6-F8EA-FD2F-C6566DDB569A}"/>
              </a:ext>
            </a:extLst>
          </p:cNvPr>
          <p:cNvSpPr txBox="1"/>
          <p:nvPr/>
        </p:nvSpPr>
        <p:spPr>
          <a:xfrm>
            <a:off x="69215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050F5B3-8F1F-2A6D-02A1-2863E31DA35E}"/>
              </a:ext>
            </a:extLst>
          </p:cNvPr>
          <p:cNvSpPr/>
          <p:nvPr/>
        </p:nvSpPr>
        <p:spPr>
          <a:xfrm>
            <a:off x="71120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923D1F8-AA31-4609-55E2-BB80DE0EFFAC}"/>
              </a:ext>
            </a:extLst>
          </p:cNvPr>
          <p:cNvSpPr txBox="1"/>
          <p:nvPr/>
        </p:nvSpPr>
        <p:spPr>
          <a:xfrm>
            <a:off x="72390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05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EE20663-8C5D-89B1-7D0D-3C54E2383574}"/>
              </a:ext>
            </a:extLst>
          </p:cNvPr>
          <p:cNvSpPr txBox="1"/>
          <p:nvPr/>
        </p:nvSpPr>
        <p:spPr>
          <a:xfrm>
            <a:off x="72390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Recommendations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B92A6D8-A231-8C35-A92F-A2563BB80A6A}"/>
              </a:ext>
            </a:extLst>
          </p:cNvPr>
          <p:cNvSpPr txBox="1"/>
          <p:nvPr/>
        </p:nvSpPr>
        <p:spPr>
          <a:xfrm>
            <a:off x="85344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1084DDF-FF84-97AC-C915-3188F65AE21D}"/>
              </a:ext>
            </a:extLst>
          </p:cNvPr>
          <p:cNvSpPr/>
          <p:nvPr/>
        </p:nvSpPr>
        <p:spPr>
          <a:xfrm>
            <a:off x="87249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8957DE3-11BF-F5DA-42E8-D28A65CD84F6}"/>
              </a:ext>
            </a:extLst>
          </p:cNvPr>
          <p:cNvSpPr txBox="1"/>
          <p:nvPr/>
        </p:nvSpPr>
        <p:spPr>
          <a:xfrm>
            <a:off x="88519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06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DF28025-B0B9-AD47-11F7-46463320F9BD}"/>
              </a:ext>
            </a:extLst>
          </p:cNvPr>
          <p:cNvSpPr txBox="1"/>
          <p:nvPr/>
        </p:nvSpPr>
        <p:spPr>
          <a:xfrm>
            <a:off x="88519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Drafts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BA73553-0588-A3C7-99CF-F3C1A1CCAAF8}"/>
              </a:ext>
            </a:extLst>
          </p:cNvPr>
          <p:cNvSpPr txBox="1"/>
          <p:nvPr/>
        </p:nvSpPr>
        <p:spPr>
          <a:xfrm>
            <a:off x="10147300" y="2984500"/>
            <a:ext cx="1905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2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42DE90ED-3554-E288-3731-40F22F4E91D8}"/>
              </a:ext>
            </a:extLst>
          </p:cNvPr>
          <p:cNvSpPr/>
          <p:nvPr/>
        </p:nvSpPr>
        <p:spPr>
          <a:xfrm>
            <a:off x="10337800" y="2603500"/>
            <a:ext cx="14097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E5CF98A-07E5-2BD0-A58B-54F49FDEA01E}"/>
              </a:ext>
            </a:extLst>
          </p:cNvPr>
          <p:cNvSpPr txBox="1"/>
          <p:nvPr/>
        </p:nvSpPr>
        <p:spPr>
          <a:xfrm>
            <a:off x="10464800" y="2743200"/>
            <a:ext cx="38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07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F56AE76-A6F8-9F3E-2973-2FC60825960D}"/>
              </a:ext>
            </a:extLst>
          </p:cNvPr>
          <p:cNvSpPr txBox="1"/>
          <p:nvPr/>
        </p:nvSpPr>
        <p:spPr>
          <a:xfrm>
            <a:off x="10464800" y="3111500"/>
            <a:ext cx="11557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 b="1">
                <a:solidFill>
                  <a:srgbClr val="242124"/>
                </a:solidFill>
                <a:latin typeface="Aptos" panose="020B0004020202020204" pitchFamily="34" charset="0"/>
              </a:rPr>
              <a:t>Operations</a:t>
            </a:r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6BC60D19-1E6E-8900-F9D1-ECDE62A146D4}"/>
              </a:ext>
            </a:extLst>
          </p:cNvPr>
          <p:cNvSpPr/>
          <p:nvPr/>
        </p:nvSpPr>
        <p:spPr>
          <a:xfrm>
            <a:off x="1524000" y="4381500"/>
            <a:ext cx="9144000" cy="9779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D9023B0-AFDB-D295-ED8A-4C53F6E27531}"/>
              </a:ext>
            </a:extLst>
          </p:cNvPr>
          <p:cNvSpPr txBox="1"/>
          <p:nvPr/>
        </p:nvSpPr>
        <p:spPr>
          <a:xfrm>
            <a:off x="1841500" y="4597400"/>
            <a:ext cx="1651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DEMO PRINCIPLE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182BD54A-EDCF-B18F-83C7-28964A46F5FA}"/>
              </a:ext>
            </a:extLst>
          </p:cNvPr>
          <p:cNvSpPr txBox="1"/>
          <p:nvPr/>
        </p:nvSpPr>
        <p:spPr>
          <a:xfrm>
            <a:off x="3492500" y="4546600"/>
            <a:ext cx="666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600" b="1">
                <a:solidFill>
                  <a:srgbClr val="8F001A"/>
                </a:solidFill>
                <a:latin typeface="Aptos" panose="020B0004020202020204" pitchFamily="34" charset="0"/>
              </a:rPr>
              <a:t>Prepared, not automated. Explained, not opaque. Drafted, not executed.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8F0546E-6CD8-B95A-F199-250C93E50DD8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24B7580B-F73F-A453-C81A-2231DB44374E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399932A8-3AFB-EDD1-6CF4-3964718F2BF6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1627581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2778C91-F2AB-C8A6-17D1-DF76F095E68B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RM JOURNEY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A8F09C8-A6A7-56C2-17F2-0E153CFA616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Three artifacts, one governed progression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9E56FC-087C-56A7-0E11-B171A9A6EC98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Each stage produces something the RM can inspect, challenge and improve.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94A905F-BBE2-A36C-EBA9-670090089DE8}"/>
              </a:ext>
            </a:extLst>
          </p:cNvPr>
          <p:cNvSpPr/>
          <p:nvPr/>
        </p:nvSpPr>
        <p:spPr>
          <a:xfrm>
            <a:off x="8890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61846F-DCB4-9810-FB6B-BBE24B40CD47}"/>
              </a:ext>
            </a:extLst>
          </p:cNvPr>
          <p:cNvSpPr txBox="1"/>
          <p:nvPr/>
        </p:nvSpPr>
        <p:spPr>
          <a:xfrm>
            <a:off x="10922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B00020"/>
                </a:solidFill>
                <a:latin typeface="Aptos Display" panose="020B0004020202020204" pitchFamily="34" charset="0"/>
              </a:rPr>
              <a:t>01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3215D80-A508-7452-03B8-EEDA10A4EA7D}"/>
              </a:ext>
            </a:extLst>
          </p:cNvPr>
          <p:cNvSpPr txBox="1"/>
          <p:nvPr/>
        </p:nvSpPr>
        <p:spPr>
          <a:xfrm>
            <a:off x="10922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Prepare briefing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0B0D62-0CE3-9015-B77F-F14ED85ECA88}"/>
              </a:ext>
            </a:extLst>
          </p:cNvPr>
          <p:cNvSpPr txBox="1"/>
          <p:nvPr/>
        </p:nvSpPr>
        <p:spPr>
          <a:xfrm>
            <a:off x="1092200" y="3530600"/>
            <a:ext cx="2768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Pre-meeting objective, client context, what changed, talk track, questions, sources and mandatory checks.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E6AC467-3E00-E843-0259-748A92BF53DD}"/>
              </a:ext>
            </a:extLst>
          </p:cNvPr>
          <p:cNvSpPr/>
          <p:nvPr/>
        </p:nvSpPr>
        <p:spPr>
          <a:xfrm>
            <a:off x="45085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1F34DC0-2731-5E8F-F8C9-C3F7EA0B6350}"/>
              </a:ext>
            </a:extLst>
          </p:cNvPr>
          <p:cNvSpPr txBox="1"/>
          <p:nvPr/>
        </p:nvSpPr>
        <p:spPr>
          <a:xfrm>
            <a:off x="47117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F5F99"/>
                </a:solidFill>
                <a:latin typeface="Aptos Display" panose="020B0004020202020204" pitchFamily="34" charset="0"/>
              </a:rPr>
              <a:t>02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D49256B-D721-E6D8-E417-46E31CBFD78B}"/>
              </a:ext>
            </a:extLst>
          </p:cNvPr>
          <p:cNvSpPr txBox="1"/>
          <p:nvPr/>
        </p:nvSpPr>
        <p:spPr>
          <a:xfrm>
            <a:off x="47117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Custom recommendations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5ED7AA-EE9D-BB71-9296-C9C3AE8C5CAC}"/>
              </a:ext>
            </a:extLst>
          </p:cNvPr>
          <p:cNvSpPr txBox="1"/>
          <p:nvPr/>
        </p:nvSpPr>
        <p:spPr>
          <a:xfrm>
            <a:off x="4711700" y="3530600"/>
            <a:ext cx="2768600" cy="46166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Explicitly fictional product candidates, fit rationale, risks, alternatives, evidence and suitability gates.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4910EC0C-18C2-B5D9-BB54-3F8FA68F05BC}"/>
              </a:ext>
            </a:extLst>
          </p:cNvPr>
          <p:cNvSpPr/>
          <p:nvPr/>
        </p:nvSpPr>
        <p:spPr>
          <a:xfrm>
            <a:off x="8128000" y="2349500"/>
            <a:ext cx="3175000" cy="29972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D63438AE-6E3A-D44D-D0E4-03750CB9F384}"/>
              </a:ext>
            </a:extLst>
          </p:cNvPr>
          <p:cNvSpPr txBox="1"/>
          <p:nvPr/>
        </p:nvSpPr>
        <p:spPr>
          <a:xfrm>
            <a:off x="8331200" y="2540000"/>
            <a:ext cx="571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b="1">
                <a:solidFill>
                  <a:srgbClr val="147A52"/>
                </a:solidFill>
                <a:latin typeface="Aptos Display" panose="020B0004020202020204" pitchFamily="34" charset="0"/>
              </a:rPr>
              <a:t>03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1DF3D3E-D62B-96C3-9AFE-C2C617612E31}"/>
              </a:ext>
            </a:extLst>
          </p:cNvPr>
          <p:cNvSpPr txBox="1"/>
          <p:nvPr/>
        </p:nvSpPr>
        <p:spPr>
          <a:xfrm>
            <a:off x="8331200" y="2971800"/>
            <a:ext cx="27686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Opportunity draft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497C8FC-2ACA-0A0F-991E-C2D5622A2701}"/>
              </a:ext>
            </a:extLst>
          </p:cNvPr>
          <p:cNvSpPr txBox="1"/>
          <p:nvPr/>
        </p:nvSpPr>
        <p:spPr>
          <a:xfrm>
            <a:off x="8331200" y="3530600"/>
            <a:ext cx="2768600" cy="3077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Editable client email and CRM opportunity record. Nothing is sent or committed.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BDE2152-97C0-D93C-2882-22EB08A4D0FF}"/>
              </a:ext>
            </a:extLst>
          </p:cNvPr>
          <p:cNvSpPr txBox="1"/>
          <p:nvPr/>
        </p:nvSpPr>
        <p:spPr>
          <a:xfrm>
            <a:off x="952500" y="5740400"/>
            <a:ext cx="1143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WHY THIS?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8592A9F-66EA-72F1-24A5-AE682C0563F8}"/>
              </a:ext>
            </a:extLst>
          </p:cNvPr>
          <p:cNvSpPr txBox="1"/>
          <p:nvPr/>
        </p:nvSpPr>
        <p:spPr>
          <a:xfrm>
            <a:off x="2159000" y="5676900"/>
            <a:ext cx="9017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242124"/>
                </a:solidFill>
                <a:latin typeface="Aptos" panose="020B0004020202020204" pitchFamily="34" charset="0"/>
              </a:rPr>
              <a:t>Every artifact carries evidence, public decision rules, alternatives, assumptions, limitations and unresolved checks.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0A7C9B4-31EC-0302-E060-54A1DCBED875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B0B592ED-3C50-8252-3E42-A5DE8B40DFBD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81622F6-1DDB-059A-B63C-312CFCC1D7FF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90519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7BF202-DA9B-7AB9-050D-A928DB732411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DATA FOUNDATION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737975-93F9-68A8-366B-07719A6A7D30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Microsoft Fabric: governed client evidence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A1C482-B740-6094-E64B-4A2D5DA1594D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Structured customer, portfolio, opportunity, compliance and event context is prepared through a medallion architecture.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FECDCB-C491-6677-EB5C-0CD1ABE9722A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8C50FE3-905C-5C4E-1909-FB17DA2399D4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114DDA-094A-4720-E006-BD533038CEDB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MICROSOFT FABRIC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BACDDF4-0515-B669-383C-3631559ECC9B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F921518-C734-0037-4474-53D961C84A39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4C40806-9534-DBAB-C469-DF1E784EBB98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Frontier-RM-EBC workspace or Lakehouse / medallion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E556C39-E4FA-86E4-7A24-9D3E237A9424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4AA84C3-4A7B-527B-6E64-D6A7EC515F09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95A5054-0E0F-94B5-0BD4-08F8FE2958C9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20 fictional clients · Bronze / Silver / Gold · schema-enabled Lakehouse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9D7D60F-0584-5576-4A91-43BB36E229D6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98006CA0-FCCA-82F4-A75F-2E150CDA8452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C8B6A47-CE37-B2A4-8F68-F82CBEF59F01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722852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C0B9928-3038-91AD-4974-2704C6096B07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BUSINESS MEANING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1D6E38-C3BA-C27B-1A09-74C4C0E2DA0D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Semantic Model and Power BI: a trusted analytical contract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16FF56-54FF-4A2B-2E1A-0D45A94227A7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Direct Lake measures and relationships turn platform data into RM-ready business concepts.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A666757-3440-04BC-A275-2018C08A5EF2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4C2DF117-36AB-8A77-199C-9238F941A540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3DA0F7-F933-A4B8-4BFE-2F7163980BCD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POWER BI · SEMANTIC MODEL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FC00F39-029C-6472-F870-645A9B4819F4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ACB791C-C9C8-C403-41AE-9270BFB56EB0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F38F3A9-F66A-BBE1-FADF-1840EF473769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model diagram, DAX validation, or Power BI report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BCDF90F-07F2-C0AA-A340-1254B6DDD024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EDE89E9F-7873-70EC-29C9-26EDC6E509C9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1346480-5364-8362-BC4C-924B2CFD6A4C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7 tables · 8 measures · Direct Lake · DAX-validated monetary evidence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798DED1-CED5-FD3E-BECC-878709C9D8D3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7E5B93B3-0467-D1F1-5A98-91EB90258D1A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9AE9B50-3D9F-84C1-BF78-1ECBB4A970C0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40806724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EA9CFCB-D8DC-DFE8-C0AC-1C2BDC99F279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CONNECTED KNOWLEDGE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660CE45-3DE2-7300-B265-CCD22D36B8F5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Fabric IQ Ontology: relationships become traversable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A6190F-C070-1AE4-38AB-ACA632849B43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ontology expresses customers, households, accounts, holdings, products, events and opportunities as a connected business graph.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C1ABE8C-6563-E46C-8B6C-790BA013EB73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87AB4D2-2B68-0AEE-617C-07375BB47CC8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40DB89F-8B0D-2558-C6A0-D6B6B01226D7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FABRIC IQ ONTOLOGY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1B6D436-3521-4F2C-2429-095C42F21D30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CF02B6D-0361-2CC0-EACC-9078D5A78AE1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DAC04D3-035B-97FC-E587-458C4921A074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Ontology entity/relationship graph or definition view.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997C5D2-4303-FC8D-AE60-02C6A8F81074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387D6E3-1485-F2CD-70D3-CBADF62A7358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F1326AA-5D13-54A2-EAA0-19F710CEC3DC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11 entities · 11 relationships · 11 bindings · graph routing deferred pending readiness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E77CC63-8C6E-9226-481A-AF6E0C91B0B6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8993672-8EAA-E541-D19A-8863377BAA22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03FC4FD-463D-4C35-CA4B-E129BBEE8E03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10765970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32CF67D-EAB8-1378-508E-4DD57068DBC5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UNSTRUCTURED CONTEXT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56CAD8-3B37-EC45-DAF9-7421C500572E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Sources and Copilot: client voice meets approved knowledge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1DD297-1645-313E-A42C-4D9FA475D79B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Correspondence and documents add intent and history; Copilot keeps process knowledge available across the workflow.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9B4BD5DC-ACA1-7D0A-F018-0DE9CA8FE8CE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081DC7B-DF36-762A-E63D-997E6461596F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A95A31-9E3A-C6D8-0084-BC321EAF2B88}"/>
              </a:ext>
            </a:extLst>
          </p:cNvPr>
          <p:cNvSpPr txBox="1"/>
          <p:nvPr/>
        </p:nvSpPr>
        <p:spPr>
          <a:xfrm>
            <a:off x="1054100" y="2374900"/>
            <a:ext cx="2489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SOURCES · COPILOT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A0F9CE9-86F8-5568-CB7A-DA5739F37AE6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89E606-C47B-3C05-0B45-ECF3D0AE441E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5117D66-73BD-E9C7-76EE-C8B1743C2912}"/>
              </a:ext>
            </a:extLst>
          </p:cNvPr>
          <p:cNvSpPr txBox="1"/>
          <p:nvPr/>
        </p:nvSpPr>
        <p:spPr>
          <a:xfrm>
            <a:off x="1765300" y="3873500"/>
            <a:ext cx="866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a split screenshot of the Daniel Lim source thread and the persistent Frontier Copilot panel.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39F9A4D-DDBC-D2A5-C883-1C6278DD93A5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506AE61E-2D62-EAED-2409-9ECD54B7F746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73D72-C455-1FAD-5C72-E6912AB8D3B4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realistic authored Outlook / SharePoint-style context · no Microsoft 365 connection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7F5C1C-CAB4-6B86-F290-15441F93DDC5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28CEA06B-451C-EA7C-A97D-DB2F053B5510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5AA3859-DAB6-8A40-8ADF-7859CA4557C6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7005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13B2B8E-17B0-CEA9-4631-C6E9D7C41C27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AGENTIC COLLABORATION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C51818-DC4A-EB96-9B6E-62B9567F75C7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Microsoft Foundry: specialists with bounded responsibilities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7A7E8C-023B-9653-0DDF-79839FF6BD83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orchestrator coordinates customer intelligence, market context and meeting preparation, then verifies evidence coverage.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54859F0-EA99-9648-238A-DB51FFBFB7E3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A832282A-F4A9-2DC5-B23E-1D8F52D66588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AB6374-3D58-7F1D-8DE2-31E496991E9F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MICROSOFT FOUNDRY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38AADDA-3DF4-4D12-947D-3D43CBE0E276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0E12E7-A6CB-26DC-547F-125868CC3434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BE2C24D-34A5-9EB6-DF13-06AD25ACF8E4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Foundry project, agent versions, or Fabric project connection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972553-5AE0-DA3E-F4EE-2514B11A967D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4870D548-5F19-2C11-872E-6CAEFCA6E26A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CB1160F-CB1A-5A80-F8AB-F7516825998D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Orchestrator v2 · Customer Intelligence v3 · Market Context v2 · Meeting Preparation v2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E7623BE-2B64-FAD2-E21F-4A52F9EA3943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C7896784-D295-9F49-8B50-593E69384E36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2CCAAA5-0DE8-B4EC-EFD4-391C1331351F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38342016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A4EF526-4703-9331-CFC7-E87F849F08A9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TRANSPARENCY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9F9D522-9BF2-BAE3-BD7E-DD11386697F5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Operations: evidence, handoffs and verification are observable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58317A-E5E2-D887-D544-DDA2D2CF235D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Presenters can inspect verified, revision-requested and rehearsal captures without exposing private model reasoning.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D033FE9E-ACEC-AEC8-B0ED-28A3300E8E4C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E923855A-31DC-E5BF-01D7-C20815108251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38C1BF3-A3A9-FF40-55AA-BCF4F27D32AA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OPERATIONS · AGENT REPLAY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AFE170-3E87-5A99-B505-0DD491EE47E4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0368A0E-E86A-AAE3-8D6F-35147B346C62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1AA5D2-F815-27AB-89B1-10DB592AB0E0}"/>
              </a:ext>
            </a:extLst>
          </p:cNvPr>
          <p:cNvSpPr txBox="1"/>
          <p:nvPr/>
        </p:nvSpPr>
        <p:spPr>
          <a:xfrm>
            <a:off x="1765300" y="3873500"/>
            <a:ext cx="86614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agent fleet, captured-run selector and event stream screenshot.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F0544F-105D-422A-1418-A681C6759EE3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08B8D17F-FD0A-755E-297E-018027FDDD98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8F87739-23A4-32C1-27EB-8A6A4239AF76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captured-live replay ≠ continuous execution · synthetic signal telemetry is separate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EB6DDABC-57C1-3A58-CB8E-4F0C9D625AFA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89EB6B3C-A494-4D7F-A8D4-8E7A00741FD9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3B2AE33-2F74-CC73-DB48-555102EAB645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7058917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63ED966-5F32-4D8F-E4D0-CBA6382804F7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REFERENCE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00875E-6A2D-2705-9C46-06DD49691E1B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One intelligent system, clear evidence boundaries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B1B670-49A0-A1DC-D1A7-E7C06DEF0B54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value comes from coordinated contracts, not from collapsing every component into one model.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E536CF67-266A-1C8C-3CD2-4779E6B9086F}"/>
              </a:ext>
            </a:extLst>
          </p:cNvPr>
          <p:cNvSpPr/>
          <p:nvPr/>
        </p:nvSpPr>
        <p:spPr>
          <a:xfrm>
            <a:off x="698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A4E3B80-492A-C8E6-DCD7-27954EC2085D}"/>
              </a:ext>
            </a:extLst>
          </p:cNvPr>
          <p:cNvSpPr/>
          <p:nvPr/>
        </p:nvSpPr>
        <p:spPr>
          <a:xfrm>
            <a:off x="698500" y="2857500"/>
            <a:ext cx="88900" cy="1333500"/>
          </a:xfrm>
          <a:prstGeom prst="rect">
            <a:avLst/>
          </a:prstGeom>
          <a:solidFill>
            <a:srgbClr val="A65D00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5F3F29-8CB9-487C-4BB7-4F909A6E23F2}"/>
              </a:ext>
            </a:extLst>
          </p:cNvPr>
          <p:cNvSpPr txBox="1"/>
          <p:nvPr/>
        </p:nvSpPr>
        <p:spPr>
          <a:xfrm>
            <a:off x="914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Sources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4B5635-6DFD-3ACE-9582-9FDEE12F7B7D}"/>
              </a:ext>
            </a:extLst>
          </p:cNvPr>
          <p:cNvSpPr txBox="1"/>
          <p:nvPr/>
        </p:nvSpPr>
        <p:spPr>
          <a:xfrm>
            <a:off x="850900" y="3517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Authored email + documents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487AFE2D-E756-C5F2-DEA5-0AE12AEC2234}"/>
              </a:ext>
            </a:extLst>
          </p:cNvPr>
          <p:cNvSpPr/>
          <p:nvPr/>
        </p:nvSpPr>
        <p:spPr>
          <a:xfrm>
            <a:off x="2984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09E87E3-953A-C499-38CB-A0460E6FEF9E}"/>
              </a:ext>
            </a:extLst>
          </p:cNvPr>
          <p:cNvSpPr/>
          <p:nvPr/>
        </p:nvSpPr>
        <p:spPr>
          <a:xfrm>
            <a:off x="2984500" y="2857500"/>
            <a:ext cx="88900" cy="13335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F80FC6F-EBF6-4AEE-DBAC-88CB061D7A37}"/>
              </a:ext>
            </a:extLst>
          </p:cNvPr>
          <p:cNvSpPr txBox="1"/>
          <p:nvPr/>
        </p:nvSpPr>
        <p:spPr>
          <a:xfrm>
            <a:off x="3200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Fabric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CE4F9CC-4E0D-9301-6F3D-56E8D79F17C0}"/>
              </a:ext>
            </a:extLst>
          </p:cNvPr>
          <p:cNvSpPr txBox="1"/>
          <p:nvPr/>
        </p:nvSpPr>
        <p:spPr>
          <a:xfrm>
            <a:off x="3136900" y="3517900"/>
            <a:ext cx="14224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Lakehouse + Semantic Model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A7C9E144-4207-C432-E9EA-B1AED51F1C11}"/>
              </a:ext>
            </a:extLst>
          </p:cNvPr>
          <p:cNvSpPr/>
          <p:nvPr/>
        </p:nvSpPr>
        <p:spPr>
          <a:xfrm>
            <a:off x="5270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3E9705-5141-44F7-635F-64E0BC4579D9}"/>
              </a:ext>
            </a:extLst>
          </p:cNvPr>
          <p:cNvSpPr/>
          <p:nvPr/>
        </p:nvSpPr>
        <p:spPr>
          <a:xfrm>
            <a:off x="5270500" y="2857500"/>
            <a:ext cx="88900" cy="1333500"/>
          </a:xfrm>
          <a:prstGeom prst="rect">
            <a:avLst/>
          </a:prstGeom>
          <a:solidFill>
            <a:srgbClr val="147A52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2242D17-20B5-9ECA-80D2-B50FB6B8BA29}"/>
              </a:ext>
            </a:extLst>
          </p:cNvPr>
          <p:cNvSpPr txBox="1"/>
          <p:nvPr/>
        </p:nvSpPr>
        <p:spPr>
          <a:xfrm>
            <a:off x="5486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Data Agent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EE49963-A219-ED00-39A1-E6B0D02CA079}"/>
              </a:ext>
            </a:extLst>
          </p:cNvPr>
          <p:cNvSpPr txBox="1"/>
          <p:nvPr/>
        </p:nvSpPr>
        <p:spPr>
          <a:xfrm>
            <a:off x="5422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Governed retrieval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20A64BD-0114-DC21-A811-9053174B2B84}"/>
              </a:ext>
            </a:extLst>
          </p:cNvPr>
          <p:cNvSpPr/>
          <p:nvPr/>
        </p:nvSpPr>
        <p:spPr>
          <a:xfrm>
            <a:off x="7556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D4AD883-8003-EF2F-9239-4D9A823B03A6}"/>
              </a:ext>
            </a:extLst>
          </p:cNvPr>
          <p:cNvSpPr/>
          <p:nvPr/>
        </p:nvSpPr>
        <p:spPr>
          <a:xfrm>
            <a:off x="7556500" y="2857500"/>
            <a:ext cx="88900" cy="13335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67729C9-E256-F730-39D4-033CC93805EC}"/>
              </a:ext>
            </a:extLst>
          </p:cNvPr>
          <p:cNvSpPr txBox="1"/>
          <p:nvPr/>
        </p:nvSpPr>
        <p:spPr>
          <a:xfrm>
            <a:off x="7772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Foundry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94BF29F-8EA6-5CD9-7285-30230E7B41C0}"/>
              </a:ext>
            </a:extLst>
          </p:cNvPr>
          <p:cNvSpPr txBox="1"/>
          <p:nvPr/>
        </p:nvSpPr>
        <p:spPr>
          <a:xfrm>
            <a:off x="7708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Specialists + verifier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A09D7D34-DDB0-5C0E-05E4-4A8AE5682F20}"/>
              </a:ext>
            </a:extLst>
          </p:cNvPr>
          <p:cNvSpPr/>
          <p:nvPr/>
        </p:nvSpPr>
        <p:spPr>
          <a:xfrm>
            <a:off x="9842500" y="2857500"/>
            <a:ext cx="17145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BF67DF4-EE16-275E-DCC1-1F99AF253552}"/>
              </a:ext>
            </a:extLst>
          </p:cNvPr>
          <p:cNvSpPr/>
          <p:nvPr/>
        </p:nvSpPr>
        <p:spPr>
          <a:xfrm>
            <a:off x="9842500" y="2857500"/>
            <a:ext cx="88900" cy="13335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7E19FAF-08D6-D3B0-F042-72074B85B584}"/>
              </a:ext>
            </a:extLst>
          </p:cNvPr>
          <p:cNvSpPr txBox="1"/>
          <p:nvPr/>
        </p:nvSpPr>
        <p:spPr>
          <a:xfrm>
            <a:off x="10058400" y="3111500"/>
            <a:ext cx="1295400" cy="200055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300" b="1">
                <a:solidFill>
                  <a:srgbClr val="242124"/>
                </a:solidFill>
                <a:latin typeface="Aptos Display" panose="020B0004020202020204" pitchFamily="34" charset="0"/>
              </a:rPr>
              <a:t>RM Cockpit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CBFC216-5B3F-AC1E-1350-CD4568DF9492}"/>
              </a:ext>
            </a:extLst>
          </p:cNvPr>
          <p:cNvSpPr txBox="1"/>
          <p:nvPr/>
        </p:nvSpPr>
        <p:spPr>
          <a:xfrm>
            <a:off x="9994900" y="3517900"/>
            <a:ext cx="14224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>
                <a:solidFill>
                  <a:srgbClr val="69646A"/>
                </a:solidFill>
                <a:latin typeface="Aptos" panose="020B0004020202020204" pitchFamily="34" charset="0"/>
              </a:rPr>
              <a:t>Artifacts + approval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CC9F81A-182A-3134-9DE0-32AEA1758B4D}"/>
              </a:ext>
            </a:extLst>
          </p:cNvPr>
          <p:cNvSpPr txBox="1"/>
          <p:nvPr/>
        </p:nvSpPr>
        <p:spPr>
          <a:xfrm>
            <a:off x="2514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080BEB7-DDEE-23B0-7C4B-773AB9B62D36}"/>
              </a:ext>
            </a:extLst>
          </p:cNvPr>
          <p:cNvSpPr txBox="1"/>
          <p:nvPr/>
        </p:nvSpPr>
        <p:spPr>
          <a:xfrm>
            <a:off x="4800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7AD0D2D-0669-49CB-619A-3925DC8AF92C}"/>
              </a:ext>
            </a:extLst>
          </p:cNvPr>
          <p:cNvSpPr txBox="1"/>
          <p:nvPr/>
        </p:nvSpPr>
        <p:spPr>
          <a:xfrm>
            <a:off x="7086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82683F5B-E3BC-9E33-6048-F91D36A49D5E}"/>
              </a:ext>
            </a:extLst>
          </p:cNvPr>
          <p:cNvSpPr txBox="1"/>
          <p:nvPr/>
        </p:nvSpPr>
        <p:spPr>
          <a:xfrm>
            <a:off x="9372600" y="3314700"/>
            <a:ext cx="3175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69646A"/>
                </a:solidFill>
                <a:latin typeface="Aptos" panose="020B0004020202020204" pitchFamily="34" charset="0"/>
              </a:rPr>
              <a:t>→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D97B7D08-E2F9-C2D7-EFB2-6892DCF20350}"/>
              </a:ext>
            </a:extLst>
          </p:cNvPr>
          <p:cNvSpPr/>
          <p:nvPr/>
        </p:nvSpPr>
        <p:spPr>
          <a:xfrm>
            <a:off x="2286000" y="4889500"/>
            <a:ext cx="7620000" cy="7239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ACD4AE0-76D8-6849-3CDE-8688543F3E32}"/>
              </a:ext>
            </a:extLst>
          </p:cNvPr>
          <p:cNvSpPr txBox="1"/>
          <p:nvPr/>
        </p:nvSpPr>
        <p:spPr>
          <a:xfrm>
            <a:off x="2603500" y="5130800"/>
            <a:ext cx="6985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8F001A"/>
                </a:solidFill>
                <a:latin typeface="Aptos" panose="020B0004020202020204" pitchFamily="34" charset="0"/>
              </a:rPr>
              <a:t>Managed identity · Delegated access · Source IDs · Direct DAX validation · Human review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A238E1EF-71C9-800C-DC46-F6439C7C688D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2AF4FBEE-38E5-2A2D-7513-BFD1CAF6BABD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C04C0E0B-CD74-356E-C4B9-F39B2098FCB1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365148612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BEC5646-21E5-B66C-132A-BB25804F6AF2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GOVERNANCE BY DESIGN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5C1BEC0-4C3B-960F-77BD-F6B0C018242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What the intelligent system will not do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FF92102-5A5F-38A3-E73B-3121A8B38666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Boundaries are part of the product experience, not a disclaimer added at the end.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FC1D5091-65C7-DDEC-973C-23ADC6DFE72A}"/>
              </a:ext>
            </a:extLst>
          </p:cNvPr>
          <p:cNvSpPr/>
          <p:nvPr/>
        </p:nvSpPr>
        <p:spPr>
          <a:xfrm>
            <a:off x="762000" y="22225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359C3CC-1A88-9C32-C248-F024B6112154}"/>
              </a:ext>
            </a:extLst>
          </p:cNvPr>
          <p:cNvSpPr/>
          <p:nvPr/>
        </p:nvSpPr>
        <p:spPr>
          <a:xfrm>
            <a:off x="762000" y="2222500"/>
            <a:ext cx="88900" cy="13970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21CD06-DD04-85F5-E10C-6EFE1E683901}"/>
              </a:ext>
            </a:extLst>
          </p:cNvPr>
          <p:cNvSpPr txBox="1"/>
          <p:nvPr/>
        </p:nvSpPr>
        <p:spPr>
          <a:xfrm>
            <a:off x="1066800" y="24765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hidden reasoning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577DAF3-B967-57C9-CA5B-3DCDA34F53BA}"/>
              </a:ext>
            </a:extLst>
          </p:cNvPr>
          <p:cNvSpPr txBox="1"/>
          <p:nvPr/>
        </p:nvSpPr>
        <p:spPr>
          <a:xfrm>
            <a:off x="1066800" y="28956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Expose evidence and concise rationale, never private chain-of-thought.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A26BC54-BE84-1E4C-EDDF-45C5A6E8C6D6}"/>
              </a:ext>
            </a:extLst>
          </p:cNvPr>
          <p:cNvSpPr/>
          <p:nvPr/>
        </p:nvSpPr>
        <p:spPr>
          <a:xfrm>
            <a:off x="6286500" y="22225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841D12A-FD84-56C6-2CE3-89043EF2317E}"/>
              </a:ext>
            </a:extLst>
          </p:cNvPr>
          <p:cNvSpPr/>
          <p:nvPr/>
        </p:nvSpPr>
        <p:spPr>
          <a:xfrm>
            <a:off x="6286500" y="2222500"/>
            <a:ext cx="88900" cy="1397000"/>
          </a:xfrm>
          <a:prstGeom prst="rect">
            <a:avLst/>
          </a:prstGeom>
          <a:solidFill>
            <a:srgbClr val="1F5F99"/>
          </a:solidFill>
          <a:ln w="12700">
            <a:solidFill>
              <a:srgbClr val="1F5F9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FFD63D-DE32-EE2F-1B52-21F7B9AFCE6A}"/>
              </a:ext>
            </a:extLst>
          </p:cNvPr>
          <p:cNvSpPr txBox="1"/>
          <p:nvPr/>
        </p:nvSpPr>
        <p:spPr>
          <a:xfrm>
            <a:off x="6591300" y="24765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unsupported facts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3DC443-1FE3-7A1C-8637-962F7E675450}"/>
              </a:ext>
            </a:extLst>
          </p:cNvPr>
          <p:cNvSpPr txBox="1"/>
          <p:nvPr/>
        </p:nvSpPr>
        <p:spPr>
          <a:xfrm>
            <a:off x="6591300" y="28956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Fail closed when governed client evidence is missing.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84AA146-7958-C9A7-3A96-397D2800DE6A}"/>
              </a:ext>
            </a:extLst>
          </p:cNvPr>
          <p:cNvSpPr/>
          <p:nvPr/>
        </p:nvSpPr>
        <p:spPr>
          <a:xfrm>
            <a:off x="762000" y="39370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9E5C391-5CAE-8460-90EF-7204E8F473DE}"/>
              </a:ext>
            </a:extLst>
          </p:cNvPr>
          <p:cNvSpPr/>
          <p:nvPr/>
        </p:nvSpPr>
        <p:spPr>
          <a:xfrm>
            <a:off x="762000" y="3937000"/>
            <a:ext cx="88900" cy="1397000"/>
          </a:xfrm>
          <a:prstGeom prst="rect">
            <a:avLst/>
          </a:prstGeom>
          <a:solidFill>
            <a:srgbClr val="A65D00"/>
          </a:solidFill>
          <a:ln w="12700">
            <a:solidFill>
              <a:srgbClr val="A65D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05B0838-BA50-844D-4BB8-B61E1B8E12DB}"/>
              </a:ext>
            </a:extLst>
          </p:cNvPr>
          <p:cNvSpPr txBox="1"/>
          <p:nvPr/>
        </p:nvSpPr>
        <p:spPr>
          <a:xfrm>
            <a:off x="1066800" y="41910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suitability shortcut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0E1E972-03FA-D8EA-FE86-A6DD58FF0E00}"/>
              </a:ext>
            </a:extLst>
          </p:cNvPr>
          <p:cNvSpPr txBox="1"/>
          <p:nvPr/>
        </p:nvSpPr>
        <p:spPr>
          <a:xfrm>
            <a:off x="1066800" y="46101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KYC, consent, objectives, liquidity, horizon and risk remain gates.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CCBBFFF-A84C-5918-A2FA-AF294D62EDC6}"/>
              </a:ext>
            </a:extLst>
          </p:cNvPr>
          <p:cNvSpPr/>
          <p:nvPr/>
        </p:nvSpPr>
        <p:spPr>
          <a:xfrm>
            <a:off x="6286500" y="3937000"/>
            <a:ext cx="5143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4A0E878-6287-587B-BD84-335BCC9DDE87}"/>
              </a:ext>
            </a:extLst>
          </p:cNvPr>
          <p:cNvSpPr/>
          <p:nvPr/>
        </p:nvSpPr>
        <p:spPr>
          <a:xfrm>
            <a:off x="6286500" y="3937000"/>
            <a:ext cx="88900" cy="1397000"/>
          </a:xfrm>
          <a:prstGeom prst="rect">
            <a:avLst/>
          </a:prstGeom>
          <a:solidFill>
            <a:srgbClr val="147A52"/>
          </a:solidFill>
          <a:ln w="12700">
            <a:solidFill>
              <a:srgbClr val="147A5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52A41B7-352F-618B-C3A8-2907ADB34FB2}"/>
              </a:ext>
            </a:extLst>
          </p:cNvPr>
          <p:cNvSpPr txBox="1"/>
          <p:nvPr/>
        </p:nvSpPr>
        <p:spPr>
          <a:xfrm>
            <a:off x="6591300" y="4191000"/>
            <a:ext cx="4445000" cy="23083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500" b="1">
                <a:solidFill>
                  <a:srgbClr val="242124"/>
                </a:solidFill>
                <a:latin typeface="Aptos Display" panose="020B0004020202020204" pitchFamily="34" charset="0"/>
              </a:rPr>
              <a:t>No autonomous execution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B8D1217-717B-FA9B-953D-C4BF015D94A2}"/>
              </a:ext>
            </a:extLst>
          </p:cNvPr>
          <p:cNvSpPr txBox="1"/>
          <p:nvPr/>
        </p:nvSpPr>
        <p:spPr>
          <a:xfrm>
            <a:off x="6591300" y="4610100"/>
            <a:ext cx="44450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Drafted, not sent. Prepared for CRM, not committed.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1494B03-C66D-B77A-F262-37693D9CC1CE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58129EC4-9BED-BDA5-02E1-F9BEA3F2CFB1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9305E99F-AB3A-46EC-5EC5-06DEB66EE599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1569032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93CC00B-F7CA-9EC0-5DB5-9AFB4D95552E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THE SHIFT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1ECC68-6FB5-F2C0-E5C8-4CCC6AC9F3E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From application navigation to client judgment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D58D4A-F875-102E-2C3E-D020ECFFB565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The system returns time and attention to the work only the RM can do.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7DBC17E-007D-424E-5A2C-576E0D310F2D}"/>
              </a:ext>
            </a:extLst>
          </p:cNvPr>
          <p:cNvSpPr txBox="1"/>
          <p:nvPr/>
        </p:nvSpPr>
        <p:spPr>
          <a:xfrm>
            <a:off x="1143000" y="2387600"/>
            <a:ext cx="2159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69646A"/>
                </a:solidFill>
                <a:latin typeface="Aptos" panose="020B0004020202020204" pitchFamily="34" charset="0"/>
              </a:rPr>
              <a:t>BEFORE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AF9CEA-CF3F-1328-A68B-4BEFCAA6696F}"/>
              </a:ext>
            </a:extLst>
          </p:cNvPr>
          <p:cNvSpPr txBox="1"/>
          <p:nvPr/>
        </p:nvSpPr>
        <p:spPr>
          <a:xfrm>
            <a:off x="1016000" y="2857500"/>
            <a:ext cx="3175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Search for context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Reconcile conflicting signals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Draft from a blank page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Document provenance manually</a:t>
            </a: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767EAB76-D9A0-D4F4-6E13-F980CCC6A4EF}"/>
              </a:ext>
            </a:extLst>
          </p:cNvPr>
          <p:cNvSpPr/>
          <p:nvPr/>
        </p:nvSpPr>
        <p:spPr>
          <a:xfrm>
            <a:off x="5295900" y="3111500"/>
            <a:ext cx="1587500" cy="1143000"/>
          </a:xfrm>
          <a:prstGeom prst="chevron">
            <a:avLst/>
          </a:prstGeom>
          <a:solidFill>
            <a:srgbClr val="B00020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09D3DFE-96FE-72CC-E22A-2CEF2131D20E}"/>
              </a:ext>
            </a:extLst>
          </p:cNvPr>
          <p:cNvSpPr txBox="1"/>
          <p:nvPr/>
        </p:nvSpPr>
        <p:spPr>
          <a:xfrm>
            <a:off x="8255000" y="2387600"/>
            <a:ext cx="2667000" cy="16927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100" b="1">
                <a:solidFill>
                  <a:srgbClr val="B00020"/>
                </a:solidFill>
                <a:latin typeface="Aptos" panose="020B0004020202020204" pitchFamily="34" charset="0"/>
              </a:rPr>
              <a:t>WITH FRONTIER RM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88D58FF-4006-8A30-E391-64C85A562F6E}"/>
              </a:ext>
            </a:extLst>
          </p:cNvPr>
          <p:cNvSpPr txBox="1"/>
          <p:nvPr/>
        </p:nvSpPr>
        <p:spPr>
          <a:xfrm>
            <a:off x="7874000" y="2857500"/>
            <a:ext cx="3429000" cy="116955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Priorities already sequenced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Evidence already connected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Artifacts already prepared</a:t>
            </a:r>
          </a:p>
          <a:p>
            <a:pPr>
              <a:spcAft>
                <a:spcPts val="800"/>
              </a:spcAft>
            </a:pPr>
            <a:r>
              <a:rPr lang="en-GB" sz="1400">
                <a:solidFill>
                  <a:srgbClr val="242124"/>
                </a:solidFill>
                <a:latin typeface="Aptos" panose="020B0004020202020204" pitchFamily="34" charset="0"/>
              </a:rPr>
              <a:t>• Judgment remains with John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EE6C82AB-8237-7182-4984-833904B51828}"/>
              </a:ext>
            </a:extLst>
          </p:cNvPr>
          <p:cNvSpPr/>
          <p:nvPr/>
        </p:nvSpPr>
        <p:spPr>
          <a:xfrm>
            <a:off x="2159000" y="5257800"/>
            <a:ext cx="7874000" cy="6985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7101F14-0F82-2720-8340-A55BE40F1F92}"/>
              </a:ext>
            </a:extLst>
          </p:cNvPr>
          <p:cNvSpPr txBox="1"/>
          <p:nvPr/>
        </p:nvSpPr>
        <p:spPr>
          <a:xfrm>
            <a:off x="2603500" y="5486400"/>
            <a:ext cx="69850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FFFFFF"/>
                </a:solidFill>
                <a:latin typeface="Aptos" panose="020B0004020202020204" pitchFamily="34" charset="0"/>
              </a:rPr>
              <a:t>More time for trust, advice and the client relationship.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34AABA-4C36-2949-3693-2E60EFB0AD87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3AA578FB-A354-BC8E-174C-ED292094CFD7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81AA368-C490-3A3B-A9EC-C14F50CC2ADD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1118439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F48B1B-787F-20EA-7BE3-6BB5E8A92CAB}"/>
              </a:ext>
            </a:extLst>
          </p:cNvPr>
          <p:cNvSpPr txBox="1"/>
          <p:nvPr/>
        </p:nvSpPr>
        <p:spPr>
          <a:xfrm>
            <a:off x="685800" y="431800"/>
            <a:ext cx="1079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00020"/>
                </a:solidFill>
                <a:latin typeface="Aptos" panose="020B0004020202020204" pitchFamily="34" charset="0"/>
              </a:rPr>
              <a:t>SECONDARY STORYLINE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DF31D-7F21-F063-8274-0364B9C2436F}"/>
              </a:ext>
            </a:extLst>
          </p:cNvPr>
          <p:cNvSpPr txBox="1"/>
          <p:nvPr/>
        </p:nvSpPr>
        <p:spPr>
          <a:xfrm>
            <a:off x="685800" y="736600"/>
            <a:ext cx="10795000" cy="430887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800" b="1">
                <a:solidFill>
                  <a:srgbClr val="242124"/>
                </a:solidFill>
                <a:latin typeface="Aptos Display" panose="020B0004020202020204" pitchFamily="34" charset="0"/>
              </a:rPr>
              <a:t>CIO Houseview: market outlook meets client evidence and controls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791E521-E67A-9BFA-DB9B-3FE9E778FB4A}"/>
              </a:ext>
            </a:extLst>
          </p:cNvPr>
          <p:cNvSpPr txBox="1"/>
          <p:nvPr/>
        </p:nvSpPr>
        <p:spPr>
          <a:xfrm>
            <a:off x="685800" y="1473200"/>
            <a:ext cx="10795000" cy="184666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1200">
                <a:solidFill>
                  <a:srgbClr val="69646A"/>
                </a:solidFill>
                <a:latin typeface="Aptos" panose="020B0004020202020204" pitchFamily="34" charset="0"/>
              </a:rPr>
              <a:t>Show how declared profile, observed activity, full research reports and paragraph-cited controls shape retained and suppressed candidates.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AFBE487-D323-3374-7ED4-3797C40C51F0}"/>
              </a:ext>
            </a:extLst>
          </p:cNvPr>
          <p:cNvSpPr/>
          <p:nvPr/>
        </p:nvSpPr>
        <p:spPr>
          <a:xfrm>
            <a:off x="685800" y="2032000"/>
            <a:ext cx="10820400" cy="3987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69646A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B52D0E1-B0AA-469A-B947-66F1015305F4}"/>
              </a:ext>
            </a:extLst>
          </p:cNvPr>
          <p:cNvSpPr/>
          <p:nvPr/>
        </p:nvSpPr>
        <p:spPr>
          <a:xfrm>
            <a:off x="965200" y="2311400"/>
            <a:ext cx="2667000" cy="304800"/>
          </a:xfrm>
          <a:prstGeom prst="round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212F57E-7774-3D45-37E0-5C57CE88C09C}"/>
              </a:ext>
            </a:extLst>
          </p:cNvPr>
          <p:cNvSpPr txBox="1"/>
          <p:nvPr/>
        </p:nvSpPr>
        <p:spPr>
          <a:xfrm>
            <a:off x="1054100" y="2374900"/>
            <a:ext cx="2489200" cy="2462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800" b="1">
                <a:solidFill>
                  <a:srgbClr val="FFFFFF"/>
                </a:solidFill>
                <a:latin typeface="Aptos" panose="020B0004020202020204" pitchFamily="34" charset="0"/>
              </a:rPr>
              <a:t>SCREENSHOT PLACEHOLDER · CIO HOUSEVIEW · ADVISORY CONTEXT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88BF09-3C00-175B-DD6E-9EC76334675F}"/>
              </a:ext>
            </a:extLst>
          </p:cNvPr>
          <p:cNvSpPr/>
          <p:nvPr/>
        </p:nvSpPr>
        <p:spPr>
          <a:xfrm>
            <a:off x="5753100" y="3073400"/>
            <a:ext cx="685800" cy="533400"/>
          </a:xfrm>
          <a:prstGeom prst="rect">
            <a:avLst/>
          </a:prstGeom>
          <a:solidFill>
            <a:srgbClr val="F5F5F5"/>
          </a:solidFill>
          <a:ln>
            <a:solidFill>
              <a:srgbClr val="E3E1E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923E71E-8437-E1CD-E1C6-997AAA32FDE0}"/>
              </a:ext>
            </a:extLst>
          </p:cNvPr>
          <p:cNvSpPr txBox="1"/>
          <p:nvPr/>
        </p:nvSpPr>
        <p:spPr>
          <a:xfrm>
            <a:off x="5842000" y="3149600"/>
            <a:ext cx="508000" cy="338554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2200" b="1">
                <a:solidFill>
                  <a:srgbClr val="B00020"/>
                </a:solidFill>
                <a:latin typeface="Segoe UI Symbol" panose="020B0502040204020203" pitchFamily="34" charset="0"/>
              </a:rPr>
              <a:t>▧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CF063E6-31B9-AD68-C6D0-A9B0779B0B14}"/>
              </a:ext>
            </a:extLst>
          </p:cNvPr>
          <p:cNvSpPr txBox="1"/>
          <p:nvPr/>
        </p:nvSpPr>
        <p:spPr>
          <a:xfrm>
            <a:off x="1765300" y="3873500"/>
            <a:ext cx="8661400" cy="492443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600" b="1">
                <a:solidFill>
                  <a:srgbClr val="242124"/>
                </a:solidFill>
                <a:latin typeface="Aptos" panose="020B0004020202020204" pitchFamily="34" charset="0"/>
              </a:rPr>
              <a:t>Insert the Houseview report reader with the selected-client risk, activity, candidates and regulatory controls panel.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77E3CC3-1E39-B322-4F6D-409E78CA3E6E}"/>
              </a:ext>
            </a:extLst>
          </p:cNvPr>
          <p:cNvSpPr txBox="1"/>
          <p:nvPr/>
        </p:nvSpPr>
        <p:spPr>
          <a:xfrm>
            <a:off x="2209800" y="4660900"/>
            <a:ext cx="7772400" cy="15388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1000">
                <a:solidFill>
                  <a:srgbClr val="69646A"/>
                </a:solidFill>
                <a:latin typeface="Aptos" panose="020B0004020202020204" pitchFamily="34" charset="0"/>
              </a:rPr>
              <a:t>Replace this grouped placeholder with your screenshot. Keep the title and callout visible.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98B329D0-A880-1030-2BA2-934D27997CEE}"/>
              </a:ext>
            </a:extLst>
          </p:cNvPr>
          <p:cNvSpPr/>
          <p:nvPr/>
        </p:nvSpPr>
        <p:spPr>
          <a:xfrm>
            <a:off x="1130300" y="5359400"/>
            <a:ext cx="9931400" cy="419100"/>
          </a:xfrm>
          <a:prstGeom prst="roundRect">
            <a:avLst/>
          </a:prstGeom>
          <a:solidFill>
            <a:srgbClr val="FFE5E9"/>
          </a:solidFill>
          <a:ln w="12700">
            <a:solidFill>
              <a:srgbClr val="FFE5E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3BB677-EEAB-8815-90D2-F11A22E929CE}"/>
              </a:ext>
            </a:extLst>
          </p:cNvPr>
          <p:cNvSpPr txBox="1"/>
          <p:nvPr/>
        </p:nvSpPr>
        <p:spPr>
          <a:xfrm>
            <a:off x="1295400" y="5473700"/>
            <a:ext cx="96012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ctr"/>
            <a:r>
              <a:rPr lang="en-GB" sz="900" b="1">
                <a:solidFill>
                  <a:srgbClr val="8F001A"/>
                </a:solidFill>
                <a:latin typeface="Aptos" panose="020B0004020202020204" pitchFamily="34" charset="0"/>
              </a:rPr>
              <a:t>Suggested callout: declared profile ≠ observed behaviour · activity triggers review · compliance-aware, not certified compliant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4814B65-4662-2D40-8351-5D2665464079}"/>
              </a:ext>
            </a:extLst>
          </p:cNvPr>
          <p:cNvCxnSpPr/>
          <p:nvPr/>
        </p:nvCxnSpPr>
        <p:spPr>
          <a:xfrm>
            <a:off x="685800" y="6477000"/>
            <a:ext cx="10820400" cy="0"/>
          </a:xfrm>
          <a:prstGeom prst="line">
            <a:avLst/>
          </a:prstGeom>
          <a:ln>
            <a:solidFill>
              <a:srgbClr val="E3E1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04CBF619-D6D2-E42E-861D-DE53860F2DD6}"/>
              </a:ext>
            </a:extLst>
          </p:cNvPr>
          <p:cNvSpPr txBox="1"/>
          <p:nvPr/>
        </p:nvSpPr>
        <p:spPr>
          <a:xfrm>
            <a:off x="685800" y="6565900"/>
            <a:ext cx="6350000" cy="107722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700" b="1">
                <a:solidFill>
                  <a:srgbClr val="69646A"/>
                </a:solidFill>
                <a:latin typeface="Aptos" panose="020B0004020202020204" pitchFamily="34" charset="0"/>
              </a:rPr>
              <a:t>FRONTIER RM · INTERNAL EBC DEMO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1D978-95B7-6F32-2EB7-EC5B7B53B55E}"/>
              </a:ext>
            </a:extLst>
          </p:cNvPr>
          <p:cNvSpPr txBox="1"/>
          <p:nvPr/>
        </p:nvSpPr>
        <p:spPr>
          <a:xfrm>
            <a:off x="11049000" y="6565900"/>
            <a:ext cx="457200" cy="12311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pPr algn="r"/>
            <a:r>
              <a:rPr lang="en-GB" sz="800" b="1">
                <a:solidFill>
                  <a:srgbClr val="69646A"/>
                </a:solidFill>
                <a:latin typeface="Aptos" panose="020B0004020202020204" pitchFamily="34" charset="0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399327601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1240C02-B172-E286-163A-64F659D3788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E2B30"/>
          </a:solidFill>
          <a:ln w="12700">
            <a:solidFill>
              <a:srgbClr val="2E2B3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D0CA1F-F5D2-5F51-FC7F-EF4C36FB69D2}"/>
              </a:ext>
            </a:extLst>
          </p:cNvPr>
          <p:cNvSpPr txBox="1"/>
          <p:nvPr/>
        </p:nvSpPr>
        <p:spPr>
          <a:xfrm>
            <a:off x="787400" y="889000"/>
            <a:ext cx="6350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THE QUESTION WE STARTED WITH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348B111-1CB8-EBFC-E1FD-4A5ED25B2FAA}"/>
              </a:ext>
            </a:extLst>
          </p:cNvPr>
          <p:cNvSpPr txBox="1"/>
          <p:nvPr/>
        </p:nvSpPr>
        <p:spPr>
          <a:xfrm>
            <a:off x="787400" y="1524000"/>
            <a:ext cx="10287000" cy="923330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3000" b="1">
                <a:solidFill>
                  <a:srgbClr val="FFFFFF"/>
                </a:solidFill>
                <a:latin typeface="Aptos Display" panose="020B0004020202020204" pitchFamily="34" charset="0"/>
              </a:rPr>
              <a:t>What would a day in the life of a Relationship Manager look like…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803010D-7B1F-84C4-F628-923F86163732}"/>
              </a:ext>
            </a:extLst>
          </p:cNvPr>
          <p:cNvSpPr txBox="1"/>
          <p:nvPr/>
        </p:nvSpPr>
        <p:spPr>
          <a:xfrm>
            <a:off x="787400" y="2794000"/>
            <a:ext cx="9652000" cy="384721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2500" b="1">
                <a:solidFill>
                  <a:srgbClr val="FF7188"/>
                </a:solidFill>
                <a:latin typeface="Aptos Display" panose="020B0004020202020204" pitchFamily="34" charset="0"/>
              </a:rPr>
              <a:t>…if the bank worked as one intelligent system?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E3C6F21-C40E-21AD-B43E-5873211FFD7A}"/>
              </a:ext>
            </a:extLst>
          </p:cNvPr>
          <p:cNvSpPr/>
          <p:nvPr/>
        </p:nvSpPr>
        <p:spPr>
          <a:xfrm>
            <a:off x="787400" y="4292600"/>
            <a:ext cx="10414000" cy="25400"/>
          </a:xfrm>
          <a:prstGeom prst="rect">
            <a:avLst/>
          </a:prstGeom>
          <a:solidFill>
            <a:srgbClr val="B00020"/>
          </a:solidFill>
          <a:ln w="12700">
            <a:solidFill>
              <a:srgbClr val="B0002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B1772B-53B4-C377-6EFB-D354A926E20B}"/>
              </a:ext>
            </a:extLst>
          </p:cNvPr>
          <p:cNvSpPr txBox="1"/>
          <p:nvPr/>
        </p:nvSpPr>
        <p:spPr>
          <a:xfrm>
            <a:off x="787400" y="4724400"/>
            <a:ext cx="10160000" cy="553998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>
                <a:solidFill>
                  <a:srgbClr val="FFFFFF"/>
                </a:solidFill>
                <a:latin typeface="Aptos" panose="020B0004020202020204" pitchFamily="34" charset="0"/>
              </a:rPr>
              <a:t>It looks like evidence arriving before the question, artifacts arriving before the blank page, and human judgment remaining in control.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42F38E-5E8B-F3F2-1C0A-D2151C0A3CAB}"/>
              </a:ext>
            </a:extLst>
          </p:cNvPr>
          <p:cNvSpPr txBox="1"/>
          <p:nvPr/>
        </p:nvSpPr>
        <p:spPr>
          <a:xfrm>
            <a:off x="787400" y="6032500"/>
            <a:ext cx="8255000" cy="138499"/>
          </a:xfrm>
          <a:prstGeom prst="rect">
            <a:avLst/>
          </a:prstGeom>
          <a:noFill/>
        </p:spPr>
        <p:txBody>
          <a:bodyPr vert="horz" wrap="square" lIns="0" tIns="0" rIns="0" bIns="0" rtlCol="0">
            <a:spAutoFit/>
          </a:bodyPr>
          <a:lstStyle/>
          <a:p>
            <a:r>
              <a:rPr lang="en-GB" sz="900" b="1">
                <a:solidFill>
                  <a:srgbClr val="B4B0B8"/>
                </a:solidFill>
                <a:latin typeface="Aptos" panose="020B0004020202020204" pitchFamily="34" charset="0"/>
              </a:rPr>
              <a:t>FRONTIER RM · DATA + KNOWLEDGE + APPLICATIONS + AI</a:t>
            </a:r>
          </a:p>
        </p:txBody>
      </p:sp>
    </p:spTree>
    <p:extLst>
      <p:ext uri="{BB962C8B-B14F-4D97-AF65-F5344CB8AC3E}">
        <p14:creationId xmlns:p14="http://schemas.microsoft.com/office/powerpoint/2010/main" val="25455567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1864</Words>
  <Application>Microsoft Office PowerPoint</Application>
  <PresentationFormat>Custom</PresentationFormat>
  <Paragraphs>268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Aptos Display</vt:lpstr>
      <vt:lpstr>Arial</vt:lpstr>
      <vt:lpstr>Segoe UI Symbol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Nikhil Anand</dc:creator>
  <cp:lastModifiedBy>Nikhil Anand</cp:lastModifiedBy>
  <cp:revision>1</cp:revision>
  <dcterms:created xsi:type="dcterms:W3CDTF">2026-08-17T02:54:39Z</dcterms:created>
  <dcterms:modified xsi:type="dcterms:W3CDTF">2026-08-17T02:54:40Z</dcterms:modified>
</cp:coreProperties>
</file>